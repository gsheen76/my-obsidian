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论文阅读汇报 / Paper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789920" cy="18288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40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扩散 · 流 · 漂移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200"/>
              </a:spcAft>
            </a:pPr>
            <a:r>
              <a:rPr sz="2400" b="0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四种生成模型的统一理解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78992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Consolas"/>
                <a:ea typeface="Consolas"/>
                <a:cs typeface="Consolas"/>
              </a:rPr>
              <a:t>DDPM   </a:t>
            </a: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Ho et al., 2020 — 离散扩散概率模型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Consolas"/>
                <a:ea typeface="Consolas"/>
                <a:cs typeface="Consolas"/>
              </a:rPr>
              <a:t>Score-SDE   </a:t>
            </a: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Song et al., 2020 — 通过 SDE 的连续分数建模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Consolas"/>
                <a:ea typeface="Consolas"/>
                <a:cs typeface="Consolas"/>
              </a:rPr>
              <a:t>Flow Matching   </a:t>
            </a: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Lipman et al., 2022 — 任意概率路径的 CNF 训练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Consolas"/>
                <a:ea typeface="Consolas"/>
                <a:cs typeface="Consolas"/>
              </a:rPr>
              <a:t>Drifting Models   </a:t>
            </a: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2026 — 训练时演化推前分布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78992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—   重点不是罗列公式，而是看清四篇在一条主线上的演进   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汇报提纲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94960" cy="13258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72184"/>
            <a:ext cx="517550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01   四篇在解决同一件事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01368"/>
            <a:ext cx="5138928" cy="8869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把 p_0=N(0,I) 推前到 p_data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394960" cy="13258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472184"/>
            <a:ext cx="517550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02   DDPM — 离散链 × ε 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801368"/>
            <a:ext cx="5138928" cy="8869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把扩散做成可规模化训练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80360"/>
            <a:ext cx="5394960" cy="13258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35224"/>
            <a:ext cx="517550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03   Score-SDE — 连续 SDE × 分数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264408"/>
            <a:ext cx="5138928" cy="8869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统一 DDPM/SMLD，让求解器自由采样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80360"/>
            <a:ext cx="5394960" cy="13258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935224"/>
            <a:ext cx="517550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04   Flow Matching — 任意路径 × 向量场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264408"/>
            <a:ext cx="5138928" cy="8869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OT 把轨迹拉直，CNF 训得动采得快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343400"/>
            <a:ext cx="5394960" cy="13258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398264"/>
            <a:ext cx="517550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05   Drifting — 训练时演化 × 漂移场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727448"/>
            <a:ext cx="5138928" cy="8869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天生一步生成（1-NFE）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343400"/>
            <a:ext cx="5394960" cy="13258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4398264"/>
            <a:ext cx="517550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06   统一对照与典型陷阱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4727448"/>
            <a:ext cx="5138928" cy="8869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什么时候选哪个、容易被读错的地方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一、四篇论文在做同一件事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同一种模型：生成模型 Generative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目标：</a:t>
            </a:r>
            <a:r>
              <a:rPr sz="13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学一个映射 f，使先验 p_0 = N(0, I) 的推前分布 f_#p_0 逼近未知数据分布 p_data。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0972800" cy="594360"/>
          </a:xfrm>
          <a:prstGeom prst="rect">
            <a:avLst/>
          </a:prstGeom>
          <a:solidFill>
            <a:srgbClr val="1B212C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1680" y="1742440"/>
            <a:ext cx="10769600" cy="492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    直接学「N(0,I) → 图像」太难  →  分解成一串小步，神经网络每次只学一小段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四篇差别只在三条轴上：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10972800" cy="68580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026664"/>
            <a:ext cx="107533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轴 1：路径对象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355848"/>
            <a:ext cx="10716768" cy="24688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离散马尔可夫链  →  连续 SDE  →  任意概率路径 ODE  →  训练时推前分布演化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49040"/>
            <a:ext cx="10972800" cy="68580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803904"/>
            <a:ext cx="107533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轴 2：网络预测量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133088"/>
            <a:ext cx="10716768" cy="24688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噪声 ε  →  分数 grad log p  →  向量场 v_t  →  漂移场 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10972800" cy="68580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81144"/>
            <a:ext cx="107533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轴 3：采样方式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910328"/>
            <a:ext cx="10716768" cy="24688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1000 步祖先  →  PC / 概率流 ODE  →  数十步 ODE  →  1 步前向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→  </a:t>
            </a:r>
            <a:r>
              <a:rPr sz="1300" b="1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后一篇总是把前一篇当作特例——把握这条主线，四篇就不再是孤立方法。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二、DDPM — 把扩散做成可规模化训练的离散链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Denoising Diffusion Probabilistic Models, Ho et al.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486400" cy="237744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26464"/>
            <a:ext cx="52669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前向过程（无可学习参数）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55648"/>
            <a:ext cx="5230368" cy="193852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固定方差调度 β_1,...,β_T（T=1000，1e-4 → 0.02），像素归一到 [−1,1]。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关键闭式边际（一次采出训练样本）：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5212080" cy="777240"/>
          </a:xfrm>
          <a:prstGeom prst="rect">
            <a:avLst/>
          </a:prstGeom>
          <a:solidFill>
            <a:srgbClr val="1B212C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8840" y="2931160"/>
            <a:ext cx="5008880" cy="675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q(x_t | x_0) = N( sqrt(A_t) x_0 , (1-A_t) I 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x_t = sqrt(A_t)·x_0 + sqrt(1-A_t)·ε,   A_t = Π(1-β_s)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371600"/>
            <a:ext cx="5212080" cy="237744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426464"/>
            <a:ext cx="49926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反向过程：ε-参数化（核心贡献）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1755648"/>
            <a:ext cx="4956048" cy="193852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把前向后验展开，μ̃_t 中 x_0 替换为 ε：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057400"/>
            <a:ext cx="4937760" cy="1463040"/>
          </a:xfrm>
          <a:prstGeom prst="rect">
            <a:avLst/>
          </a:prstGeom>
          <a:solidFill>
            <a:srgbClr val="1B212C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3840" y="2108200"/>
            <a:ext cx="4734560" cy="13614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μ_θ(x_t,t) = (1/√α_t)·[ x_t - β_t/√(1-A_t)·ε_θ(x_t,t) ]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训练目标（简化版 L_simple）：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  ‖ ε − ε_θ( √A_t·x_0 + √(1-A_t)·ε , t ) ‖²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109728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为什么会这样设计？我看出的三点：</a:t>
            </a: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目标塌缩成无权重的 </a:t>
            </a:r>
            <a:r>
              <a:rPr sz="1200" b="1">
                <a:solidFill>
                  <a:srgbClr val="E0A84C"/>
                </a:solidFill>
                <a:latin typeface="Consolas"/>
                <a:ea typeface="Consolas"/>
                <a:cs typeface="Consolas"/>
              </a:rPr>
              <a:t>‖ε − ε_θ‖²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，稳定、易实现；与多噪声去噪分数匹配等价 s_θ = -ε_θ/√(1-A_t)。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丢权重让小 t 项相对降权，模型聚焦在更难的大 t 去噪 → </a:t>
            </a: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样本质量反而更好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（代价：log-likelihood 变差）。</a:t>
            </a:r>
          </a:p>
          <a:p>
            <a:pPr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反向方差 Σ_θ 不该学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——实测学它会让训练不稳定、质量更差。这是工程上的反直觉结论。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DDPM — 采样算法与论文价值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Algorithm 2 + 与去噪分数匹配的等价性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486400" cy="192024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26464"/>
            <a:ext cx="52669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采样（Algorithm 2）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5212080" cy="1188720"/>
          </a:xfrm>
          <a:prstGeom prst="rect">
            <a:avLst/>
          </a:prstGeom>
          <a:solidFill>
            <a:srgbClr val="1B212C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8840" y="1971040"/>
            <a:ext cx="5008880" cy="1087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for t = T, T-1, ..., 1: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  x_{t-1} = (1/√α_t) [ x_t - β_t/√(1-A_t)·ε_θ(x_t,t) ]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         + σ_t·z,   z~N(0,I)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212080" cy="192024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426464"/>
            <a:ext cx="49926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网络结构与超参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84632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Backbone  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U-Net（仿 PixelCNN++），全过程 GroupNorm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时间条件  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正弦位置嵌入（∀t 共享参数）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自注意力  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仅在 16×16 特征图分辨率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T / β  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1000 / 线性 1e-4→0.02</a:t>
            </a:r>
          </a:p>
          <a:p>
            <a:pPr algn="l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σ_t²  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固定 β_t 或 β̃_t=(1-A_{t-1})/(1-A_t)·β_t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5486400" cy="265176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2669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与分数匹配的等价性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858768"/>
            <a:ext cx="5230368" cy="22128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ε-预测 ⟺ 多噪声尺度上的去噪分数匹配；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采样过程类似退火 Langevin 动力学。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→  </a:t>
            </a:r>
            <a:r>
              <a:rPr sz="12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统一了「扩散」与「分数匹配」两条原本独立的路线——为 Score-SDE 埋下伏笔。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474720"/>
            <a:ext cx="5212080" cy="265176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3529584"/>
            <a:ext cx="49926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率失真与渐进解码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858768"/>
            <a:ext cx="4956048" cy="22128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CIFAR10：FID 3.17，但 NLL 不具竞争力。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主要价值在于 </a:t>
            </a: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作为有损压缩器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：1.78 bit/维 速率、1.97 bit/维 失真。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超过一半码长花在人眼不可察觉的细节 → 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采样过程是 </a:t>
            </a: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广义自回归解码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——bit 序列不再按像素，而按扩散时间。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三、Score-SDE — 把链推广到连续时间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Song et al., 2020；统一 DDPM 与 SMLD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真正重要的不是「连续」，而是两件事：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5486400" cy="164592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46504"/>
            <a:ext cx="52669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统一：DDPM 与 SMLD 是同一个 SDE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075688"/>
            <a:ext cx="5230368" cy="12070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E0A84C"/>
                </a:solidFill>
                <a:latin typeface="Consolas"/>
                <a:ea typeface="Consolas"/>
                <a:cs typeface="Consolas"/>
              </a:rPr>
              <a:t>DDPM  = VP SDE 的离散化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E0A84C"/>
                </a:solidFill>
                <a:latin typeface="Consolas"/>
                <a:ea typeface="Consolas"/>
                <a:cs typeface="Consolas"/>
              </a:rPr>
              <a:t>SMLD  = VE SDE 的离散化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两类方法被并入同一连续时间框架。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691640"/>
            <a:ext cx="5212080" cy="164592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746504"/>
            <a:ext cx="49926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解锁：任给 SDE，反向由 Anderson(1982) 给出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075688"/>
            <a:ext cx="4956048" cy="12070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反向 SDE 只依赖边缘分数 grad log p_t(x)。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→  掌握分数 = 可用任意数值 SDE/ODE 求解器自由采样。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前向 SDE：dx = f(x,t) dt + g(t) dw；三种实例（仿射漂移 → 转移核高斯、可闭式算）：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solidFill>
            <a:srgbClr val="1B212C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680" y="3799839"/>
            <a:ext cx="10769600" cy="1087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VE      dx = sqrt(d[σ²(t)]/dt) dw                       ← SMLD 连续化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VP      dx = −½ β(t) x dt  + sqrt(β(t)) dw              ← DDPM 连续化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sub-VP  dx = −½ β(t) x dt  + sqrt(β(t)(1−e^{−2∫β})) dw   ← 新提，似然最好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Score-SDE — 三种采样路线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PC / 通用求解器 / 概率流 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972800" cy="13258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35024"/>
            <a:ext cx="107533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①  通用数值求解器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664208"/>
            <a:ext cx="10716768" cy="8869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Euler-Maruyama、随机 RK；祖先采样 = VP SDE 的特殊离散化。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反向扩散采样器以前向相同方式离散，对新 SDE 推导友好；略优于祖先采样。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10972800" cy="13258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98064"/>
            <a:ext cx="107533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②  Predictor-Corrector (PC)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127248"/>
            <a:ext cx="10716768" cy="8869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Predictor = SDE 求解器，Corrector = 分数 MCMC（Langevin/HMC）。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SMLD = 恒等预测器 + Langevin；DDPM = 祖先预测器 + 恒等校正（均为特例）。同 NFE 下 PC 最稳。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10972800" cy="13258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261104"/>
            <a:ext cx="107533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③  概率流 ODE（重点）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590288"/>
            <a:ext cx="10716768" cy="8869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dx = [ f − ½ g² grad log p_t ] dt，共享边缘密度 {p_t}，完全确定。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→  精确似然（瞬时变量变换）、唯一可识别编码、黑盒 ODE 求解器可降 90%+ NFE。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易错点：</a:t>
            </a: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反向 SDE 中的系数是 g²，而概率流 ODE 中是 ½ g²——差一个 1/2 来自 Fokker-Planck 的二阶项折半。写错它会在工程上『差一点』而难以排查。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Score-SDE — 条件 SDE：留给多任务成像的核心接口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一个无条件分数模型处理多种逆问题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solidFill>
            <a:srgbClr val="1B212C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1680" y="1285240"/>
            <a:ext cx="10769600" cy="584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条件反向 SDE：dx = { f − g² [ grad log p_t(x) + grad log p_t(y | x) ] } dt + g dw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只需在分数上加一阶「似然项」 grad log p_t(y | x)——主模型不变。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5440680" cy="169164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69464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类条件生成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898648"/>
            <a:ext cx="5184648" cy="125272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训练一个时间依赖分类器 p_t(y | x(t))；训练数据 x(t) ~ p_{0t}(x(t)|x(0))。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无需重新训一个新生成模型。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514600"/>
            <a:ext cx="5440680" cy="169164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569464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Inpainting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898648"/>
            <a:ext cx="5184648" cy="125272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y 是已知像素子集 Ω(y)；p_t(y | x) 只评估已知子集上的似然。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条件信号是图像本身的一部分。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343400"/>
            <a:ext cx="5440680" cy="169164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398264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Colorization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727448"/>
            <a:ext cx="5184648" cy="125272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在已知颜色维度相互耦合时，先做线性变换解耦维度，再做 inpaint。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用同一个无条件模型解决。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→  </a:t>
            </a:r>
            <a:r>
              <a:rPr sz="115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本项目「多任务成像」与这一接口天然契合——这是 Score-SDE 比 DDPM 更值得作为基线的真实原因。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四、Flow Matching — 让 CNF 训得动、采得快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Lipman et al., 2022；任意概率路径的免仿真训练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486400" cy="274320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26464"/>
            <a:ext cx="52669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核心：CFM 与 FM 梯度等价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55648"/>
            <a:ext cx="5230368" cy="230428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FM 目标 </a:t>
            </a:r>
            <a:r>
              <a:rPr sz="1100" b="0">
                <a:solidFill>
                  <a:srgbClr val="E0A84C"/>
                </a:solidFill>
                <a:latin typeface="Consolas"/>
                <a:ea typeface="Consolas"/>
                <a:cs typeface="Consolas"/>
              </a:rPr>
              <a:t>L_FM = E_{t,p_t(x)} ‖v_t − u_t‖² </a:t>
            </a: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不可算（无闭式）。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CFM 目标（逐样本、可无偏估计）：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5212080" cy="1188720"/>
          </a:xfrm>
          <a:prstGeom prst="rect">
            <a:avLst/>
          </a:prstGeom>
          <a:solidFill>
            <a:srgbClr val="1B212C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8840" y="2931160"/>
            <a:ext cx="5008880" cy="10871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L_CFM = E_{t,q(x_1),p_t(x|x_1)} ‖v_t − u_t(x|x_1)‖²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∇_θ L_FM  =  ∇_θ L_CFM   (Theorem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371600"/>
            <a:ext cx="5212080" cy="274320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426464"/>
            <a:ext cx="49926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意义：直接回归向量场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1755648"/>
            <a:ext cx="4956048" cy="230428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不再绕「分数 - 二阶导」那一层，与 DDPM/Score-SDE 的「条件去噪分数匹配」是同构策略，但更彻底。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扩散路径只是 FM 在特殊高斯路径上的一个实例——FM 把「可仿真训练」从扩散专属推广到一整族概率路径。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实测：即便在扩散路径上，FM 训练也比 DSM 更稳定。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更进一步：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令 μ_t = t·x_1、σ_t = 1−(1−σ_min)·t，得到 </a:t>
            </a: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最优传输 (OT) 位移插值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——粒子沿直线匀速运动，向量场方向不随时间反转。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800600"/>
            <a:ext cx="10972800" cy="1463040"/>
          </a:xfrm>
          <a:prstGeom prst="rect">
            <a:avLst/>
          </a:prstGeom>
          <a:solidFill>
            <a:srgbClr val="1B212C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680" y="4851400"/>
            <a:ext cx="10769600" cy="13614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ψ_t(x) = (1−(1−σ_min)t) x  +  t x_1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u_t(x | x_1) = [ x_1 − (1−σ_min) x ] / [ 1 − (1−σ_min) t ]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关键收益：NFE 从数百-1000 降到 10-20；ImageNet-128 上 2.90 BPD / 20.9 FID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易混淆：</a:t>
            </a: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这里的「OT」是 </a:t>
            </a:r>
            <a:r>
              <a:rPr sz="11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条件路径</a:t>
            </a: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 上的 OT（直线匀速），不是边际分布之间的 OT——读 FM 时要分清这一层。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五、Drifting — 把迭代搬到训练时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2026；一次前向 = 完整生成（1-NFE）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35024"/>
            <a:ext cx="107533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思路反转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664208"/>
            <a:ext cx="10716768" cy="93268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前三篇：推理时迭代演化样本（1000 步 → 数十步）。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Drifting：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网络训练本身就是 SGD 迭代，每次参数更新让固定噪声 ε 对应的样本 x=f_θ(ε) 产生位移——这个位移即 </a:t>
            </a: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「漂移」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。当 f_#p_prior → p_data 时漂移 ≠ 0 → 训练收敛后一步前向 = 采样。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5486400" cy="20116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52344"/>
            <a:ext cx="52669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反对称 = 平衡条件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081528"/>
            <a:ext cx="5230368" cy="15727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命题 3.1：</a:t>
            </a:r>
            <a:r>
              <a:rPr sz="11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V_{p,q}(x) = −V_{q,p}(x)  ⇒  q=p 时 V=0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保证「匹配后停止演化」，让 SGD 不在已匹配处瞎动。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构造：mean-shift 吸引-排斥——正样本吸引、负样本排斥，p=q 时严格抵消。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破坏反对称时 FID 从 8 涨到 41-177</a:t>
            </a: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——它不是美学，是数学必需。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697480"/>
            <a:ext cx="5212080" cy="20116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752344"/>
            <a:ext cx="49926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Loss 与 stopgrad 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246120"/>
            <a:ext cx="4937760" cy="1325880"/>
          </a:xfrm>
          <a:prstGeom prst="rect">
            <a:avLst/>
          </a:prstGeom>
          <a:solidFill>
            <a:srgbClr val="1B212C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3840" y="3296920"/>
            <a:ext cx="4734560" cy="1224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L = E_ε [ ‖ f_θ(ε)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      − stopgrad( f_θ(ε) + V_{p,q_θ}( f_θ(ε) ) ) ‖² ]</a:t>
            </a:r>
          </a:p>
          <a:p>
            <a:pPr algn="l">
              <a:lnSpc>
                <a:spcPct val="115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= E [ ‖V‖² ]   （V 依赖 q_θ，故冻结 x+V）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易错：</a:t>
            </a: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stopgrad 必须作用于 </a:t>
            </a:r>
            <a:r>
              <a:rPr sz="11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(x + V) 整体</a:t>
            </a: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 而非 x 自己——否则梯度塌缩到 0，模型什么也不学。这是工程实现里最隐蔽的坑。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404104"/>
            <a:ext cx="107533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特征空间漂移 &amp; 训练时 CFG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733288"/>
            <a:ext cx="10716768" cy="47548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高维图像直接漂移效果差 → 把损失放到自监督编码器（MoCo / SimCLR / latent-MAE）</a:t>
            </a:r>
            <a:r>
              <a:rPr sz="11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的多尺度特征空间</a:t>
            </a: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；特征提取器只在训练时用。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CFG 被训练时化：</a:t>
            </a:r>
            <a:r>
              <a:rPr sz="11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通过在负样本中混入无条件数据 p_data(·|无条件)，训练随机采 α 作条件，推理时可自由指定。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Drifting — 最终结果与意义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ImageNet 256×256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486400" cy="228600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26464"/>
            <a:ext cx="52669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ImageNet 256×256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755648"/>
            <a:ext cx="5230368" cy="184708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潜空间 FID  </a:t>
            </a:r>
            <a:r>
              <a:rPr sz="1400" b="1">
                <a:solidFill>
                  <a:srgbClr val="E0A84C"/>
                </a:solidFill>
                <a:latin typeface="Consolas"/>
                <a:ea typeface="Consolas"/>
                <a:cs typeface="Consolas"/>
              </a:rPr>
              <a:t>1.54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像素空间 FID </a:t>
            </a:r>
            <a:r>
              <a:rPr sz="1400" b="1">
                <a:solidFill>
                  <a:srgbClr val="E0A84C"/>
                </a:solidFill>
                <a:latin typeface="Consolas"/>
                <a:ea typeface="Consolas"/>
                <a:cs typeface="Consolas"/>
              </a:rPr>
              <a:t>1.61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推理 NFE </a:t>
            </a:r>
            <a:r>
              <a:rPr sz="1400" b="1">
                <a:solidFill>
                  <a:srgbClr val="E0A84C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1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   ·  无需从教师蒸馏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49039"/>
            <a:ext cx="5486400" cy="24688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803903"/>
            <a:ext cx="526694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机器人控制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133087"/>
            <a:ext cx="5230368" cy="20299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一步 Drifting Policy 替换多步 Diffusion Policy；多任务成功率持平或更高。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2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跨域扩展：漂移思想是通用框架，不是图像专用。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371600"/>
            <a:ext cx="5212080" cy="484632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426464"/>
            <a:ext cx="49926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真正意义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1755648"/>
            <a:ext cx="4956048" cy="440740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前三篇：把「多步迭代」极限优化数十步，但仍属</a:t>
            </a: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「推理时演化」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Drifting 把这条轴 </a:t>
            </a: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翻向训练时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——一次生成从「蒸馏得到的近似」变为</a:t>
            </a: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原生训练目标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代价：训练机制更复杂；理论平衡条件尚不完全严格。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2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这打开的是一个新的研究方向，而非仅是工程加速。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六、统一对照表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三条轴上的渐进推近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10972800" cy="594360"/>
          </a:xfrm>
          <a:prstGeom prst="rect">
            <a:avLst/>
          </a:prstGeom>
          <a:solidFill>
            <a:srgbClr val="1F3555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9840"/>
            <a:ext cx="18288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259840"/>
            <a:ext cx="89154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DDPM  /  Score-SDE  /  Flow Matching  /  Drifting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0972800" cy="594360"/>
          </a:xfrm>
          <a:prstGeom prst="rect">
            <a:avLst/>
          </a:prstGeom>
          <a:solidFill>
            <a:srgbClr val="151B25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54200"/>
            <a:ext cx="18288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路径对象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854200"/>
            <a:ext cx="89154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离散马尔可夫链  /  连续 SDE  /  任意概率路径 ODE 流  /  训练时推前分布演化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23160"/>
            <a:ext cx="10972800" cy="594360"/>
          </a:xfrm>
          <a:prstGeom prst="rect">
            <a:avLst/>
          </a:prstGeom>
          <a:solidFill>
            <a:srgbClr val="1A212E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48560"/>
            <a:ext cx="18288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网络预测量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448560"/>
            <a:ext cx="89154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噪声 ε  /  分数 grad log p  /  向量场 v_t  /  漂移场 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17520"/>
            <a:ext cx="10972800" cy="594360"/>
          </a:xfrm>
          <a:prstGeom prst="rect">
            <a:avLst/>
          </a:prstGeom>
          <a:solidFill>
            <a:srgbClr val="151B25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42920"/>
            <a:ext cx="18288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训练目标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42920"/>
            <a:ext cx="89154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‖ε − ε_θ‖²  /  分数匹配  /  向量场回归  /  E‖V‖² + stopgrad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11880"/>
            <a:ext cx="10972800" cy="594360"/>
          </a:xfrm>
          <a:prstGeom prst="rect">
            <a:avLst/>
          </a:prstGeom>
          <a:solidFill>
            <a:srgbClr val="1A212E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37280"/>
            <a:ext cx="18288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采样方式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637280"/>
            <a:ext cx="89154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1000 步祖先  /  PC + 概率流 ODE  /  数十步 ODE  /  1 步前向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06240"/>
            <a:ext cx="10972800" cy="594360"/>
          </a:xfrm>
          <a:prstGeom prst="rect">
            <a:avLst/>
          </a:prstGeom>
          <a:solidFill>
            <a:srgbClr val="151B25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31640"/>
            <a:ext cx="18288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似然计算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231640"/>
            <a:ext cx="89154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ELBO 近似  /  精确（瞬时变量变换）  /  精确（神经 ODE）  /  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00600"/>
            <a:ext cx="10972800" cy="594360"/>
          </a:xfrm>
          <a:prstGeom prst="rect">
            <a:avLst/>
          </a:prstGeom>
          <a:solidFill>
            <a:srgbClr val="1A212E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26000"/>
            <a:ext cx="18288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条件机制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4826000"/>
            <a:ext cx="89154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类条件 ε 网络  /  条件反向 SDE  /  条件路径  /  训练时 CFG 负样本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394960"/>
            <a:ext cx="10972800" cy="594360"/>
          </a:xfrm>
          <a:prstGeom prst="rect">
            <a:avLst/>
          </a:prstGeom>
          <a:solidFill>
            <a:srgbClr val="151B25"/>
          </a:solidFill>
          <a:ln w="6350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420360"/>
            <a:ext cx="18288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相对位置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420360"/>
            <a:ext cx="8915400" cy="5435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起点  /  通用框架  /  任意路径化  /  反转迭代位置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几个只有真读懂才不会记错的点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高频踩坑、常被读错的细节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5440680" cy="173736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9304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ε 与 score 的关系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618488"/>
            <a:ext cx="5184648" cy="12984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CAFE0"/>
                </a:solidFill>
                <a:latin typeface="Consolas"/>
                <a:ea typeface="Consolas"/>
                <a:cs typeface="Consolas"/>
              </a:rPr>
              <a:t>s_θ = − ε_θ / sqrt(1−A_t)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负号与分母都不能丢；丢掉就变成了去相反方向。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440680" cy="173736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289304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反向 SDE vs 概率流 ODE 系数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618488"/>
            <a:ext cx="5184648" cy="12984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CAFE0"/>
                </a:solidFill>
                <a:latin typeface="Consolas"/>
                <a:ea typeface="Consolas"/>
                <a:cs typeface="Consolas"/>
              </a:rPr>
              <a:t>g²   vs   ½ g²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差一个 1/2 来自 Fokker-Planck 的二阶项折半；写错会在工程上『差一点』而难以排查。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59"/>
            <a:ext cx="5440680" cy="173736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63823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DDPM 丢权重反而更好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493007"/>
            <a:ext cx="5184648" cy="12984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CAFE0"/>
                </a:solidFill>
                <a:latin typeface="Consolas"/>
                <a:ea typeface="Consolas"/>
                <a:cs typeface="Consolas"/>
              </a:rPr>
              <a:t>L_simple → log-likelihood 变差  →  FID 变好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因为小 t 项（极小噪声去噪）被相对降权，模型把容量让给更难的大 t 去噪。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108959"/>
            <a:ext cx="5440680" cy="173736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163823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Flow Matching 的『OT』是哪一层 OT？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493007"/>
            <a:ext cx="5184648" cy="12984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CAFE0"/>
                </a:solidFill>
                <a:latin typeface="Consolas"/>
                <a:ea typeface="Consolas"/>
                <a:cs typeface="Consolas"/>
              </a:rPr>
              <a:t>条件路径上的 OT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条件轨迹是直线 ≠ 边际轨迹是 OT 映射；混淆会让对算法性质的理解出错。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83479"/>
            <a:ext cx="5440680" cy="173736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038343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Drifting 的 stopgrad 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367527"/>
            <a:ext cx="5184648" cy="12984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CAFE0"/>
                </a:solidFill>
                <a:latin typeface="Consolas"/>
                <a:ea typeface="Consolas"/>
                <a:cs typeface="Consolas"/>
              </a:rPr>
              <a:t>作用于 (x + V) 整体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若误把 x 自己做 stopgrad，梯度塌缩到 0 → 模型什么也不学。最隐蔽的坑。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983479"/>
            <a:ext cx="5440680" cy="173736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5038343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Drifting 的 V=0 ⟹ p=q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5367527"/>
            <a:ext cx="5184648" cy="129844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4CAFE0"/>
                </a:solidFill>
                <a:latin typeface="Consolas"/>
                <a:ea typeface="Consolas"/>
                <a:cs typeface="Consolas"/>
              </a:rPr>
              <a:t>并非对任意 V 成立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只有在论文给出的核化 + 反对称 + 非退化假设下才成立；反对称不是美学要求是数学必需。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54864" cy="502920"/>
          </a:xfrm>
          <a:prstGeom prst="rect">
            <a:avLst/>
          </a:prstGeom>
          <a:solidFill>
            <a:srgbClr val="4CA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10607040" cy="6400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各自在「什么时候选」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9AA5B4"/>
                </a:solidFill>
                <a:latin typeface="Microsoft YaHei"/>
                <a:ea typeface="Microsoft YaHei"/>
                <a:cs typeface="Microsoft YaHei"/>
              </a:rPr>
              <a:t>面向多任务成像的判断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65760"/>
            <a:ext cx="73152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9AA5B4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83112" cy="9525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6350"/>
          </a:xfrm>
          <a:prstGeom prst="rect">
            <a:avLst/>
          </a:prstGeom>
          <a:solidFill>
            <a:srgbClr val="33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5440680" cy="169164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35024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9BC8"/>
                </a:solidFill>
                <a:latin typeface="Microsoft YaHei"/>
                <a:ea typeface="Microsoft YaHei"/>
                <a:cs typeface="Microsoft YaHei"/>
              </a:rPr>
              <a:t>  01   DDPM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664208"/>
            <a:ext cx="5184648" cy="125272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作为熟悉扩散的入口、对基线最熟悉时的稳健选型。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40680" cy="169164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335024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  02   Score-SDE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664208"/>
            <a:ext cx="5184648" cy="125272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要做多种条件/逆问题（inpainting、colorization、SR）——它的条件反向 SDE 接口是四篇里最成熟的框架。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440680" cy="169164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63824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03   Flow Matching + 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493008"/>
            <a:ext cx="5184648" cy="125272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在大规模高质量任务上要尽量少 NFE、又不损失似然时；现在做大规模图像生成默认从这里起步。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108960"/>
            <a:ext cx="5440680" cy="169164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163824"/>
            <a:ext cx="522122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8A9B"/>
                </a:solidFill>
                <a:latin typeface="Microsoft YaHei"/>
                <a:ea typeface="Microsoft YaHei"/>
                <a:cs typeface="Microsoft YaHei"/>
              </a:rPr>
              <a:t>  04   Drifting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493008"/>
            <a:ext cx="5184648" cy="125272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极致推理速度、或落地部署必须 1-NFE 的场景。代价是训练机制更复杂，理论平衡条件尚不完全严格。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10972800" cy="11887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对「多任务成像」的个人判断：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先把 Score-SDE 的条件反向 SDE 当作框架原型——数学最成熟、条件扩展最干净。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大规模训练时切换到 Flow Matching + OT，享受训练稳定与 NFE 下降的红利。</a:t>
            </a:r>
          </a:p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2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落地到必须实时一步出图的环节，尝试把 Drifting 当作下一步目标；小心 stopgrad 与反对称的工程坑。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</a:pPr>
            <a:r>
              <a:rPr sz="3000" b="1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七、整体理解</a:t>
            </a:r>
          </a:p>
          <a:p>
            <a:pPr algn="ctr">
              <a:lnSpc>
                <a:spcPct val="1050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4CAFE0"/>
                </a:solidFill>
                <a:latin typeface="Microsoft YaHei"/>
                <a:ea typeface="Microsoft YaHei"/>
                <a:cs typeface="Microsoft YaHei"/>
              </a:rPr>
              <a:t>把四篇读成一条主线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834640"/>
            <a:ext cx="8503920" cy="6400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38528" y="2889504"/>
            <a:ext cx="828446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数学对象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6816" y="3218688"/>
            <a:ext cx="8247888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离散链  →  连续 SDE  →  任意概率路径 ODE  →  训练时推前分布演化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566160"/>
            <a:ext cx="8503920" cy="6400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38528" y="3621024"/>
            <a:ext cx="828446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网络预测量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6816" y="3950208"/>
            <a:ext cx="8247888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ε  →  grad log p  →  v_t  →  V，越来越靠近『直接回归路径几何本身』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297680"/>
            <a:ext cx="8503920" cy="640080"/>
          </a:xfrm>
          <a:prstGeom prst="rect">
            <a:avLst/>
          </a:prstGeom>
          <a:noFill/>
          <a:ln w="9525">
            <a:solidFill>
              <a:srgbClr val="333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4352544"/>
            <a:ext cx="8284464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  采样成本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4681728"/>
            <a:ext cx="8247888" cy="201168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E6EAF0"/>
                </a:solidFill>
                <a:latin typeface="Consolas"/>
                <a:ea typeface="Consolas"/>
                <a:cs typeface="Consolas"/>
              </a:rPr>
              <a:t>1000 步  →  数十步  →  1 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10515600" cy="10972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B6C0CC"/>
                </a:solidFill>
                <a:latin typeface="Microsoft YaHei"/>
                <a:ea typeface="Microsoft YaHei"/>
                <a:cs typeface="Microsoft YaHei"/>
              </a:rPr>
              <a:t>每后一篇都把前一篇当作特例；</a:t>
            </a:r>
            <a:r>
              <a:rPr sz="13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真正读懂的标志、</a:t>
            </a:r>
            <a:r>
              <a:rPr sz="13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不是能复述公式，</a:t>
            </a:r>
            <a:r>
              <a:rPr sz="1300" b="1">
                <a:solidFill>
                  <a:srgbClr val="E0A84C"/>
                </a:solidFill>
                <a:latin typeface="Microsoft YaHei"/>
                <a:ea typeface="Microsoft YaHei"/>
                <a:cs typeface="Microsoft YaHei"/>
              </a:rPr>
              <a:t>而是能在一张白纸上画出这条主线，</a:t>
            </a:r>
            <a:r>
              <a:rPr sz="1300" b="0">
                <a:solidFill>
                  <a:srgbClr val="E6EAF0"/>
                </a:solidFill>
                <a:latin typeface="Microsoft YaHei"/>
                <a:ea typeface="Microsoft YaHei"/>
                <a:cs typeface="Microsoft YaHei"/>
              </a:rPr>
              <a:t>指出每篇的跃迁与代价。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