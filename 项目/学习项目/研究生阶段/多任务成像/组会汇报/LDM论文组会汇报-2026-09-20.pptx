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1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2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FID ↓</c:v>
                </c:pt>
              </c:strCache>
            </c:strRef>
          </c:tx>
          <c:spPr>
            <a:solidFill>
              <a:srgbClr val="8B84C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2937"/>
                    </a:solidFill>
                    <a:latin typeface="微软雅黑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B84C9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84C9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B84C9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B84C9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BigGAN-deep</c:v>
                  </c:pt>
                  <c:pt idx="1">
                    <c:v>ADM</c:v>
                  </c:pt>
                  <c:pt idx="2">
                    <c:v>ADM-G</c:v>
                  </c:pt>
                  <c:pt idx="3">
                    <c:v>LDM-4</c:v>
                  </c:pt>
                  <c:pt idx="4">
                    <c:v>LDM-4-G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6.95</c:v>
                </c:pt>
                <c:pt idx="1">
                  <c:v>10.94</c:v>
                </c:pt>
                <c:pt idx="2">
                  <c:v>4.59</c:v>
                </c:pt>
                <c:pt idx="3">
                  <c:v>10.56</c:v>
                </c:pt>
                <c:pt idx="4">
                  <c:v>3.6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F2937"/>
                  </a:solidFill>
                  <a:latin typeface="微软雅黑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6B7280"/>
                </a:solidFill>
                <a:latin typeface="微软雅黑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"/>
        </c:scaling>
        <c:delete val="0"/>
        <c:axPos val="l"/>
        <c:majorGridlines>
          <c:spPr>
            <a:ln w="6350" cap="flat">
              <a:solidFill>
                <a:srgbClr val="E8E6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微软雅黑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FID ↓</c:v>
                </c:pt>
              </c:strCache>
            </c:strRef>
          </c:tx>
          <c:spPr>
            <a:solidFill>
              <a:srgbClr val="8B84C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2937"/>
                    </a:solidFill>
                    <a:latin typeface="微软雅黑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B84C9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84C9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B84C9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B84C9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DALL·E</c:v>
                  </c:pt>
                  <c:pt idx="1">
                    <c:v>CogView</c:v>
                  </c:pt>
                  <c:pt idx="2">
                    <c:v>Lafite</c:v>
                  </c:pt>
                  <c:pt idx="3">
                    <c:v>LDM-KL-8</c:v>
                  </c:pt>
                  <c:pt idx="4">
                    <c:v>+CFG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27.5</c:v>
                </c:pt>
                <c:pt idx="1">
                  <c:v>27.1</c:v>
                </c:pt>
                <c:pt idx="2">
                  <c:v>26.94</c:v>
                </c:pt>
                <c:pt idx="3">
                  <c:v>23.35</c:v>
                </c:pt>
                <c:pt idx="4">
                  <c:v>12.61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F2937"/>
                  </a:solidFill>
                  <a:latin typeface="微软雅黑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6B7280"/>
                </a:solidFill>
                <a:latin typeface="微软雅黑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"/>
        </c:scaling>
        <c:delete val="0"/>
        <c:axPos val="l"/>
        <c:majorGridlines>
          <c:spPr>
            <a:ln w="6350" cap="flat">
              <a:solidFill>
                <a:srgbClr val="E8E6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微软雅黑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开场：今天汇报的是 CVPR 2022 的 LDM 论文，也就是 Stable Diffusion 的底座。选它的原因很直接：我们课题的主模型就是条件潜空间扩散模型，这篇是它的原型论文；我们已读过 DDPM 和 Score-SDE，这篇正好补上“潜空间 + 条件注入”这块拼图。预计讲 40-50 分钟，欢迎随时打断。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结构：先讲清楚为什么需要潜空间（动机），再拆两阶段方法的每个部件，重点花时间在条件机制——这直接对应我们课题；实验部分挑关键数字；最后落到我们自己的原型怎么做。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进入第一部分。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快速带过推导细节（组会同学大多了解）：强调两点——①训练目标就是 MSE 预测噪声，非常简单；②生成是迭代的，推理成本 = 步数 × 单步网络开销。这两点决定了后面“贵”在哪里。公式逐项念一遍：ᾱ_t 是噪声调度的累积系数，x_t 是加噪图，ε_θ 是 UNet。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这一页给“贵”的定量感受：ADM 级别的模型训练要 150-1000 个 V100 天；A100 上采 5 万张图要 5 天。强调根因——维度 × 迭代次数的双重放大。这为“压缩维度”的动机做铺垫。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两条已有路线各画一张卡。GAN 的问题是多模态分布 + 可控性；VQGAN+AR 的问题是“为架构牺牲信号”——压缩太狠。LDM 的立场：扩散模型本身对空间数据有优秀归纳偏置，不需要激进压缩，只需要去掉感知冗余。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全文最重要的一页概念：图像生成 = 感知压缩 + 语义生成。用图 2 解释：左图显示图像的比特预算大部分花在人眼几乎察觉不到的地方；把这些交给 autoencoder，扩散模型只管“画什么”而不是“每个像素长什么样”。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图 1 是论文的第一张图，也是立场声明：同样是潜空间路线，压缩多狠决定了上限。f=4 时碗碟纹理、睫毛都保得住；f=16 已经糊了。注意 R-FID 那一列：DALL-E 的 f=8 压缩 R-FID 高达 32——重建分布已经偏了。这就是“diffusion 不需要迁就架构，可以轻压缩”的证据。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进入方法部分，先看整体框架。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走一遍数据流：x 经冻结的 E 进潜空间；扩散只在 z 上加噪去噪；生成 ẑ 后经冻结的 D 回像素。三个数字卡片给体感：f=4~8 是甜点；512² 图压到 128×128×4 是 48 倍维度缩减；算力省一到两个数量级。强调：两个阶段解耦、各自独立训练，这是和端到端路线最大的不同。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逐项讲损失：纯 L1 会糊，所以加 VGG 感知损失管“看起来像”，加 PatchGAN 管“锐”。正则是关键设计点：故意用很小的权重——不追求严格先验，只要潜空间不过分发逸。直觉：潜空间“略微发散”反而对扩散友好，避免所有样本挤在细流形上，让加噪去噪有施展空间。KL 连续 vs VQ 离散：论文发现 VQ 版采样质量更好，但 KL 版重建略好且是后来 SD 的选择。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强调“同构”：公式和 DDPM 一模一样，只是把 x 换成 z——理论零新增，收益全在维度缩减。UNet 细节快速过；重点讲卷积友好性带来的分辨率外推伏笔。可顺带说：这就是为什么 diffusers 里 LDM 的 UNet 和 DDPM 的 UNet 是同一个类。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最重要的消融：同一算力预算下，像素级 LDM-1 被潜空间版大幅拉开（FID 差 38）；但压缩过头（LDM-32）也不行——第一阶段信息丢了，扩散再好也补不回来。结论是 f∈[4,16] 甜点。这张图对我们直接有指导意义：我们要在自己的 CT 数据上复刻同样的消融。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效率的另一面：推理。每个点是一组 DDIM 步数。LDM-4/8 的曲线整体压在左下角——又快又好。解释原因：单步算力正比于潜空间维度，f 太小每步太贵，f 太大质量上限低；甜点区同样是 4-8。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进入对我们课题最重要的部分。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对着图 3 讲两条路：上面板拼接——条件和 z_t 一样是空间张量，直接拼；下面板 cross-attention——条件变成 token，UNet 每层用注意力去“查”。接下来两页分别展开。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拼接是最朴素也最有效的注入：条件就是一个张量，跟 z_t 形状对齐后拼通道。讲清“输入通道加宽”是唯一网络改动。最大卖点是平移等变性保留——为分辨率外推埋伏笔。对我们的映射：源图像（CT/MRI）走拼接就是天然选择。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逐符号讲公式：Q 来自 UNet 中间特征（N 个空间位置），K/V 来自条件 token（M 个）。softmax(QK^T/√d) 是每个空间位置对条件的注意力分布，加权 V 得到条件信息，残差并回。维度注解要念：φ_i(z_t)∈R^{N×d_ε}，τ_θ(y)∈R^{M×d_τ}，投影矩阵把两者投到公共的 d 维。强调“可插拔”：换条件只需换 τ_θ，主干不动——这正是我们多条件系统想要的性质。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把式3和无条件版本对比：多了一项 τ_θ(y) 进 ε_θ，期望多了 y 的采样。强调联合训练（不是先训条件编码器再冻结——虽然实践中文本用 CLIP 初始化）。底部一行把话头引向我们自己的六轴条件——为启发部分埋线。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CFG 是“免费午餐”：训练时随机丢条件，推理时把两个预测的差放大 w 倍。讲直觉：ε_c − ε_∅ 是“这个条件比没条件多要求了什么”，沿这个方向多走一点。两个数字卡片给效果感受：FID 几乎砍半。注意 w 的代价是多样性——对医学影像要谨慎选择。CFG 与我们“未见条件组合泛化”的关系在启发部分展开。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进入实验部分。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样例图给视觉感受；表格给数字。信息点：GAN 在 FID 上仍略强（毕竟单步对抗优化锐度），但扩散的多样性(recall)好。这不是论文主战场，快速过。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讲柱状图：橙色列是 LDM-4-G。三个层次：①无引导时 LDM-4≈ADM，说明架构本身没亏；②加 CFG 后反超 ADM-G；③参数还少 1/3。注意 CFG scale 只有 1.5，很温和。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文本条件的规模化验证：当年对 DALL·E/CogView 是碾压式领先。要点：文本先验完全来自冻结的 CLIP，LDM 贡献的是“如何把任意编码器接进扩散”——即 cross-attention。这条路最终演化成 Stable Diffusion。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这个实验常被忽略但很优雅：卷积网络的平移等变性让“训练小图、推理大图”成为可能——滑窗处理 + 潜空间拼接。对我们有直接意义：不同扫描矩阵/FOV 的 CT 也许可以共享一个模型。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两个像素级落地任务。超分：讲清条件构造和与 SR3 的互补（纹理 vs 结构）。修复：重点讲潜层融合技巧——每步把已知区域的 noised 版本替换回去，等价于软约束的数据一致性；这个 trick 对我们 CT 转换任务保解剖结构很有参考价值。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诚实列局限，并顺手把两条映射到我们课题：①CT 是定量成像，VAE 重建的 HU 误差会直接传导到生成结果——所以我们的 VAE 验收标准必须加 HU MAE；②医学图像的潜空间分布不同，正则超参不能照抄。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给论文定位：它不只是提出一个模型，而是定下了“文生图技术栈”的分层——压缩层（VAE）、生成层（条件扩散）、条件层（文本编码器）。我们服务器上刚部署的 diffusers 就是这套分层的实现。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最后一部分，回到我们自己的课题。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把我们的架构和 LDM 并排对照：一模一样的骨架，差别只在条件（六轴参数+源图像）和数据（CT）。强调实验顺序照抄论文方法论：先 VAE 后扩散、必做压缩率消融。提一句小复刻的 +6dB 是同一假设在像素级的验证，现在升级到潜空间。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核心选型页。三条路线各自的适用面：源图像是空间张量，拼接最自然；六轴是低维标量，可以做成 token 走 cross-attention（论文路线），也可以走 FiLM（论文5 路线）。我的初步方案是双路混合 + FiLM 对照，这里抛给老师讨论。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左卡讲 CT 特殊性：定量、结构敏感 → 压缩要更保守，评估必须加 HU 指标。右卡是概念连接：CFG 的差值外推和我们的条件差向量是同一思想的两个实例；训练时丢条件是获得插值/外推能力的必要手段。这两点是我们接下来实验设计的直接输入。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一页总结五点。如果时间不够，这页就是压缩版汇报。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收尾：抛出两个真问题请大家讨论——这正是我们下周做条件 LDM 原型要拍板的决策。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1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96012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 会 论 文 汇 报 · 2026-09-20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86384" y="1417320"/>
            <a:ext cx="60350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4000" b="1" dirty="0">
                <a:solidFill>
                  <a:srgbClr val="F0EEF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高分辨率图像合成</a:t>
            </a:r>
            <a:endParaRPr lang="en-US" sz="4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4000" b="1" dirty="0">
                <a:solidFill>
                  <a:srgbClr val="F0EEF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与潜空间扩散模型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3456432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A49E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High-Resolution Image Synthesis with Latent Diffusion Models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822960" y="4114800"/>
            <a:ext cx="58521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A49E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Robin Rombach*, Andreas Blattmann*, Dominik Lorenz, Patrick Esser, Björn Ommer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A49E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LMU Munich &amp; Heidelberg University · Runway ML · CVPR 2022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22960" y="5074920"/>
            <a:ext cx="4206240" cy="475488"/>
          </a:xfrm>
          <a:prstGeom prst="roundRect">
            <a:avLst>
              <a:gd name="adj" fmla="val 15385"/>
            </a:avLst>
          </a:prstGeom>
          <a:solidFill>
            <a:srgbClr val="241F49"/>
          </a:solidFill>
          <a:ln w="12700">
            <a:solidFill>
              <a:srgbClr val="3A31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5074920"/>
            <a:ext cx="4069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0EEF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arXiv 2112.10752 · Stable Diffusion 底座论文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22960" y="5897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EEF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汇报人：潘耀辉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086600" y="1234440"/>
            <a:ext cx="4572000" cy="416052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12700">
            <a:solidFill>
              <a:srgbClr val="D9D5EF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pic>
        <p:nvPicPr>
          <p:cNvPr id="10" name="Image 0" descr="ppt_assets/fig3_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2204951"/>
            <a:ext cx="4297680" cy="2219498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7086600" y="54864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论文图 3：LDM 条件注入机制（拼接 / cross-attention）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AGENDA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汇报大纲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777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2DEF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1325880" y="1609344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背景与动机</a:t>
            </a:r>
            <a:endParaRPr lang="en-US" sz="1750" dirty="0"/>
          </a:p>
        </p:txBody>
      </p:sp>
      <p:sp>
        <p:nvSpPr>
          <p:cNvPr id="6" name="Text 4"/>
          <p:cNvSpPr/>
          <p:nvPr/>
        </p:nvSpPr>
        <p:spPr>
          <a:xfrm>
            <a:off x="1325880" y="2066544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像素空间扩散为什么贵；已有路线缺什么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126480" y="1554480"/>
            <a:ext cx="777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2DEF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6995160" y="1609344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方法：两阶段潜空间扩散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6995160" y="2066544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感知压缩自编码器 + 潜空间 DDPM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57200" y="3127248"/>
            <a:ext cx="777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2DEF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1325880" y="318211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条件机制与引导</a:t>
            </a:r>
            <a:endParaRPr lang="en-US" sz="1750" dirty="0"/>
          </a:p>
        </p:txBody>
      </p:sp>
      <p:sp>
        <p:nvSpPr>
          <p:cNvPr id="12" name="Text 10"/>
          <p:cNvSpPr/>
          <p:nvPr/>
        </p:nvSpPr>
        <p:spPr>
          <a:xfrm>
            <a:off x="1325880" y="3639312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拼接 / Cross-Attention / Classifier-Free Guidance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126480" y="3127248"/>
            <a:ext cx="777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2DEF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6995160" y="318211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实验结果</a:t>
            </a:r>
            <a:endParaRPr lang="en-US" sz="1750" dirty="0"/>
          </a:p>
        </p:txBody>
      </p:sp>
      <p:sp>
        <p:nvSpPr>
          <p:cNvPr id="15" name="Text 13"/>
          <p:cNvSpPr/>
          <p:nvPr/>
        </p:nvSpPr>
        <p:spPr>
          <a:xfrm>
            <a:off x="6995160" y="3639312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压缩率消融与五类任务的定量结论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57200" y="4700016"/>
            <a:ext cx="777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2DEF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3400" dirty="0"/>
          </a:p>
        </p:txBody>
      </p:sp>
      <p:sp>
        <p:nvSpPr>
          <p:cNvPr id="17" name="Text 15"/>
          <p:cNvSpPr/>
          <p:nvPr/>
        </p:nvSpPr>
        <p:spPr>
          <a:xfrm>
            <a:off x="1325880" y="475488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对我们课题的启发</a:t>
            </a:r>
            <a:endParaRPr lang="en-US" sz="1750" dirty="0"/>
          </a:p>
        </p:txBody>
      </p:sp>
      <p:sp>
        <p:nvSpPr>
          <p:cNvPr id="18" name="Text 16"/>
          <p:cNvSpPr/>
          <p:nvPr/>
        </p:nvSpPr>
        <p:spPr>
          <a:xfrm>
            <a:off x="1325880" y="5212080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条件 LDM 原型的三个设计决策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126480" y="4700016"/>
            <a:ext cx="777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2DEF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3400" dirty="0"/>
          </a:p>
        </p:txBody>
      </p:sp>
      <p:sp>
        <p:nvSpPr>
          <p:cNvPr id="20" name="Text 18"/>
          <p:cNvSpPr/>
          <p:nvPr/>
        </p:nvSpPr>
        <p:spPr>
          <a:xfrm>
            <a:off x="6995160" y="475488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总结与讨论</a:t>
            </a:r>
            <a:endParaRPr lang="en-US" sz="1750" dirty="0"/>
          </a:p>
        </p:txBody>
      </p:sp>
      <p:sp>
        <p:nvSpPr>
          <p:cNvPr id="21" name="Text 19"/>
          <p:cNvSpPr/>
          <p:nvPr/>
        </p:nvSpPr>
        <p:spPr>
          <a:xfrm>
            <a:off x="6995160" y="5212080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要点回顾 + 两个待讨论问题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71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234440"/>
            <a:ext cx="46634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0" b="1" dirty="0">
                <a:solidFill>
                  <a:srgbClr val="241F4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150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46634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0" b="1" dirty="0">
                <a:solidFill>
                  <a:srgbClr val="312A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15000" dirty="0"/>
          </a:p>
        </p:txBody>
      </p:sp>
      <p:sp>
        <p:nvSpPr>
          <p:cNvPr id="4" name="Text 2"/>
          <p:cNvSpPr/>
          <p:nvPr/>
        </p:nvSpPr>
        <p:spPr>
          <a:xfrm>
            <a:off x="5760720" y="2377440"/>
            <a:ext cx="5943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0EEF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背景与动机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779008" y="3310128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49E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像素空间扩散的算力困境，与“压缩”的正确打开方式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A49E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背景 · 前置知识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扩散模型 60 秒回顾（衔接已读论文）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6675120" cy="26974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 w="12700">
            <a:solidFill>
              <a:srgbClr val="D9D5EF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pic>
        <p:nvPicPr>
          <p:cNvPr id="5" name="Image 0" descr="ppt_assets/f_primer_fw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29801"/>
            <a:ext cx="6126480" cy="71803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31520" y="2487168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前向过程：任意 x₀ 经固定噪声调度直接得到 x_t（闭式）</a:t>
            </a:r>
            <a:endParaRPr lang="en-US" sz="1150" dirty="0"/>
          </a:p>
        </p:txBody>
      </p:sp>
      <p:pic>
        <p:nvPicPr>
          <p:cNvPr id="7" name="Image 1" descr="ppt_assets/f_primer_obj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863427"/>
            <a:ext cx="6126480" cy="582507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31520" y="3703320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简化训练目标：预测加入的噪声 ε（DDPM, Ho et al. 2020）</a:t>
            </a:r>
            <a:endParaRPr lang="en-US" sz="1150" dirty="0"/>
          </a:p>
        </p:txBody>
      </p:sp>
      <p:sp>
        <p:nvSpPr>
          <p:cNvPr id="9" name="Text 5"/>
          <p:cNvSpPr/>
          <p:nvPr/>
        </p:nvSpPr>
        <p:spPr>
          <a:xfrm>
            <a:off x="7498080" y="146304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4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前向加噪无学习参数，反向过程由 ε_θ 逐步去噪</a:t>
            </a:r>
            <a:endParaRPr lang="en-US" sz="145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4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ε-预测参数化 + 简化目标 → 训练稳定，是 DDPM 的核心贡献</a:t>
            </a:r>
            <a:endParaRPr lang="en-US" sz="145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4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Score-SDE（已读论文2）把它推广到连续时间：条件生成即对 p(z|y) 建模</a:t>
            </a:r>
            <a:endParaRPr lang="en-US" sz="1450" dirty="0"/>
          </a:p>
        </p:txBody>
      </p:sp>
      <p:sp>
        <p:nvSpPr>
          <p:cNvPr id="10" name="Shape 6"/>
          <p:cNvSpPr/>
          <p:nvPr/>
        </p:nvSpPr>
        <p:spPr>
          <a:xfrm>
            <a:off x="0" y="5989320"/>
            <a:ext cx="12188952" cy="566928"/>
          </a:xfrm>
          <a:prstGeom prst="rect">
            <a:avLst/>
          </a:prstGeom>
          <a:solidFill>
            <a:srgbClr val="EFEDF9"/>
          </a:solidFill>
          <a:ln/>
        </p:spPr>
      </p:sp>
      <p:sp>
        <p:nvSpPr>
          <p:cNvPr id="11" name="Text 7"/>
          <p:cNvSpPr/>
          <p:nvPr/>
        </p:nvSpPr>
        <p:spPr>
          <a:xfrm>
            <a:off x="457200" y="598932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扩散模型 = 顺序去噪的自编码器栈：一切开销都来自“每一步都要跑一遍大网络”</a:t>
            </a:r>
            <a:endParaRPr lang="en-US" sz="1450" dirty="0"/>
          </a:p>
        </p:txBody>
      </p:sp>
      <p:sp>
        <p:nvSpPr>
          <p:cNvPr id="12" name="Text 8"/>
          <p:cNvSpPr/>
          <p:nvPr/>
        </p:nvSpPr>
        <p:spPr>
          <a:xfrm>
            <a:off x="457200" y="651052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Source: Ho et al. 2020 (DDPM); Song et al. 2021 (Score-SDE)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背景 · 痛点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像素空间扩散：训练与推理都贵得离谱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657600" cy="1783080"/>
          </a:xfrm>
          <a:prstGeom prst="roundRect">
            <a:avLst>
              <a:gd name="adj" fmla="val 3077"/>
            </a:avLst>
          </a:prstGeom>
          <a:solidFill>
            <a:srgbClr val="EFEDF9"/>
          </a:solidFill>
          <a:ln w="9525">
            <a:solidFill>
              <a:srgbClr val="D9D5E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21792" y="1527048"/>
            <a:ext cx="3328416" cy="9272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150–1000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21792" y="2451506"/>
            <a:ext cx="3328416" cy="677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V100·天 —— 训练一个 SOTA 像素扩散模型（ADM）的典型开销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434840" y="1417320"/>
            <a:ext cx="3657600" cy="1783080"/>
          </a:xfrm>
          <a:prstGeom prst="roundRect">
            <a:avLst>
              <a:gd name="adj" fmla="val 3077"/>
            </a:avLst>
          </a:prstGeom>
          <a:solidFill>
            <a:srgbClr val="EFEDF9"/>
          </a:solidFill>
          <a:ln w="9525">
            <a:solidFill>
              <a:srgbClr val="D9D5E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99432" y="1527048"/>
            <a:ext cx="3328416" cy="9272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≈ 5 天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4599432" y="2451506"/>
            <a:ext cx="3328416" cy="677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单张 A100 上生成 5 万张图（推理顺序评估的代价）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366760" y="1417320"/>
            <a:ext cx="3337560" cy="1783080"/>
          </a:xfrm>
          <a:prstGeom prst="roundRect">
            <a:avLst>
              <a:gd name="adj" fmla="val 3077"/>
            </a:avLst>
          </a:prstGeom>
          <a:solidFill>
            <a:srgbClr val="EFEDF9"/>
          </a:solidFill>
          <a:ln w="9525">
            <a:solidFill>
              <a:srgbClr val="D9D5E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31352" y="1527048"/>
            <a:ext cx="3008376" cy="9272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25–1000 步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8531352" y="2451506"/>
            <a:ext cx="3008376" cy="677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采样需顺序执行去噪网络，步间无法并行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57200" y="3611880"/>
            <a:ext cx="112471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5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根因：高维 RGB 空间（512×512×3 ≈ 78.6 万维）里反复评估同一个大网络</a:t>
            </a:r>
            <a:endParaRPr lang="en-US" sz="155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5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后果一：只有少数机构训得动，学术圈难以参与，碳 footprint 巨大</a:t>
            </a:r>
            <a:endParaRPr lang="en-US" sz="155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5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后果二：推理慢 → 实际部署（如医学影像工作流）不可行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457200" y="651052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Source: Rombach et al., CVPR 2022, Sec. 1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背景 · 相关路线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已有的“潜空间”路线为什么不够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5532120" cy="3794760"/>
          </a:xfrm>
          <a:prstGeom prst="roundRect">
            <a:avLst>
              <a:gd name="adj" fmla="val 1687"/>
            </a:avLst>
          </a:prstGeom>
          <a:solidFill>
            <a:srgbClr val="FFFFFF"/>
          </a:solidFill>
          <a:ln w="12700">
            <a:solidFill>
              <a:srgbClr val="D9D5EF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645920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GAN 路线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49834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▪"/>
            </a:pPr>
            <a:r>
              <a:rPr lang="en-US" sz="145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优点：单步采样、视觉锐利</a:t>
            </a:r>
            <a:endParaRPr lang="en-US" sz="1450" dirty="0"/>
          </a:p>
          <a:p>
            <a:pPr indent="0" marL="0">
              <a:spcAft>
                <a:spcPts val="700"/>
              </a:spcAft>
              <a:buNone/>
            </a:pPr>
            <a:endParaRPr lang="en-US" sz="1450" dirty="0"/>
          </a:p>
          <a:p>
            <a:pPr marL="152400" indent="-152400">
              <a:spcAft>
                <a:spcPts val="700"/>
              </a:spcAft>
              <a:buSzPct val="100000"/>
              <a:buChar char="▪"/>
            </a:pPr>
            <a:r>
              <a:rPr lang="en-US" sz="145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对抗训练难以扩展到复杂多模态分布</a:t>
            </a:r>
            <a:endParaRPr lang="en-US" sz="14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模式坍缩，多样性(recall)普遍差</a:t>
            </a:r>
            <a:endParaRPr lang="en-US" sz="1450" dirty="0"/>
          </a:p>
          <a:p>
            <a:pPr marL="152400" indent="-152400">
              <a:spcAft>
                <a:spcPts val="700"/>
              </a:spcAft>
              <a:buSzPct val="100000"/>
              <a:buChar char="▪"/>
            </a:pPr>
            <a:r>
              <a:rPr lang="en-US" sz="145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可控性依赖额外条件注入设计</a:t>
            </a:r>
            <a:endParaRPr lang="en-US" sz="14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没有统一的条件接口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172200" y="1417320"/>
            <a:ext cx="5532120" cy="3794760"/>
          </a:xfrm>
          <a:prstGeom prst="roundRect">
            <a:avLst>
              <a:gd name="adj" fmla="val 1687"/>
            </a:avLst>
          </a:prstGeom>
          <a:solidFill>
            <a:srgbClr val="FFFFFF"/>
          </a:solidFill>
          <a:ln w="12700">
            <a:solidFill>
              <a:srgbClr val="D9D5EF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46520" y="1645920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VQGAN + 自回归 Transformer（DALL·E 路线）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446520" y="2194560"/>
            <a:ext cx="49834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▪"/>
            </a:pPr>
            <a:r>
              <a:rPr lang="en-US" sz="145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潜空间 + 强语言先验，可行</a:t>
            </a:r>
            <a:endParaRPr lang="en-US" sz="1450" dirty="0"/>
          </a:p>
          <a:p>
            <a:pPr indent="0" marL="0">
              <a:spcAft>
                <a:spcPts val="700"/>
              </a:spcAft>
              <a:buNone/>
            </a:pPr>
            <a:endParaRPr lang="en-US" sz="1450" dirty="0"/>
          </a:p>
          <a:p>
            <a:pPr marL="152400" indent="-152400">
              <a:spcAft>
                <a:spcPts val="700"/>
              </a:spcAft>
              <a:buSzPct val="100000"/>
              <a:buChar char="▪"/>
            </a:pPr>
            <a:r>
              <a:rPr lang="en-US" sz="145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为迁就 Transformer 必须激进下采样</a:t>
            </a:r>
            <a:endParaRPr lang="en-US" sz="14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f=16 甚至 64 → 重建上界受损，细节失真</a:t>
            </a:r>
            <a:endParaRPr lang="en-US" sz="1450" dirty="0"/>
          </a:p>
          <a:p>
            <a:pPr marL="152400" indent="-152400">
              <a:spcAft>
                <a:spcPts val="700"/>
              </a:spcAft>
              <a:buSzPct val="100000"/>
              <a:buChar char="▪"/>
            </a:pPr>
            <a:r>
              <a:rPr lang="en-US" sz="145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放弃图像的 2D 归纳偏置</a:t>
            </a:r>
            <a:endParaRPr lang="en-US" sz="14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全局 attention 昂贵，难外推分辨率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0" y="5577840"/>
            <a:ext cx="12188952" cy="566928"/>
          </a:xfrm>
          <a:prstGeom prst="rect">
            <a:avLst/>
          </a:prstGeom>
          <a:solidFill>
            <a:srgbClr val="EFEDF9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55778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需要的是：适度压缩、对卷积友好的连续潜空间 + 通用条件接口 —— 这就是 LDM 的设计目标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457200" y="651052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Source: Rombach et al., CVPR 2022, Sec. 1–2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方法 · 核心思想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把图像生成分解为两个子问题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2286000" cy="777240"/>
          </a:xfrm>
          <a:prstGeom prst="roundRect">
            <a:avLst>
              <a:gd name="adj" fmla="val 5882"/>
            </a:avLst>
          </a:prstGeom>
          <a:solidFill>
            <a:srgbClr val="EFEDF9"/>
          </a:solidFill>
          <a:ln w="15875">
            <a:solidFill>
              <a:srgbClr val="D9D5E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12064" y="1508760"/>
            <a:ext cx="21762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图像生成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834640" y="1508760"/>
            <a:ext cx="457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=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3383280" y="1508760"/>
            <a:ext cx="3291840" cy="77724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5875">
            <a:solidFill>
              <a:srgbClr val="4C3FB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38144" y="1508760"/>
            <a:ext cx="31821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感知压缩（去冗余）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766560" y="1508760"/>
            <a:ext cx="457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+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7315200" y="1508760"/>
            <a:ext cx="4389120" cy="77724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5875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70064" y="1508760"/>
            <a:ext cx="4279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语义生成（对内容建模）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7200" y="2606040"/>
            <a:ext cx="55778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5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数字图像的大部分比特编码感知上不可见的细节（高频纹理）</a:t>
            </a:r>
            <a:endParaRPr lang="en-US" sz="155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5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感知压缩交给自编码器：一次前向即可恢复像素级细节</a:t>
            </a:r>
            <a:endParaRPr lang="en-US" sz="155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5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语义生成交给扩散模型：只在压缩后的潜空间建模数据分布</a:t>
            </a:r>
            <a:endParaRPr lang="en-US" sz="155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5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两个阶段解耦 → 各自用最合适的技术，算力花在刀刃上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6355080" y="2514600"/>
            <a:ext cx="5394960" cy="3383280"/>
          </a:xfrm>
          <a:prstGeom prst="roundRect">
            <a:avLst>
              <a:gd name="adj" fmla="val 1892"/>
            </a:avLst>
          </a:prstGeom>
          <a:solidFill>
            <a:srgbClr val="FFFFFF"/>
          </a:solidFill>
          <a:ln w="12700">
            <a:solidFill>
              <a:srgbClr val="D9D5EF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pic>
        <p:nvPicPr>
          <p:cNvPr id="14" name="Image 0" descr="ppt_assets/fig2_compress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16321" y="2651760"/>
            <a:ext cx="4672478" cy="310896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6355080" y="59436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论文图 2：感知压缩 vs 语义压缩示意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457200" y="651052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Source: Rombach et al., CVPR 2022, Fig. 2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方法 · 动机证据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压缩越激进，重建上界损失越大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6035040" cy="3977640"/>
          </a:xfrm>
          <a:prstGeom prst="roundRect">
            <a:avLst>
              <a:gd name="adj" fmla="val 1609"/>
            </a:avLst>
          </a:prstGeom>
          <a:solidFill>
            <a:srgbClr val="FFFFFF"/>
          </a:solidFill>
          <a:ln w="12700">
            <a:solidFill>
              <a:srgbClr val="D9D5EF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pic>
        <p:nvPicPr>
          <p:cNvPr id="5" name="Image 0" descr="ppt_assets/fig1_rd_compa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609389"/>
            <a:ext cx="5760720" cy="350206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544068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论文图 1：DIV2K 512² 上不同 f 的重建对比</a:t>
            </a:r>
            <a:endParaRPr lang="en-US" sz="11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0" y="1554480"/>
          <a:ext cx="4846320" cy="1920240"/>
        </p:xfrm>
        <a:graphic>
          <a:graphicData uri="http://schemas.openxmlformats.org/drawingml/2006/table">
            <a:tbl>
              <a:tblPr/>
              <a:tblGrid>
                <a:gridCol w="1737360"/>
                <a:gridCol w="731520"/>
                <a:gridCol w="1097280"/>
                <a:gridCol w="1280160"/>
              </a:tblGrid>
              <a:tr h="4800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第一阶段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3FB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f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3FB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PSNR ↑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3FB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R-FID ↓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3FB1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ours (LDM)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27.4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0.58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DALL·E 所用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8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22.8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32.01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VQGAN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16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19.9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4.98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6858000" y="374904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f=4：重建几乎无损（R-FID 0.58），细节全保留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f=8/f=16：纹理明显退化——这是 AR 路线的固有代价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扩散不需要激进压缩 → 可以用轻压缩换高上界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457200" y="651052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Source: Rombach et al., CVPR 2022, Fig. 1（PSNR/R-FID 于 ImageNet-val 评估）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71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234440"/>
            <a:ext cx="46634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0" b="1" dirty="0">
                <a:solidFill>
                  <a:srgbClr val="241F4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150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46634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0" b="1" dirty="0">
                <a:solidFill>
                  <a:srgbClr val="312A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15000" dirty="0"/>
          </a:p>
        </p:txBody>
      </p:sp>
      <p:sp>
        <p:nvSpPr>
          <p:cNvPr id="4" name="Text 2"/>
          <p:cNvSpPr/>
          <p:nvPr/>
        </p:nvSpPr>
        <p:spPr>
          <a:xfrm>
            <a:off x="5760720" y="2377440"/>
            <a:ext cx="5943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0EEF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方法：两阶段潜空间扩散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779008" y="3310128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49E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第一阶段感知压缩（自编码器） + 第二阶段语义生成（潜空间 DDPM）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A49E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方法 · 总体框架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两阶段流水线：扩散只发生在潜空间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828800"/>
            <a:ext cx="1417320" cy="105156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5875">
            <a:solidFill>
              <a:srgbClr val="D9D5E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12064" y="1828800"/>
            <a:ext cx="13075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图像 x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H×W×3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920240" y="2354580"/>
            <a:ext cx="457200" cy="0"/>
          </a:xfrm>
          <a:prstGeom prst="line">
            <a:avLst/>
          </a:prstGeom>
          <a:noFill/>
          <a:ln w="2794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423160" y="1828800"/>
            <a:ext cx="1280160" cy="1051560"/>
          </a:xfrm>
          <a:prstGeom prst="roundRect">
            <a:avLst>
              <a:gd name="adj" fmla="val 4348"/>
            </a:avLst>
          </a:prstGeom>
          <a:solidFill>
            <a:srgbClr val="EFEDF9"/>
          </a:solidFill>
          <a:ln w="15875">
            <a:solidFill>
              <a:srgbClr val="4C3FB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78024" y="1828800"/>
            <a:ext cx="11704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编码器 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749040" y="2354580"/>
            <a:ext cx="457200" cy="0"/>
          </a:xfrm>
          <a:prstGeom prst="line">
            <a:avLst/>
          </a:prstGeom>
          <a:noFill/>
          <a:ln w="2794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251960" y="1828800"/>
            <a:ext cx="1783080" cy="105156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5875">
            <a:solidFill>
              <a:srgbClr val="D9D5E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06824" y="1828800"/>
            <a:ext cx="167335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潜变量 z = E(x)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h×w×c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080760" y="2354580"/>
            <a:ext cx="457200" cy="0"/>
          </a:xfrm>
          <a:prstGeom prst="line">
            <a:avLst/>
          </a:prstGeom>
          <a:noFill/>
          <a:ln w="2794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583680" y="1828800"/>
            <a:ext cx="1965960" cy="105156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5875">
            <a:solidFill>
              <a:srgbClr val="D9D5E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38544" y="1828800"/>
            <a:ext cx="18562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加噪 → z_t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(固定调度)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595360" y="2354580"/>
            <a:ext cx="457200" cy="0"/>
          </a:xfrm>
          <a:prstGeom prst="line">
            <a:avLst/>
          </a:prstGeom>
          <a:noFill/>
          <a:ln w="2794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9098280" y="1828800"/>
            <a:ext cx="2606040" cy="1051560"/>
          </a:xfrm>
          <a:prstGeom prst="roundRect">
            <a:avLst>
              <a:gd name="adj" fmla="val 4348"/>
            </a:avLst>
          </a:prstGeom>
          <a:solidFill>
            <a:srgbClr val="EFEDF9"/>
          </a:solidFill>
          <a:ln w="15875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53144" y="1828800"/>
            <a:ext cx="24963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UNet ε_θ(z_t, t, 条件)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逐步去噪 → ẑ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080760" y="3383280"/>
            <a:ext cx="4709160" cy="0"/>
          </a:xfrm>
          <a:prstGeom prst="line">
            <a:avLst/>
          </a:prstGeom>
          <a:noFill/>
          <a:ln w="12700">
            <a:solidFill>
              <a:srgbClr val="D9D5EF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6080760" y="3447288"/>
            <a:ext cx="5623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第二阶段：扩散模型，唯一需要训练的生成部件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10378440" y="2935224"/>
            <a:ext cx="0" cy="932688"/>
          </a:xfrm>
          <a:prstGeom prst="line">
            <a:avLst/>
          </a:prstGeom>
          <a:noFill/>
          <a:ln w="27940">
            <a:solidFill>
              <a:srgbClr val="D9D5EF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9098280" y="3931920"/>
            <a:ext cx="2606040" cy="914400"/>
          </a:xfrm>
          <a:prstGeom prst="roundRect">
            <a:avLst>
              <a:gd name="adj" fmla="val 5000"/>
            </a:avLst>
          </a:prstGeom>
          <a:solidFill>
            <a:srgbClr val="EFEDF9"/>
          </a:solidFill>
          <a:ln w="15875">
            <a:solidFill>
              <a:srgbClr val="4C3FB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53144" y="3931920"/>
            <a:ext cx="24963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解码器 D → x̂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2423160" y="3931920"/>
            <a:ext cx="361188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9D5E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478024" y="3931920"/>
            <a:ext cx="3502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第一阶段：E/D 训练后冻结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57200" y="4983480"/>
            <a:ext cx="3566160" cy="1298448"/>
          </a:xfrm>
          <a:prstGeom prst="roundRect">
            <a:avLst>
              <a:gd name="adj" fmla="val 4225"/>
            </a:avLst>
          </a:prstGeom>
          <a:solidFill>
            <a:srgbClr val="EFEDF9"/>
          </a:solidFill>
          <a:ln w="9525">
            <a:solidFill>
              <a:srgbClr val="D9D5E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1792" y="5093208"/>
            <a:ext cx="3236976" cy="6751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 = 4~8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621792" y="5736580"/>
            <a:ext cx="3236976" cy="493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下采样倍率（甜点区）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4206240" y="4983480"/>
            <a:ext cx="3566160" cy="1298448"/>
          </a:xfrm>
          <a:prstGeom prst="roundRect">
            <a:avLst>
              <a:gd name="adj" fmla="val 4225"/>
            </a:avLst>
          </a:prstGeom>
          <a:solidFill>
            <a:srgbClr val="EFEDF9"/>
          </a:solidFill>
          <a:ln w="9525">
            <a:solidFill>
              <a:srgbClr val="D9D5E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5093208"/>
            <a:ext cx="3236976" cy="6751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48×</a:t>
            </a:r>
            <a:endParaRPr lang="en-US" sz="3000" dirty="0"/>
          </a:p>
        </p:txBody>
      </p:sp>
      <p:sp>
        <p:nvSpPr>
          <p:cNvPr id="30" name="Text 28"/>
          <p:cNvSpPr/>
          <p:nvPr/>
        </p:nvSpPr>
        <p:spPr>
          <a:xfrm>
            <a:off x="4370832" y="5736580"/>
            <a:ext cx="3236976" cy="493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维度缩减示例：512×512×3 → 128×128×4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7955280" y="4983480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EFEDF9"/>
          </a:solidFill>
          <a:ln w="9525">
            <a:solidFill>
              <a:srgbClr val="D9D5E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119872" y="5093208"/>
            <a:ext cx="3419856" cy="6751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1–2 个数量级</a:t>
            </a:r>
            <a:endParaRPr lang="en-US" sz="3000" dirty="0"/>
          </a:p>
        </p:txBody>
      </p:sp>
      <p:sp>
        <p:nvSpPr>
          <p:cNvPr id="33" name="Text 31"/>
          <p:cNvSpPr/>
          <p:nvPr/>
        </p:nvSpPr>
        <p:spPr>
          <a:xfrm>
            <a:off x="8119872" y="5736580"/>
            <a:ext cx="3419856" cy="493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训练/推理算力下降（对比像素扩散）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457200" y="651052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Source: Rombach et al., CVPR 2022, Sec. 3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方法 · 第一阶段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感知压缩自编码器：损失设计与潜空间正则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1124712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5EF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pic>
        <p:nvPicPr>
          <p:cNvPr id="5" name="Image 0" descr="ppt_assets/f_a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96448"/>
            <a:ext cx="10698480" cy="57326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2468880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L_rec（L1 像素重建）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3520440" y="2468880"/>
            <a:ext cx="8092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保全局结构与灰度/颜色一致性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457200" y="2907792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L_perceptual（VGG 特征匹配）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3520440" y="2907792"/>
            <a:ext cx="8092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感知相似而非逐像素相同，避免过度模糊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7200" y="3346704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L_adv（PatchGAN 对抗）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3520440" y="3346704"/>
            <a:ext cx="8092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逼出照片级锐度与真实纹理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7200" y="3785616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L_reg（潜空间正则）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3520440" y="3785616"/>
            <a:ext cx="8092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防潜空间任意高方差，方便扩散建模（见下）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457200" y="4343400"/>
            <a:ext cx="5532120" cy="1600200"/>
          </a:xfrm>
          <a:prstGeom prst="roundRect">
            <a:avLst>
              <a:gd name="adj" fmla="val 3429"/>
            </a:avLst>
          </a:prstGeom>
          <a:solidFill>
            <a:srgbClr val="EFEDF9"/>
          </a:solidFill>
          <a:ln w="9525">
            <a:solidFill>
              <a:srgbClr val="D9D5E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85800" y="449884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KL 正则（连续潜空间）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685800" y="4901184"/>
            <a:ext cx="5120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▪"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轻微 KL 惩罚拉向 N(0,I)，权重 ≪1</a:t>
            </a:r>
            <a:endParaRPr lang="en-US" sz="1250" dirty="0"/>
          </a:p>
          <a:p>
            <a:pPr marL="152400" indent="-152400">
              <a:spcAft>
                <a:spcPts val="400"/>
              </a:spcAft>
              <a:buSzPct val="100000"/>
              <a:buChar char="▪"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可控生成路线主流（Stable Diffusion 即 KL-8）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6172200" y="4343400"/>
            <a:ext cx="5532120" cy="1600200"/>
          </a:xfrm>
          <a:prstGeom prst="roundRect">
            <a:avLst>
              <a:gd name="adj" fmla="val 3429"/>
            </a:avLst>
          </a:prstGeom>
          <a:solidFill>
            <a:srgbClr val="EFEDF9"/>
          </a:solidFill>
          <a:ln w="9525">
            <a:solidFill>
              <a:srgbClr val="D9D5E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400800" y="449884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VQ 正则（离散码本）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6400800" y="4901184"/>
            <a:ext cx="5120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▪"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解码器内置向量量化层（≈VQGAN，量化被解码器吸收）</a:t>
            </a:r>
            <a:endParaRPr lang="en-US" sz="1250" dirty="0"/>
          </a:p>
          <a:p>
            <a:pPr marL="152400" indent="-152400">
              <a:spcAft>
                <a:spcPts val="400"/>
              </a:spcAft>
              <a:buSzPct val="100000"/>
              <a:buChar char="▪"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论文主实验默认：采样质量优于 KL 版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457200" y="651052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Source: Rombach et al., CVPR 2022, Sec. 3.1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方法 · 第二阶段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潜空间扩散：目标函数与 DDPM 完全同构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6583680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D5EF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pic>
        <p:nvPicPr>
          <p:cNvPr id="5" name="Image 0" descr="ppt_assets/f_ld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574973"/>
            <a:ext cx="6035040" cy="55337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2560320"/>
            <a:ext cx="6583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与 DDPM 唯一的区别：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 x 换成 z = E(x)，其余（噪声调度、ε-预测、采样器）全部继承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3520440"/>
            <a:ext cx="65836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期望下标 E(x)：采样自冻结编码器输出的潜变量分布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UNet：2D 卷积残差块 + GroupNorm + SiLU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多分辨率层级插入 self-attention（继承 ADM 实践）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时间步 t：正弦位置嵌入 → 投影进各残差块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big 变体：注意力三层级 + BigGAN 残差块上下采样，387M 参数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第一阶段可去 attention：VQ-LDM-4 降低高分辨率解码显存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采样器以 DDIM 为主（少步数、确定性）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360920" y="1371600"/>
            <a:ext cx="4389120" cy="4572000"/>
          </a:xfrm>
          <a:prstGeom prst="roundRect">
            <a:avLst>
              <a:gd name="adj" fmla="val 1458"/>
            </a:avLst>
          </a:prstGeom>
          <a:solidFill>
            <a:srgbClr val="FFFFFF"/>
          </a:solidFill>
          <a:ln w="12700">
            <a:solidFill>
              <a:srgbClr val="D9D5EF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pic>
        <p:nvPicPr>
          <p:cNvPr id="9" name="Image 1" descr="ppt_assets/fig4_sampl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1657301"/>
            <a:ext cx="4114800" cy="98307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498080" y="283464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论文图 4（节选视角）：潜空间扩散的生成样例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7498080" y="3246120"/>
            <a:ext cx="4114800" cy="1234440"/>
          </a:xfrm>
          <a:prstGeom prst="roundRect">
            <a:avLst>
              <a:gd name="adj" fmla="val 4444"/>
            </a:avLst>
          </a:prstGeom>
          <a:solidFill>
            <a:srgbClr val="EFEDF9"/>
          </a:solidFill>
          <a:ln w="9525">
            <a:solidFill>
              <a:srgbClr val="D9D5E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662672" y="3355848"/>
            <a:ext cx="3785616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卷积友好</a:t>
            </a:r>
            <a:endParaRPr lang="en-US" sz="3000" dirty="0"/>
          </a:p>
        </p:txBody>
      </p:sp>
      <p:sp>
        <p:nvSpPr>
          <p:cNvPr id="13" name="Text 9"/>
          <p:cNvSpPr/>
          <p:nvPr/>
        </p:nvSpPr>
        <p:spPr>
          <a:xfrm>
            <a:off x="7662672" y="3962095"/>
            <a:ext cx="3785616" cy="4690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潜空间保留 2D 结构 → 可滑窗外推分辨率（见实验）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7498080" y="4617720"/>
            <a:ext cx="4114800" cy="1234440"/>
          </a:xfrm>
          <a:prstGeom prst="roundRect">
            <a:avLst>
              <a:gd name="adj" fmla="val 4444"/>
            </a:avLst>
          </a:prstGeom>
          <a:solidFill>
            <a:srgbClr val="EFEDF9"/>
          </a:solidFill>
          <a:ln w="9525">
            <a:solidFill>
              <a:srgbClr val="D9D5EF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7662672" y="4727448"/>
            <a:ext cx="3785616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215M / 387M</a:t>
            </a:r>
            <a:endParaRPr lang="en-US" sz="3000" dirty="0"/>
          </a:p>
        </p:txBody>
      </p:sp>
      <p:sp>
        <p:nvSpPr>
          <p:cNvPr id="16" name="Text 12"/>
          <p:cNvSpPr/>
          <p:nvPr/>
        </p:nvSpPr>
        <p:spPr>
          <a:xfrm>
            <a:off x="7662672" y="5333695"/>
            <a:ext cx="3785616" cy="4690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UNet 参数量：标准版 / big 版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457200" y="651052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Source: Rombach et al., CVPR 2022, Sec. 3.3–3.4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 · 关键消融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压缩率 f：训练效率与质量上限的权衡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11247120" cy="2834640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ln w="12700">
            <a:solidFill>
              <a:srgbClr val="D9D5EF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pic>
        <p:nvPicPr>
          <p:cNvPr id="5" name="Image 0" descr="ppt_assets/fig5_ablation_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0" y="1463040"/>
            <a:ext cx="7040880" cy="25603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42062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论文图 5：ImageNet 类条件 LDM 不同 f 的训练曲线（2M 步，同一 A100 预算）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4663440"/>
            <a:ext cx="3566160" cy="1417320"/>
          </a:xfrm>
          <a:prstGeom prst="roundRect">
            <a:avLst>
              <a:gd name="adj" fmla="val 3871"/>
            </a:avLst>
          </a:prstGeom>
          <a:solidFill>
            <a:srgbClr val="EFEDF9"/>
          </a:solidFill>
          <a:ln w="9525">
            <a:solidFill>
              <a:srgbClr val="D9D5E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21792" y="4773168"/>
            <a:ext cx="3236976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FID gap = 38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621792" y="5485486"/>
            <a:ext cx="3236976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LDM-1（像素级）vs LDM-8，2M 步后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206240" y="4663440"/>
            <a:ext cx="3566160" cy="1417320"/>
          </a:xfrm>
          <a:prstGeom prst="roundRect">
            <a:avLst>
              <a:gd name="adj" fmla="val 3871"/>
            </a:avLst>
          </a:prstGeom>
          <a:solidFill>
            <a:srgbClr val="EFEDF9"/>
          </a:solidFill>
          <a:ln w="9525">
            <a:solidFill>
              <a:srgbClr val="D9D5E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370832" y="4773168"/>
            <a:ext cx="3236976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 ∈ [4, 16]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4370832" y="5485486"/>
            <a:ext cx="3236976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甜点区：LDM-4/8 最优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7955280" y="4663440"/>
            <a:ext cx="3749040" cy="1417320"/>
          </a:xfrm>
          <a:prstGeom prst="roundRect">
            <a:avLst>
              <a:gd name="adj" fmla="val 3871"/>
            </a:avLst>
          </a:prstGeom>
          <a:solidFill>
            <a:srgbClr val="EFEDF9"/>
          </a:solidFill>
          <a:ln w="9525">
            <a:solidFill>
              <a:srgbClr val="D9D5E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119872" y="4773168"/>
            <a:ext cx="3419856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LDM-32 ✗</a:t>
            </a:r>
            <a:endParaRPr lang="en-US" sz="3000" dirty="0"/>
          </a:p>
        </p:txBody>
      </p:sp>
      <p:sp>
        <p:nvSpPr>
          <p:cNvPr id="15" name="Text 12"/>
          <p:cNvSpPr/>
          <p:nvPr/>
        </p:nvSpPr>
        <p:spPr>
          <a:xfrm>
            <a:off x="8119872" y="5485486"/>
            <a:ext cx="3419856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过压缩：第一阶段重建损失成瓶颈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457200" y="651052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Source: Rombach et al., CVPR 2022, Fig. 5（100 DDIM 步，κ=0）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 · 推理效率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速度-质量权衡：LDM-4/8 全面占优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11247120" cy="2834640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ln w="12700">
            <a:solidFill>
              <a:srgbClr val="D9D5EF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pic>
        <p:nvPicPr>
          <p:cNvPr id="5" name="Image 0" descr="ppt_assets/fig6_inpaint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0" y="1463040"/>
            <a:ext cx="7040880" cy="25603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42062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论文图 6：CelebA-HQ（左）/ ImageNet（右），DDIM 步数 {10,20,50,100,200} 从右向左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457200" y="4617720"/>
            <a:ext cx="11247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4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横轴 V100 上每张图采样耗时，纵轴 FID（5000 样本评估）</a:t>
            </a:r>
            <a:endParaRPr lang="en-US" sz="145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4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LDM-{4-8} 在同等质量下比高压缩/低压缩版本都快</a:t>
            </a:r>
            <a:endParaRPr lang="en-US" sz="145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4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低步数（20–50 步 DDIM）即可接近最优质量 → 实用性关键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457200" y="651052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Source: Rombach et al., CVPR 2022, Fig. 6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71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234440"/>
            <a:ext cx="46634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0" b="1" dirty="0">
                <a:solidFill>
                  <a:srgbClr val="241F4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150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46634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0" b="1" dirty="0">
                <a:solidFill>
                  <a:srgbClr val="312A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15000" dirty="0"/>
          </a:p>
        </p:txBody>
      </p:sp>
      <p:sp>
        <p:nvSpPr>
          <p:cNvPr id="4" name="Text 2"/>
          <p:cNvSpPr/>
          <p:nvPr/>
        </p:nvSpPr>
        <p:spPr>
          <a:xfrm>
            <a:off x="5760720" y="2377440"/>
            <a:ext cx="5943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0EEF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条件机制与引导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779008" y="3310128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49E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拼接 / Cross-Attention / Classifier-Free Guidance —— 本文方法上最大的贡献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A49E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方法 · 条件机制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两类条件注入：空间拼接 与 交叉注意力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68680" y="1371600"/>
            <a:ext cx="10469880" cy="3063240"/>
          </a:xfrm>
          <a:prstGeom prst="roundRect">
            <a:avLst>
              <a:gd name="adj" fmla="val 2090"/>
            </a:avLst>
          </a:prstGeom>
          <a:solidFill>
            <a:srgbClr val="FFFFFF"/>
          </a:solidFill>
          <a:ln w="12700">
            <a:solidFill>
              <a:srgbClr val="D9D5EF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pic>
        <p:nvPicPr>
          <p:cNvPr id="5" name="Image 0" descr="ppt_assets/fig3_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59221" y="1481328"/>
            <a:ext cx="5488797" cy="2834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68680" y="4480560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论文图 3：上=拼接式条件化；下=cross-attention 条件化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4892040"/>
            <a:ext cx="5394960" cy="1234440"/>
          </a:xfrm>
          <a:prstGeom prst="roundRect">
            <a:avLst>
              <a:gd name="adj" fmla="val 4444"/>
            </a:avLst>
          </a:prstGeom>
          <a:solidFill>
            <a:srgbClr val="EFEDF9"/>
          </a:solidFill>
          <a:ln w="9525">
            <a:solidFill>
              <a:srgbClr val="D9D5E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85800" y="50292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拼接（concatenation）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85800" y="5413248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空间对齐条件：语义图 / 低分辨率图 / 掩码+图像。降采样到潜分辨率后沿通道维拼给 UNet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309360" y="4892040"/>
            <a:ext cx="5394960" cy="1234440"/>
          </a:xfrm>
          <a:prstGeom prst="roundRect">
            <a:avLst>
              <a:gd name="adj" fmla="val 4444"/>
            </a:avLst>
          </a:prstGeom>
          <a:solidFill>
            <a:srgbClr val="EFEDF9"/>
          </a:solidFill>
          <a:ln w="9525">
            <a:solidFill>
              <a:srgbClr val="D9D5E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37960" y="50292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Cross-attention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6537960" y="5413248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任意模态条件：文本 / 类别 / 布局框 / 参数向量。经 τ_θ 编码成 token 序列注入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7200" y="651052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Source: Rombach et al., CVPR 2022, Sec. 3.3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16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方法 · 条件机制 ①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拼接式：为空间对齐条件保留卷积本性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210312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9D5E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12064" y="1600200"/>
            <a:ext cx="19933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条件图（256²）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语义图/低分图/掩码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606040" y="2057400"/>
            <a:ext cx="457200" cy="0"/>
          </a:xfrm>
          <a:prstGeom prst="line">
            <a:avLst/>
          </a:prstGeom>
          <a:noFill/>
          <a:ln w="2794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3108960" y="1600200"/>
            <a:ext cx="210312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9D5E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163824" y="1600200"/>
            <a:ext cx="19933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下采样 ×f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 c（64×64）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108960" y="2834640"/>
            <a:ext cx="2103120" cy="914400"/>
          </a:xfrm>
          <a:prstGeom prst="roundRect">
            <a:avLst>
              <a:gd name="adj" fmla="val 5000"/>
            </a:avLst>
          </a:prstGeom>
          <a:solidFill>
            <a:srgbClr val="EFEDF9"/>
          </a:solidFill>
          <a:ln w="15875">
            <a:solidFill>
              <a:srgbClr val="D9D5E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163824" y="2834640"/>
            <a:ext cx="19933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z_t（4×64×64）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349240" y="2011680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⊕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5074920" y="2057400"/>
            <a:ext cx="0" cy="1234440"/>
          </a:xfrm>
          <a:prstGeom prst="line">
            <a:avLst/>
          </a:prstGeom>
          <a:noFill/>
          <a:ln w="12700">
            <a:solidFill>
              <a:srgbClr val="D9D5EF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5943600" y="2377440"/>
            <a:ext cx="502920" cy="0"/>
          </a:xfrm>
          <a:prstGeom prst="line">
            <a:avLst/>
          </a:prstGeom>
          <a:noFill/>
          <a:ln w="2794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6492240" y="1920240"/>
            <a:ext cx="2377440" cy="914400"/>
          </a:xfrm>
          <a:prstGeom prst="roundRect">
            <a:avLst>
              <a:gd name="adj" fmla="val 5000"/>
            </a:avLst>
          </a:prstGeom>
          <a:solidFill>
            <a:srgbClr val="EFEDF9"/>
          </a:solidFill>
          <a:ln w="15875">
            <a:solidFill>
              <a:srgbClr val="4C3FB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47104" y="1920240"/>
            <a:ext cx="22677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通道拼接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(4+c)×64×64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915400" y="2377440"/>
            <a:ext cx="457200" cy="0"/>
          </a:xfrm>
          <a:prstGeom prst="line">
            <a:avLst/>
          </a:prstGeom>
          <a:noFill/>
          <a:ln w="2794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9418320" y="1920240"/>
            <a:ext cx="228600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9D5E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473184" y="1920240"/>
            <a:ext cx="2176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UNet ε_θ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（输入通道加宽）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7200" y="4206240"/>
            <a:ext cx="11247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5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适用任务：语义合成（landscape）、超分辨率（低分图上采样后拼接）、修复（掩码+已知图像拼接）</a:t>
            </a:r>
            <a:endParaRPr lang="en-US" sz="150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5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关键优势：不改网络空间结构 → 保留平移等变性</a:t>
            </a:r>
            <a:endParaRPr lang="en-US" sz="150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5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卷积式采样：256² 训练的模型可滑窗外推到 512×1024（实验部分展示）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57200" y="651052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Source: Rombach et al., CVPR 2022, Sec. 3.3 / 4.3.2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17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方法 · 条件机制 ②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Cross-attention：任意模态条件的通用接口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690372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2700">
            <a:solidFill>
              <a:srgbClr val="D9D5EF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pic>
        <p:nvPicPr>
          <p:cNvPr id="5" name="Image 0" descr="ppt_assets/f_att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88293"/>
            <a:ext cx="6537960" cy="801053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2834640"/>
            <a:ext cx="690372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2700">
            <a:solidFill>
              <a:srgbClr val="D9D5EF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pic>
        <p:nvPicPr>
          <p:cNvPr id="7" name="Image 1" descr="ppt_assets/f_qkv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128695"/>
            <a:ext cx="6537960" cy="50917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57200" y="41605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Q ← φ_i(z_t)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3794760" y="41605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UNet 第 i 层特征展平为 N 个空间 token</a:t>
            </a:r>
            <a:endParaRPr lang="en-US" sz="1250" dirty="0"/>
          </a:p>
        </p:txBody>
      </p:sp>
      <p:sp>
        <p:nvSpPr>
          <p:cNvPr id="10" name="Text 6"/>
          <p:cNvSpPr/>
          <p:nvPr/>
        </p:nvSpPr>
        <p:spPr>
          <a:xfrm>
            <a:off x="457200" y="45720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K, V ← τ_θ(y)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3794760" y="45720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条件编码为 M 个 token（可变长）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457200" y="49834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输出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3794760" y="49834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以残差形式并回 UNet 主干</a:t>
            </a:r>
            <a:endParaRPr lang="en-US" sz="1250" dirty="0"/>
          </a:p>
        </p:txBody>
      </p:sp>
      <p:sp>
        <p:nvSpPr>
          <p:cNvPr id="14" name="Text 10"/>
          <p:cNvSpPr/>
          <p:nvPr/>
        </p:nvSpPr>
        <p:spPr>
          <a:xfrm>
            <a:off x="457200" y="53949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训练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3794760" y="53949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τ_θ 与 ε_θ 联合端到端优化</a:t>
            </a:r>
            <a:endParaRPr lang="en-US" sz="1250" dirty="0"/>
          </a:p>
        </p:txBody>
      </p:sp>
      <p:sp>
        <p:nvSpPr>
          <p:cNvPr id="16" name="Text 12"/>
          <p:cNvSpPr/>
          <p:nvPr/>
        </p:nvSpPr>
        <p:spPr>
          <a:xfrm>
            <a:off x="7680960" y="14630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直觉：每个空间位置（Q）自行决定“看条件的哪一段”（K/V）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τ_θ 是领域专家，可插拔：文本=Transformer（CLIP），布局=小CNN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条件注入与主干解耦 → 多条件融合的天然容器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7680960" y="4572000"/>
            <a:ext cx="4023360" cy="1417320"/>
          </a:xfrm>
          <a:prstGeom prst="roundRect">
            <a:avLst>
              <a:gd name="adj" fmla="val 3871"/>
            </a:avLst>
          </a:prstGeom>
          <a:solidFill>
            <a:srgbClr val="EFEDF9"/>
          </a:solidFill>
          <a:ln w="9525">
            <a:solidFill>
              <a:srgbClr val="D9D5E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7845552" y="4681728"/>
            <a:ext cx="3694176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通用接口</a:t>
            </a:r>
            <a:endParaRPr lang="en-US" sz="3000" dirty="0"/>
          </a:p>
        </p:txBody>
      </p:sp>
      <p:sp>
        <p:nvSpPr>
          <p:cNvPr id="19" name="Text 15"/>
          <p:cNvSpPr/>
          <p:nvPr/>
        </p:nvSpPr>
        <p:spPr>
          <a:xfrm>
            <a:off x="7845552" y="5394046"/>
            <a:ext cx="3694176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后续 SD 的 text cross-attention 即由此而来</a:t>
            </a:r>
            <a:endParaRPr lang="en-US" sz="1250" dirty="0"/>
          </a:p>
        </p:txBody>
      </p:sp>
      <p:sp>
        <p:nvSpPr>
          <p:cNvPr id="20" name="Text 16"/>
          <p:cNvSpPr/>
          <p:nvPr/>
        </p:nvSpPr>
        <p:spPr>
          <a:xfrm>
            <a:off x="457200" y="651052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Source: Rombach et al., CVPR 2022, Sec. 3.3</a:t>
            </a:r>
            <a:endParaRPr lang="en-US" sz="1050" dirty="0"/>
          </a:p>
        </p:txBody>
      </p:sp>
      <p:sp>
        <p:nvSpPr>
          <p:cNvPr id="21" name="Text 17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方法 · 训练目标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条件 LDM：τ_θ 与 ε_θ 联合优化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097280" y="1645920"/>
            <a:ext cx="996696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2700">
            <a:solidFill>
              <a:srgbClr val="D9D5EF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pic>
        <p:nvPicPr>
          <p:cNvPr id="5" name="Image 0" descr="ppt_assets/f_cld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1940595"/>
            <a:ext cx="9418320" cy="69081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97280" y="3154680"/>
            <a:ext cx="9966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5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式(3)在式 L_LDM 基础上多了条件路径 τ_θ(y)，期望同时遍历 (E(x), y) 配对</a:t>
            </a:r>
            <a:endParaRPr lang="en-US" sz="155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5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τ_θ 与去噪网络 ε_θ 一起反向传播、联合收敛</a:t>
            </a:r>
            <a:endParaRPr lang="en-US" sz="155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5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y 可以是文本、类别、布局，也可以是参数向量 —— 接口统一</a:t>
            </a:r>
            <a:endParaRPr lang="en-US" sz="1550" dirty="0"/>
          </a:p>
        </p:txBody>
      </p:sp>
      <p:sp>
        <p:nvSpPr>
          <p:cNvPr id="7" name="Shape 4"/>
          <p:cNvSpPr/>
          <p:nvPr/>
        </p:nvSpPr>
        <p:spPr>
          <a:xfrm>
            <a:off x="0" y="5029200"/>
            <a:ext cx="12188952" cy="566928"/>
          </a:xfrm>
          <a:prstGeom prst="rect">
            <a:avLst/>
          </a:prstGeom>
          <a:solidFill>
            <a:srgbClr val="EFEDF9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502920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对应我们课题：六轴条件向量 (mAs, 视角数, 弧段, r, SOD, SDD) + 源图像 → 就是 y 的两种实例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457200" y="651052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Source: Rombach et al., CVPR 2022, Eq. (3)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19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方法 · 采样引导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Classifier-Free Guidance：免分类器的条件强化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6675120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D9D5EF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pic>
        <p:nvPicPr>
          <p:cNvPr id="5" name="Image 0" descr="ppt_assets/f_cf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68960"/>
            <a:ext cx="6126480" cy="41111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2606040"/>
            <a:ext cx="66751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4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训练：以一定概率（如 10%）把条件替换为空条件 ∅ → 同一网络兼任无条件模型</a:t>
            </a:r>
            <a:endParaRPr lang="en-US" sz="145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4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采样：沿“条件方向”外推，w 控制遵从度</a:t>
            </a:r>
            <a:endParaRPr lang="en-US" sz="145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4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 = 1 退化为普通条件采样；w↑ 条件遵从↑、样本质量↑、多样性↓</a:t>
            </a:r>
            <a:endParaRPr lang="en-US" sz="145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4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无需分类器（对比 classifier guidance），对任意条件类型通用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7589520" y="1554480"/>
            <a:ext cx="182880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5875">
            <a:solidFill>
              <a:srgbClr val="D9D5E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644384" y="1554480"/>
            <a:ext cx="17190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ε_θ(z_t, ∅)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7589520" y="2468880"/>
            <a:ext cx="182880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5875">
            <a:solidFill>
              <a:srgbClr val="D9D5E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644384" y="2468880"/>
            <a:ext cx="17190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ε_θ(z_t, c)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9464040" y="1892808"/>
            <a:ext cx="411480" cy="228600"/>
          </a:xfrm>
          <a:prstGeom prst="line">
            <a:avLst/>
          </a:prstGeom>
          <a:noFill/>
          <a:ln w="27940">
            <a:solidFill>
              <a:srgbClr val="4C3FB1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9464040" y="2578608"/>
            <a:ext cx="411480" cy="-228600"/>
          </a:xfrm>
          <a:prstGeom prst="line">
            <a:avLst/>
          </a:prstGeom>
          <a:noFill/>
          <a:ln w="27940">
            <a:solidFill>
              <a:srgbClr val="4C3FB1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9921240" y="1892808"/>
            <a:ext cx="1828800" cy="685800"/>
          </a:xfrm>
          <a:prstGeom prst="roundRect">
            <a:avLst>
              <a:gd name="adj" fmla="val 6667"/>
            </a:avLst>
          </a:prstGeom>
          <a:solidFill>
            <a:srgbClr val="EFEDF9"/>
          </a:solidFill>
          <a:ln w="15875">
            <a:solidFill>
              <a:srgbClr val="F59E0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976104" y="1892808"/>
            <a:ext cx="17190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ε̃（外推）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7589520" y="3310128"/>
            <a:ext cx="4160520" cy="1261872"/>
          </a:xfrm>
          <a:prstGeom prst="roundRect">
            <a:avLst>
              <a:gd name="adj" fmla="val 4348"/>
            </a:avLst>
          </a:prstGeom>
          <a:solidFill>
            <a:srgbClr val="EFEDF9"/>
          </a:solidFill>
          <a:ln w="9525">
            <a:solidFill>
              <a:srgbClr val="D9D5E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754112" y="3419856"/>
            <a:ext cx="3831336" cy="6561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10.56 → 3.60</a:t>
            </a:r>
            <a:endParaRPr lang="en-US" sz="3000" dirty="0"/>
          </a:p>
        </p:txBody>
      </p:sp>
      <p:sp>
        <p:nvSpPr>
          <p:cNvPr id="17" name="Text 14"/>
          <p:cNvSpPr/>
          <p:nvPr/>
        </p:nvSpPr>
        <p:spPr>
          <a:xfrm>
            <a:off x="7754112" y="4042014"/>
            <a:ext cx="3831336" cy="4795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类条件 ImageNet FID（w=1.5）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7589520" y="4681728"/>
            <a:ext cx="4160520" cy="1261872"/>
          </a:xfrm>
          <a:prstGeom prst="roundRect">
            <a:avLst>
              <a:gd name="adj" fmla="val 4348"/>
            </a:avLst>
          </a:prstGeom>
          <a:solidFill>
            <a:srgbClr val="EFEDF9"/>
          </a:solidFill>
          <a:ln w="9525">
            <a:solidFill>
              <a:srgbClr val="D9D5E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754112" y="4791456"/>
            <a:ext cx="3831336" cy="6561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23.35 → 12.61</a:t>
            </a:r>
            <a:endParaRPr lang="en-US" sz="3000" dirty="0"/>
          </a:p>
        </p:txBody>
      </p:sp>
      <p:sp>
        <p:nvSpPr>
          <p:cNvPr id="20" name="Text 17"/>
          <p:cNvSpPr/>
          <p:nvPr/>
        </p:nvSpPr>
        <p:spPr>
          <a:xfrm>
            <a:off x="7754112" y="5413614"/>
            <a:ext cx="3831336" cy="4795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文本条件 COCO FID（w=1.5）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7200" y="651052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Source: Ho &amp; Salimans 2022; Rombach et al., CVPR 2022, Tab. 2/3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71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234440"/>
            <a:ext cx="46634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0" b="1" dirty="0">
                <a:solidFill>
                  <a:srgbClr val="241F4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150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46634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0" b="1" dirty="0">
                <a:solidFill>
                  <a:srgbClr val="312A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15000" dirty="0"/>
          </a:p>
        </p:txBody>
      </p:sp>
      <p:sp>
        <p:nvSpPr>
          <p:cNvPr id="4" name="Text 2"/>
          <p:cNvSpPr/>
          <p:nvPr/>
        </p:nvSpPr>
        <p:spPr>
          <a:xfrm>
            <a:off x="5760720" y="2377440"/>
            <a:ext cx="5943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0EEF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实验结果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779008" y="3310128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49E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五类任务、两图两表：只讲支撑设计决策的关键数字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A49E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21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 ①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无条件生成：与 GAN 系高度竞争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1247120" cy="2377440"/>
          </a:xfrm>
          <a:prstGeom prst="roundRect">
            <a:avLst>
              <a:gd name="adj" fmla="val 2692"/>
            </a:avLst>
          </a:prstGeom>
          <a:solidFill>
            <a:srgbClr val="FFFFFF"/>
          </a:solidFill>
          <a:ln w="12700">
            <a:solidFill>
              <a:srgbClr val="D9D5EF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pic>
        <p:nvPicPr>
          <p:cNvPr id="5" name="Image 0" descr="ppt_assets/fig4_sampl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79320" y="1508760"/>
            <a:ext cx="8802880" cy="21031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379476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论文图 4：CelebA-HQ / FFHQ / LSUN-Churches / LSUN-Bedrooms / ImageNet 256² 生成样例</a:t>
            </a:r>
            <a:endParaRPr lang="en-US" sz="11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06240"/>
          <a:ext cx="6949440" cy="1600200"/>
        </p:xfrm>
        <a:graphic>
          <a:graphicData uri="http://schemas.openxmlformats.org/drawingml/2006/table">
            <a:tbl>
              <a:tblPr/>
              <a:tblGrid>
                <a:gridCol w="1828800"/>
                <a:gridCol w="2011680"/>
                <a:gridCol w="1554480"/>
                <a:gridCol w="1554480"/>
              </a:tblGrid>
              <a:tr h="40005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数据集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3FB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最佳 GAN 系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3FB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LDM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3FB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读数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3FB1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CelebA-HQ 256²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ProjectedGAN 3.08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LDM-4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FID 4.98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FFHQ 256²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ADM 1.90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LDM-8 (KL)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FID 4.02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LSUN-Churches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ProjectedGAN 1.59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LDM-4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FID 2.95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7772400" y="4343400"/>
            <a:ext cx="3931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FID 仍落后顶级 GAN，但 recall（多样性）普遍更好</a:t>
            </a:r>
            <a:endParaRPr lang="en-US" sz="135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200 步 DDIM 即达最优 FID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457200" y="651052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Source: Rombach et al., CVPR 2022, Tab. 1（FID ↓）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22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 ②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类条件 ImageNet：以更少参数刷新 SOTA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417320"/>
          <a:ext cx="67665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571500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ImageNet 256² 类条件生成，FID ↓（越低越好）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7635240" y="1645920"/>
            <a:ext cx="406908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LDM-4-G（CFG w=1.5）FID 3.60，超过 ADM-G 的 4.59 —— 新 SOTA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参数量 400M vs ADM-G 608M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IS 247.7（ADM-G 186.7）；Precision 0.87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无 CFG 时（10.56）与 ADM（10.94）持平 → 收益主要来自 CFG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7635240" y="4572000"/>
            <a:ext cx="4069080" cy="1371600"/>
          </a:xfrm>
          <a:prstGeom prst="roundRect">
            <a:avLst>
              <a:gd name="adj" fmla="val 4000"/>
            </a:avLst>
          </a:prstGeom>
          <a:solidFill>
            <a:srgbClr val="EFEDF9"/>
          </a:solidFill>
          <a:ln w="9525">
            <a:solidFill>
              <a:srgbClr val="D9D5E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799832" y="4681728"/>
            <a:ext cx="37398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400M 参数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7799832" y="5367528"/>
            <a:ext cx="3739896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完成 608M 模型未及的质量（250 DDIM 步）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457200" y="651052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Source: Rombach et al., CVPR 2022, Tab. 3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23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 ③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文本到图像：COCO 零样本大幅领先（当年）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417320"/>
          <a:ext cx="67665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571500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MS-COCO 验证集零样本文本到图像，FID ↓（250 DDIM 步）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7635240" y="1645920"/>
            <a:ext cx="40690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τ_θ = CLIP 文本 Transformer（领域专家实例）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无引导已领先 AR/GAN 路线（23.35 vs ~27）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CFG（w=1.5）再近乎减半 → 12.61，IS 26.6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cross-attention 的伸缩性首次在文本模态上验证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7635240" y="4572000"/>
            <a:ext cx="4069080" cy="1371600"/>
          </a:xfrm>
          <a:prstGeom prst="roundRect">
            <a:avLst>
              <a:gd name="adj" fmla="val 4000"/>
            </a:avLst>
          </a:prstGeom>
          <a:solidFill>
            <a:srgbClr val="EFEDF9"/>
          </a:solidFill>
          <a:ln w="9525">
            <a:solidFill>
              <a:srgbClr val="D9D5E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799832" y="4681728"/>
            <a:ext cx="37398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12.61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7799832" y="5367528"/>
            <a:ext cx="3739896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LDM-KL-8 + CFG 的 COCO FID（DALL·E 为 27.50）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457200" y="651052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Source: Rombach et al., CVPR 2022, Tab. 2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24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 ④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卷积式采样：256² 训练 → 512×1024 推理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828800"/>
            <a:ext cx="3291840" cy="13716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5875">
            <a:solidFill>
              <a:srgbClr val="D9D5E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12064" y="1828800"/>
            <a:ext cx="318211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256 × 256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训练分辨率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977640" y="2514600"/>
            <a:ext cx="2103120" cy="0"/>
          </a:xfrm>
          <a:prstGeom prst="line">
            <a:avLst/>
          </a:prstGeom>
          <a:noFill/>
          <a:ln w="27940">
            <a:solidFill>
              <a:srgbClr val="4C3FB1"/>
            </a:solidFill>
            <a:prstDash val="solid"/>
            <a:tailEnd type="triangle"/>
          </a:ln>
        </p:spPr>
      </p:sp>
      <p:sp>
        <p:nvSpPr>
          <p:cNvPr id="7" name="Text 5"/>
          <p:cNvSpPr/>
          <p:nvPr/>
        </p:nvSpPr>
        <p:spPr>
          <a:xfrm>
            <a:off x="3886200" y="269748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卷积式滑窗采样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（无需重训练）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0" y="1828800"/>
            <a:ext cx="3291840" cy="1371600"/>
          </a:xfrm>
          <a:prstGeom prst="roundRect">
            <a:avLst>
              <a:gd name="adj" fmla="val 3333"/>
            </a:avLst>
          </a:prstGeom>
          <a:solidFill>
            <a:srgbClr val="EFEDF9"/>
          </a:solidFill>
          <a:ln w="15875">
            <a:solidFill>
              <a:srgbClr val="F59E0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55664" y="1828800"/>
            <a:ext cx="318211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512 × 1024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推理分辨率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7200" y="3657600"/>
            <a:ext cx="112471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5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拼接式条件不改变网络的空间结构 → UNet 是纯卷积滑窗可用的</a:t>
            </a:r>
            <a:endParaRPr lang="en-US" sz="150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5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论文图 8：语义合成（landscape）任务上直接外推 4 倍像素</a:t>
            </a:r>
            <a:endParaRPr lang="en-US" sz="150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5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全局 attention 的 AR 路线（DALL·E）做不到——注意力模式绑定训练分辨率</a:t>
            </a:r>
            <a:endParaRPr lang="en-US" sz="150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5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对我们的意义：CT/MRI 不同矩阵尺寸/FOV 的泛化可能性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7200" y="651052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Source: Rombach et al., CVPR 2022, Sec. 4.3.2 / Fig. 8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 ⑤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超分辨率与图像修复：像素级任务的落地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5532120" cy="4343400"/>
          </a:xfrm>
          <a:prstGeom prst="roundRect">
            <a:avLst>
              <a:gd name="adj" fmla="val 1474"/>
            </a:avLst>
          </a:prstGeom>
          <a:solidFill>
            <a:srgbClr val="FFFFFF"/>
          </a:solidFill>
          <a:ln w="12700">
            <a:solidFill>
              <a:srgbClr val="D9D5EF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645920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超分辨率（×4，ImageNet 256²）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49834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条件 = 上采样后的低分图，与 z_t 通道拼接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LDM-SR 纹理真实感优于 SR3；精细重复结构不如 SR3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big 版 552M、100 步：FID 2.4†，A100 上 4.5 s/图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引导版 184M、50 步：0.38 s/图（快 12 倍，质量略降）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172200" y="1417320"/>
            <a:ext cx="5532120" cy="4343400"/>
          </a:xfrm>
          <a:prstGeom prst="roundRect">
            <a:avLst>
              <a:gd name="adj" fmla="val 1474"/>
            </a:avLst>
          </a:prstGeom>
          <a:solidFill>
            <a:srgbClr val="FFFFFF"/>
          </a:solidFill>
          <a:ln w="12700">
            <a:solidFill>
              <a:srgbClr val="D9D5EF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46520" y="1645920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图像修复（CelebA-HQ / Places2）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6446520" y="2194560"/>
            <a:ext cx="49834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条件 = 掩码 + 已知图像拼接；采样每步做潜层融合（已知区域保持 noised 版本）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big + 微调（387M）：40–50% 掩码下 FID 9.39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用户研究整体优于 LaMa（纯判别式修复）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组合式场景合成：多对象布局 → cross-attention 的功劳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457200" y="651052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Source: Rombach et al., CVPR 2022, Tab. 4 / Tab. 7（†FID 于验证集特征）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26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讨论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局限：LDM 没解决的问题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68580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5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两阶段非端到端：第一阶段重建误差是生成质量的硬上界，E/D 无法感知下游需求</a:t>
            </a:r>
            <a:endParaRPr lang="en-US" sz="155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5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潜空间正则的取舍（KL vs VQ、权重多大）仍是经验权衡，无理论指导</a:t>
            </a:r>
            <a:endParaRPr lang="en-US" sz="155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5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文本理解完全依赖冻结的 CLIP——语义能力受制于外部模型</a:t>
            </a:r>
            <a:endParaRPr lang="en-US" sz="155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5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高频细节全交给解码器：极端压缩（f≥32）下细节失真</a:t>
            </a:r>
            <a:endParaRPr lang="en-US" sz="155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5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采样仍是多步迭代（相比 GAN 单步），实时性依赖蒸馏等后处理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7772400" y="1508760"/>
            <a:ext cx="3931920" cy="1920240"/>
          </a:xfrm>
          <a:prstGeom prst="roundRect">
            <a:avLst>
              <a:gd name="adj" fmla="val 2857"/>
            </a:avLst>
          </a:prstGeom>
          <a:solidFill>
            <a:srgbClr val="EFEDF9"/>
          </a:solidFill>
          <a:ln w="9525">
            <a:solidFill>
              <a:srgbClr val="D9D5E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936992" y="1618488"/>
            <a:ext cx="3602736" cy="9985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上界效应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936992" y="2622499"/>
            <a:ext cx="3602736" cy="7296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对我们：CT 的 HU 定量精度直接受 VAE 重建上界约束（HU MAE 评估必做）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0" y="3657600"/>
            <a:ext cx="3931920" cy="1920240"/>
          </a:xfrm>
          <a:prstGeom prst="roundRect">
            <a:avLst>
              <a:gd name="adj" fmla="val 2857"/>
            </a:avLst>
          </a:prstGeom>
          <a:solidFill>
            <a:srgbClr val="EFEDF9"/>
          </a:solidFill>
          <a:ln w="9525">
            <a:solidFill>
              <a:srgbClr val="D9D5E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936992" y="3767328"/>
            <a:ext cx="3602736" cy="9985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正则权衡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936992" y="4771339"/>
            <a:ext cx="3602736" cy="7296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对我们：医学影像潜空间统计与自然图像不同，KL 权重需重调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27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影响与地位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从论文到生态：Stable Diffusion 的起点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3566160" cy="1645920"/>
          </a:xfrm>
          <a:prstGeom prst="roundRect">
            <a:avLst>
              <a:gd name="adj" fmla="val 3333"/>
            </a:avLst>
          </a:prstGeom>
          <a:solidFill>
            <a:srgbClr val="EFEDF9"/>
          </a:solidFill>
          <a:ln w="9525">
            <a:solidFill>
              <a:srgbClr val="D9D5E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21792" y="1572768"/>
            <a:ext cx="3236976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39,000+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21792" y="2417674"/>
            <a:ext cx="3236976" cy="625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被引（截至 2026 年）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206240" y="1463040"/>
            <a:ext cx="3566160" cy="1645920"/>
          </a:xfrm>
          <a:prstGeom prst="roundRect">
            <a:avLst>
              <a:gd name="adj" fmla="val 3333"/>
            </a:avLst>
          </a:prstGeom>
          <a:solidFill>
            <a:srgbClr val="EFEDF9"/>
          </a:solidFill>
          <a:ln w="9525">
            <a:solidFill>
              <a:srgbClr val="D9D5E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70832" y="1572768"/>
            <a:ext cx="3236976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SD 1.x / 2.x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4370832" y="2417674"/>
            <a:ext cx="3236976" cy="625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Stable Diffusion 直接基于 LDM-KL-8 架构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955280" y="1463040"/>
            <a:ext cx="3749040" cy="1645920"/>
          </a:xfrm>
          <a:prstGeom prst="roundRect">
            <a:avLst>
              <a:gd name="adj" fmla="val 3333"/>
            </a:avLst>
          </a:prstGeom>
          <a:solidFill>
            <a:srgbClr val="EFEDF9"/>
          </a:solidFill>
          <a:ln w="9525">
            <a:solidFill>
              <a:srgbClr val="D9D5E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119872" y="1572768"/>
            <a:ext cx="3419856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diffusers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8119872" y="2417674"/>
            <a:ext cx="3419856" cy="625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AutoencoderKL + UNet2DConditionModel 即本文两阶段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3931920"/>
            <a:ext cx="2514600" cy="105156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5875">
            <a:solidFill>
              <a:srgbClr val="D9D5E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2064" y="3931920"/>
            <a:ext cx="24048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2021.12 arXiv v1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3017520" y="4453128"/>
            <a:ext cx="274320" cy="0"/>
          </a:xfrm>
          <a:prstGeom prst="line">
            <a:avLst/>
          </a:prstGeom>
          <a:noFill/>
          <a:ln w="2794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3337560" y="3931920"/>
            <a:ext cx="2514600" cy="105156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5875">
            <a:solidFill>
              <a:srgbClr val="D9D5E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92424" y="3931920"/>
            <a:ext cx="24048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2022.06 CVPR 发表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897880" y="4453128"/>
            <a:ext cx="274320" cy="0"/>
          </a:xfrm>
          <a:prstGeom prst="line">
            <a:avLst/>
          </a:prstGeom>
          <a:noFill/>
          <a:ln w="2794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6217920" y="3931920"/>
            <a:ext cx="2514600" cy="1051560"/>
          </a:xfrm>
          <a:prstGeom prst="roundRect">
            <a:avLst>
              <a:gd name="adj" fmla="val 4348"/>
            </a:avLst>
          </a:prstGeom>
          <a:solidFill>
            <a:srgbClr val="EFEDF9"/>
          </a:solidFill>
          <a:ln w="15875">
            <a:solidFill>
              <a:srgbClr val="D9D5E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272784" y="3931920"/>
            <a:ext cx="24048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2022.08 Stable Diffusion 开源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8778240" y="4453128"/>
            <a:ext cx="274320" cy="0"/>
          </a:xfrm>
          <a:prstGeom prst="line">
            <a:avLst/>
          </a:prstGeom>
          <a:noFill/>
          <a:ln w="2794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9098280" y="3931920"/>
            <a:ext cx="2514600" cy="105156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5875">
            <a:solidFill>
              <a:srgbClr val="D9D5E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53144" y="3931920"/>
            <a:ext cx="24048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2023+ 生态：SDXL / ControlNet / 医学 LDM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457200" y="53492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方法论遗产：两阶段解耦 + cross-attention 条件接口，成为后续所有文生图模型的标配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28</a:t>
            </a:r>
            <a:endParaRPr lang="en-US" sz="10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71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234440"/>
            <a:ext cx="46634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0" b="1" dirty="0">
                <a:solidFill>
                  <a:srgbClr val="241F4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150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46634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0" b="1" dirty="0">
                <a:solidFill>
                  <a:srgbClr val="312A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15000" dirty="0"/>
          </a:p>
        </p:txBody>
      </p:sp>
      <p:sp>
        <p:nvSpPr>
          <p:cNvPr id="4" name="Text 2"/>
          <p:cNvSpPr/>
          <p:nvPr/>
        </p:nvSpPr>
        <p:spPr>
          <a:xfrm>
            <a:off x="5760720" y="2377440"/>
            <a:ext cx="5943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0EEF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对我们课题的启发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779008" y="3310128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49E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条件 LDM 原型的三个设计决策：架构复刻 / 条件注入选型 / CT 特殊性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A49E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29</a:t>
            </a:r>
            <a:endParaRPr lang="en-US" sz="10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启发 ①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主模型直接对标：实验路线照 LDM 复刻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1554480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5875">
            <a:solidFill>
              <a:srgbClr val="D9D5E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12064" y="1645920"/>
            <a:ext cx="14447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CT 切片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512×512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057400" y="2125980"/>
            <a:ext cx="365760" cy="0"/>
          </a:xfrm>
          <a:prstGeom prst="line">
            <a:avLst/>
          </a:prstGeom>
          <a:noFill/>
          <a:ln w="2794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468880" y="1645920"/>
            <a:ext cx="1371600" cy="960120"/>
          </a:xfrm>
          <a:prstGeom prst="roundRect">
            <a:avLst>
              <a:gd name="adj" fmla="val 4762"/>
            </a:avLst>
          </a:prstGeom>
          <a:solidFill>
            <a:srgbClr val="EFEDF9"/>
          </a:solidFill>
          <a:ln w="15875">
            <a:solidFill>
              <a:srgbClr val="4C3FB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523744" y="1645920"/>
            <a:ext cx="12618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VAE 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886200" y="2125980"/>
            <a:ext cx="365760" cy="0"/>
          </a:xfrm>
          <a:prstGeom prst="line">
            <a:avLst/>
          </a:prstGeom>
          <a:noFill/>
          <a:ln w="2794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297680" y="1645920"/>
            <a:ext cx="1645920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5875">
            <a:solidFill>
              <a:srgbClr val="D9D5E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52544" y="1645920"/>
            <a:ext cx="153619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潜变量 z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(f 待消融)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989320" y="2125980"/>
            <a:ext cx="365760" cy="0"/>
          </a:xfrm>
          <a:prstGeom prst="line">
            <a:avLst/>
          </a:prstGeom>
          <a:noFill/>
          <a:ln w="2794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400800" y="1645920"/>
            <a:ext cx="3200400" cy="960120"/>
          </a:xfrm>
          <a:prstGeom prst="roundRect">
            <a:avLst>
              <a:gd name="adj" fmla="val 4762"/>
            </a:avLst>
          </a:prstGeom>
          <a:solidFill>
            <a:srgbClr val="EFEDF9"/>
          </a:solidFill>
          <a:ln w="15875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55664" y="1645920"/>
            <a:ext cx="30906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条件 UNet ε_θ(z_t, t, τ_θ(条件))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9646920" y="2125980"/>
            <a:ext cx="365760" cy="0"/>
          </a:xfrm>
          <a:prstGeom prst="line">
            <a:avLst/>
          </a:prstGeom>
          <a:noFill/>
          <a:ln w="2794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10058400" y="1645920"/>
            <a:ext cx="1645920" cy="960120"/>
          </a:xfrm>
          <a:prstGeom prst="roundRect">
            <a:avLst>
              <a:gd name="adj" fmla="val 4762"/>
            </a:avLst>
          </a:prstGeom>
          <a:solidFill>
            <a:srgbClr val="EFEDF9"/>
          </a:solidFill>
          <a:ln w="15875">
            <a:solidFill>
              <a:srgbClr val="4C3FB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113264" y="1645920"/>
            <a:ext cx="153619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VAE D →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目标条件图像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57200" y="3063240"/>
            <a:ext cx="112471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5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顺序 1：单独训练并冻结 VAE —— 验收标准加 CT 特有指标（HU MAE / 结构 SSIM）</a:t>
            </a:r>
            <a:endParaRPr lang="en-US" sz="150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5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顺序 2：潜空间条件 UNet —— 六轴条件经 τ_θ 注入</a:t>
            </a:r>
            <a:endParaRPr lang="en-US" sz="150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5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顺序 3：复刻论文图 5 的压缩率消融（f=2/4/8），CT 上重找甜点区</a:t>
            </a:r>
            <a:endParaRPr lang="en-US" sz="150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5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已有基础：小复刻已验证“条件差向量驱动转换”（test PSNR 22.30 vs 16.33，+6dB）——那是像素级；LDM 是下一步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30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启发 ②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六轴条件的注入选型：三条路线对照</a:t>
            </a:r>
            <a:endParaRPr lang="en-US" sz="28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08760"/>
          <a:ext cx="11247120" cy="2743200"/>
        </p:xfrm>
        <a:graphic>
          <a:graphicData uri="http://schemas.openxmlformats.org/drawingml/2006/table">
            <a:tbl>
              <a:tblPr/>
              <a:tblGrid>
                <a:gridCol w="2743200"/>
                <a:gridCol w="3017520"/>
                <a:gridCol w="2926080"/>
                <a:gridCol w="2560320"/>
              </a:tblGrid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注入方式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3FB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适配条件类型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3FB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优点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3FB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注意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3FB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拼接 concat（本文）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空间对齐：源图像潜变量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保留平移等变、可外推分辨率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只吃张量型条件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Cross-attention（本文）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任意 token：六轴参数、文本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通用可插拔、多条件容器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标量条件略绕（先成 token）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FiLM 调制（论文5 PDF）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标量参数：几何/剂量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逐通道仿射、极轻量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表达力弱于注意力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0" y="4617720"/>
            <a:ext cx="12188952" cy="566928"/>
          </a:xfrm>
          <a:prstGeom prst="rect">
            <a:avLst/>
          </a:prstGeom>
          <a:solidFill>
            <a:srgbClr val="EFEDF9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461772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初步方案：源图像 → 拼接；六轴向量 → cross-attention（每轴一个 token）；FiLM 作对照实验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457200" y="544068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与上次汇报的论文5（PDF/FiLM）正好构成两条注入路线的对照——组会可请老师给意见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31</a:t>
            </a:r>
            <a:endParaRPr lang="en-US" sz="10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启发 ③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CT 的特殊性与未见条件组合泛化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532120" cy="4389120"/>
          </a:xfrm>
          <a:prstGeom prst="roundRect">
            <a:avLst>
              <a:gd name="adj" fmla="val 1458"/>
            </a:avLst>
          </a:prstGeom>
          <a:solidFill>
            <a:srgbClr val="FFFFFF"/>
          </a:solidFill>
          <a:ln w="12700">
            <a:solidFill>
              <a:srgbClr val="D9D5EF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691640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 的选择：CT 比自然图像更保守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2240280"/>
            <a:ext cx="49834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CT 是定量成像：HU 误差直接传导诊断信息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细微结构（骨小梁、小病灶）对重建敏感 → f=4 甚至 2 起步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潜空间统计与自然图像不同：KL 权重需在 CT 上重调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验收指标：HU MAE / RMSE + 器官分割一致性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172200" y="1463040"/>
            <a:ext cx="5532120" cy="4389120"/>
          </a:xfrm>
          <a:prstGeom prst="roundRect">
            <a:avLst>
              <a:gd name="adj" fmla="val 1458"/>
            </a:avLst>
          </a:prstGeom>
          <a:solidFill>
            <a:srgbClr val="FFFFFF"/>
          </a:solidFill>
          <a:ln w="12700">
            <a:solidFill>
              <a:srgbClr val="D9D5EF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46520" y="1691640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未见条件组合泛化 ↔ CFG 思想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46520" y="2240280"/>
            <a:ext cx="49834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CFG 本质：沿"条件方向"差值外推（ε_c − ε_∅）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与我们小复刻的"条件差向量"假设同构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训练时对六轴条件做 5–10% 随机 dropout，保留无条件分支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推理时可调 w：条件遵从度 vs 多样性的旋钮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32</a:t>
            </a:r>
            <a:endParaRPr lang="en-US" sz="10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总结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五句话带走 LDM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1600200" cy="749808"/>
          </a:xfrm>
          <a:prstGeom prst="roundRect">
            <a:avLst>
              <a:gd name="adj" fmla="val 6098"/>
            </a:avLst>
          </a:prstGeom>
          <a:solidFill>
            <a:srgbClr val="4C3FB1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463040"/>
            <a:ext cx="1600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解耦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331720" y="1463040"/>
            <a:ext cx="9372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图像生成 = 感知压缩（自编码器）+ 语义生成（潜空间扩散），算力降 1–2 个数量级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457200" y="2395728"/>
            <a:ext cx="1600200" cy="749808"/>
          </a:xfrm>
          <a:prstGeom prst="roundRect">
            <a:avLst>
              <a:gd name="adj" fmla="val 6098"/>
            </a:avLst>
          </a:prstGeom>
          <a:solidFill>
            <a:srgbClr val="4C3FB1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395728"/>
            <a:ext cx="1600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甜点区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2331720" y="2395728"/>
            <a:ext cx="9372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 ∈ [4,16]：压缩不足太贵、过压缩伤上界（ImageNet 消融 FID gap 38）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457200" y="3328416"/>
            <a:ext cx="1600200" cy="749808"/>
          </a:xfrm>
          <a:prstGeom prst="roundRect">
            <a:avLst>
              <a:gd name="adj" fmla="val 6098"/>
            </a:avLst>
          </a:prstGeom>
          <a:solidFill>
            <a:srgbClr val="F59E0B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3328416"/>
            <a:ext cx="1600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条件接口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331720" y="3328416"/>
            <a:ext cx="9372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拼接管空间对齐条件；cross-attention 管任意模态——τ_θ 可插拔是多条件系统的关键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457200" y="4261104"/>
            <a:ext cx="1600200" cy="749808"/>
          </a:xfrm>
          <a:prstGeom prst="roundRect">
            <a:avLst>
              <a:gd name="adj" fmla="val 6098"/>
            </a:avLst>
          </a:prstGeom>
          <a:solidFill>
            <a:srgbClr val="4C3FB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261104"/>
            <a:ext cx="1600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CFG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331720" y="4261104"/>
            <a:ext cx="9372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随机丢条件 + 采样差值外推：类条件 10.56→3.60、文本 23.35→12.61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457200" y="5193792"/>
            <a:ext cx="1600200" cy="749808"/>
          </a:xfrm>
          <a:prstGeom prst="roundRect">
            <a:avLst>
              <a:gd name="adj" fmla="val 6098"/>
            </a:avLst>
          </a:prstGeom>
          <a:solidFill>
            <a:srgbClr val="4C3FB1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" y="5193792"/>
            <a:ext cx="1600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统一框架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2331720" y="5193792"/>
            <a:ext cx="9372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一个 LDM 覆盖无条件/类/文本/布局/超分/修复，后两者当时 SOTA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33</a:t>
            </a:r>
            <a:endParaRPr lang="en-US" sz="10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71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5544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0EEF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谢谢聆听 · 欢迎讨论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822960" y="274320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两个想请大家给意见的问题：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F0EEF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① 六轴标量条件用 cross-attention 还是 FiLM 调制更合适？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F0EEF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② CT 的第一阶段 VAE，重建验收除 PSNR/SSIM 外如何定 HU 定量标准？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4846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49E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论文：arXiv 2112.10752 · DOI 10.1109/CVPR52688.2022.01042 · 代码 github.com/CompVis/latent-diffusion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22960" y="52578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49E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笔记：[[论文6：高分辨率图像合成与潜空间扩散模型（LDM）]] · 汇报人：潘耀辉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LDM 论文组会汇报</dc:title>
  <dc:subject>PptxGenJS Presentation</dc:subject>
  <dc:creator>潘耀辉</dc:creator>
  <cp:lastModifiedBy>潘耀辉</cp:lastModifiedBy>
  <cp:revision>1</cp:revision>
  <dcterms:created xsi:type="dcterms:W3CDTF">2026-09-20T04:13:42Z</dcterms:created>
  <dcterms:modified xsi:type="dcterms:W3CDTF">2026-09-20T04:13:42Z</dcterms:modified>
</cp:coreProperties>
</file>