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FID ↓</c:v>
                </c:pt>
              </c:strCache>
            </c:strRef>
          </c:tx>
          <c:spPr>
            <a:solidFill>
              <a:srgbClr val="8B84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B84C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84C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84C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B84C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BigGAN-deep</c:v>
                  </c:pt>
                  <c:pt idx="1">
                    <c:v>ADM</c:v>
                  </c:pt>
                  <c:pt idx="2">
                    <c:v>ADM-G</c:v>
                  </c:pt>
                  <c:pt idx="3">
                    <c:v>LDM-4</c:v>
                  </c:pt>
                  <c:pt idx="4">
                    <c:v>LDM-4-G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6.95</c:v>
                </c:pt>
                <c:pt idx="1">
                  <c:v>10.94</c:v>
                </c:pt>
                <c:pt idx="2">
                  <c:v>4.59</c:v>
                </c:pt>
                <c:pt idx="3">
                  <c:v>10.56</c:v>
                </c:pt>
                <c:pt idx="4">
                  <c:v>3.6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6B7280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</c:scaling>
        <c:delete val="0"/>
        <c:axPos val="l"/>
        <c:majorGridlines>
          <c:spPr>
            <a:ln w="6350" cap="flat">
              <a:solidFill>
                <a:srgbClr val="E8E6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微软雅黑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FID ↓</c:v>
                </c:pt>
              </c:strCache>
            </c:strRef>
          </c:tx>
          <c:spPr>
            <a:solidFill>
              <a:srgbClr val="8B84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B84C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84C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84C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B84C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DALL·E</c:v>
                  </c:pt>
                  <c:pt idx="1">
                    <c:v>CogView</c:v>
                  </c:pt>
                  <c:pt idx="2">
                    <c:v>Lafite</c:v>
                  </c:pt>
                  <c:pt idx="3">
                    <c:v>LDM-KL-8</c:v>
                  </c:pt>
                  <c:pt idx="4">
                    <c:v>+CFG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27.5</c:v>
                </c:pt>
                <c:pt idx="1">
                  <c:v>27.1</c:v>
                </c:pt>
                <c:pt idx="2">
                  <c:v>26.94</c:v>
                </c:pt>
                <c:pt idx="3">
                  <c:v>23.35</c:v>
                </c:pt>
                <c:pt idx="4">
                  <c:v>12.61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6B7280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0"/>
        <c:axPos val="l"/>
        <c:majorGridlines>
          <c:spPr>
            <a:ln w="6350" cap="flat">
              <a:solidFill>
                <a:srgbClr val="E8E6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微软雅黑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开场：今天汇报的是 CVPR 2022 的 LDM 论文，也就是 Stable Diffusion 的底座。选它的原因很直接：我们课题的主模型就是条件潜空间扩散模型，这篇是它的原型论文；我们已读过 DDPM 和 Score-SDE，这篇正好补上“潜空间 + 条件注入”这块拼图。预计讲 40-50 分钟，欢迎随时打断。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结构：先讲清楚为什么需要潜空间（动机），再拆两阶段方法的每个部件，重点花时间在条件机制——这直接对应我们课题；实验部分挑关键数字；最后落到我们自己的原型怎么做。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第一部分是本次的重点之一：按 记号→前向→反向→训练目标→算法→网络 的顺序逐公式讲透，预计 15 分钟。每页公式都配了逐符号解释，照备注念即可。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开场定位：生成模型十年三条主线——VAE 学分布、GAN 学对抗、扩散学去噪。时间线上两个关键点：2020 DDPM 确立范式、2022 SD 工业化出圈。本论文正是两者之间承上启下的一篇。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一句话直觉：前向是“污染”（把图像逐步变成纯噪声，完全已知），反向是“净化”（学会一步步还原，需要学习）。生成 = 反向链走到底。这页建立直觉，公式从下页开始逐个过。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把记号一次摆齐，后面每页公式都不再引入新符号。重点强调 ᾱ_t：它是“信号剩余比例”，读任何扩散公式先找它。ε 是训练时的“标准答案”，网络的任务就是把它猜回来。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逐项念公式：均值项是缩小因子，方差项是新增噪声。最优雅的一笔是 √(1−β_t)：它保证每步信号方差+噪声方差恰好等于 1，链走一万步也不发散。右侧条形图给直观：随 t 增大信号占比 ᾱ 一路被吃掉。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②是前向最重要的性质：高斯仿射变换封闭，1000 步连乘可以一次算完——想要哪一步的加噪图直接拿公式。③只是把②移项，但意义重大：训练样本三件套随机抽、一行合成。提醒听众记住 ε 的位置：它就是待会网络的学习目标。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反向的设定：每步也用高斯描述，网络给出参数。关键转折是②：如果 x₀ 已知，反向分布居然是可解析的——那网络还有什么可学？答案在下一页：真实的反向分布依赖 x₀，而生成时我们没有 x₀，只能“估”——估的方式就是估噪声。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全场最关键的推导链（讲慢）：①把重参数化公式反过来解出 x₀——它由 x_t 和 ε 表达；②代入后验均值，x₀ 消掉，只剩 ε 未知；③我们没有 ε，就用网络估。于是“学反向分布”坍缩成“学猜噪声”。这三步讲清楚，扩散模型就没有黑箱了。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似然算不动 → 用变分下界。三项里真正要学的只有去噪步的 KL；两个高斯方差都固定，KL 有闭式，等于均值差的平方；把上一页的 μ_θ 代进去，系数吸收后恰好是 ||ε − ε_θ||²。最后回答常见提问：为什么猜 ε 不猜 x₀——ε 的统计性质对所有 t 一样，训练信号均匀。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把整套流程落成伪代码：训练五行——抽干净图、抽步数、抽噪声、合成 x_t、回归 ε；采样五行——从纯噪声开始按 μ_θ 走步。底栏点出 DDIM：确定化后可跳步，采样从 1000 步降到 20–50 步，这是 LDM 实用的前提。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对着图讲：左边下采样提语义，右边上采样还分辨率，橙色虚线是跳跃连接——把编码端未压缩的细节直接接到解码端同级，这是 U 字形精髓。t 的正弦嵌入让同一网络处理 1000 种噪声水平，而不是训 1000 个网络。LDM 的 ε_θ 就是这个 U-Net 加条件注入。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这一页给“贵”的定量感受：ADM 级别的模型训练要 150-1000 个 V100 天；A100 上采 5 万张图要 5 天。强调根因——维度 × 迭代次数的双重放大。这为“压缩维度”的动机做铺垫。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三条路线各一张卡：GAN 的问题是分布覆盖与可控性；VQGAN+AR 是“为架构牺牲信号”；级联扩散是“用工程复杂度换分辨率”。LDM 的回答是第四条路——不换架构、不串联，直接换“工作空间”。停顿一下让大家看清三条路线的共性：都在像素空间硬扛。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基础部分收束页：一张表把 GAN/VAE/扩散放在各自位置。讲两点：①扩散优势正好补 GAN 短板（多样性、稳定），劣势（慢）正被采样器改进吃掉；②埋伏笔——VAE 以第一阶段身份回归，这正是 LDM 的设计。到此基础讲完，进入论文本体。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全文最重要的一页概念：图像生成 = 感知压缩 + 语义生成。用图 2 解释：左图显示图像的比特预算大部分花在人眼几乎察觉不到的地方；把这些交给 autoencoder，扩散模型只管“画什么”而不是“每个像素长什么样”。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 1 是论文的第一张图，也是立场声明：同样是潜空间路线，压缩多狠决定了上限。f=4 时碗碟纹理、睫毛都保得住；f=16 已经糊了。注意 R-FID 那一列：DALL-E 的 f=8 压缩 R-FID 高达 32——重建分布已经偏了。这就是“diffusion 不需要迁就架构，可以轻压缩”的证据。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进入方法部分，先看整体框架。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走一遍数据流：x 经冻结的 E 进潜空间；扩散只在 z 上加噪去噪；生成 ẑ 后经冻结的 D 回像素。三个数字卡片给体感：f=4~8 是甜点；512² 图压到 128×128×4 是 48 倍维度缩减；算力省一到两个数量级。强调：两个阶段解耦、各自独立训练，这是和端到端路线最大的不同。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逐行讲职责分工：L1 管结构、VGG 管感知相似、PatchGAN 管锐度、正则管潜空间形状。重点讲右侧洞察框：纯回归的最优解是“所有可能结果的均值”，均值一定模糊——这解释了为什么 VAE 生成糊、也解释了这套损失为什么这样设计。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两种正则二选一：KL 连续（可控生成主流、SD 的选择），VQ 离散（论文默认，采样质量更好）。共同点：权重都很小。重点讲底部那句话的直觉——正则太强会把潜空间压成一条细流形，扩散模型反而难学；只要“不过分发逸”即可。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对照表逐行念：换的只有“工作对象”——x 换成 z=E(x)，其余每一项原封不动。这是 LDM 聪明的地方：不动理论，只换空间。强调 48× 的维度缩减直接乘在每一步的算力上。冻结 E/D 的原因：感知压缩与语义生成两个尺度解耦，各自用最合适的技术。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最重要的消融：同一算力预算下，像素级 LDM-1 被潜空间版大幅拉开（FID 差 38）；但压缩过头（LDM-32）也不行——第一阶段信息丢了，扩散再好也补不回来。结论是 f∈[4,16] 甜点。这张图对我们直接有指导意义：我们要在自己的 CT 数据上复刻同样的消融。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效率的另一面：推理。每个点是一组 DDIM 步数。LDM-4/8 的曲线整体压在左下角——又快又好。解释原因：单步算力正比于潜空间维度，f 太小每步太贵，f 太大质量上限低；甜点区同样是 4-8。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进入对我们课题最重要的部分。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对着图 3 讲两条路：上面板拼接——条件和 z_t 一样是空间张量，直接拼；下面板 cross-attention——条件变成 token，UNet 每层用注意力去“查”。接下来两页分别展开。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拼接是最朴素也最有效的注入：条件就是一个张量，跟 z_t 形状对齐后拼通道。讲清“输入通道加宽”是唯一网络改动。最大卖点是平移等变性保留——为分辨率外推埋伏笔。对我们的映射：源图像（CT/MRI）走拼接就是天然选择。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学术直述版讲法：先走图——UNet 第 i 层特征展平为 N 个位置 token，经 W_Q 投影为查询 Q；条件 y 经 τ_θ 编码为 M 个 token，经 W_K、W_V 投影为键与值。右侧四步：① QKᵀ/√d 逐对相似度打分（√d 防止 softmax 饱和）；② 按行 softmax 得注意力权重，每行和为 1；③ 权重聚合 V，每个位置得到专属的条件信息；④ 残差叠加回主干，不替换原特征。补一句公式原貌：Attention(Q,K,V)=softmax(QKᵀ/√d)·V。下方四条性质各点一句即可。注意 N 随层级变化（深层少、浅层多），M 可变长。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把抽象公式落成一次具体执行：文本 → CLIP 编码成 token → UNet 每层的每个空间位置对 token 做注意力、按相关度取信息、残差并回。强调可插拔：换条件只换 τ_θ。底部直接预告我们的六轴条件怎么进来——每轴一个 token。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把式3和无条件版本对比：多了一项 τ_θ(y) 进 ε_θ，期望多了 y 的采样。强调联合训练（不是先训条件编码器再冻结——虽然实践中文本用 CLIP 初始化）。底部一行把话头引向我们自己的六轴条件——为启发部分埋线。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CFG 是“免费午餐”：训练时随机丢条件，推理时把两个预测的差放大 w 倍。讲直觉：ε_c − ε_∅ 是“这个条件比没条件多要求了什么”，沿这个方向多走一点。两个数字卡片给效果感受：FID 几乎砍半。注意 w 的代价是多样性——对医学影像要谨慎选择。CFG 与我们“未见条件组合泛化”的关系在启发部分展开。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进入实验部分。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样例图给视觉感受；表格给数字。信息点：GAN 在 FID 上仍略强（毕竟单步对抗优化锐度），但扩散的多样性(recall)好。这不是论文主战场，快速过。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讲柱状图：橙色列是 LDM-4-G。三个层次：①无引导时 LDM-4≈ADM，说明架构本身没亏；②加 CFG 后反超 ADM-G；③参数还少 1/3。注意 CFG scale 只有 1.5，很温和。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文本条件的规模化验证：当年对 DALL·E/CogView 是碾压式领先。要点：文本先验完全来自冻结的 CLIP，LDM 贡献的是“如何把任意编码器接进扩散”——即 cross-attention。这条路最终演化成 Stable Diffusion。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这个实验常被忽略但很优雅：卷积网络的平移等变性让“训练小图、推理大图”成为可能——滑窗处理 + 潜空间拼接。对我们有直接意义：不同扫描矩阵/FOV 的 CT 也许可以共享一个模型。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两个像素级落地任务。超分：讲清条件构造和与 SR3 的互补（纹理 vs 结构）。修复：重点讲潜层融合技巧——每步把已知区域的 noised 版本替换回去，等价于软约束的数据一致性；这个 trick 对我们 CT 转换任务保解剖结构很有参考价值。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诚实列局限，并顺手把两条映射到我们课题：①CT 是定量成像，VAE 重建的 HU 误差会直接传导到生成结果——所以我们的 VAE 验收标准必须加 HU MAE；②医学图像的潜空间分布不同，正则超参不能照抄。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给论文定位：它不只是提出一个模型，而是定下了“文生图技术栈”的分层——压缩层（VAE）、生成层（条件扩散）、条件层（文本编码器）。我们服务器上刚部署的 diffusers 就是这套分层的实现。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最后一部分，回到我们自己的课题。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把我们的架构和 LDM 并排对照：一模一样的骨架，差别只在条件（六轴参数+源图像）和数据（CT）。强调实验顺序照抄论文方法论：先 VAE 后扩散、必做压缩率消融。提一句小复刻的 +6dB 是同一假设在像素级的验证，现在升级到潜空间。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核心选型页。三条路线各自的适用面：源图像是空间张量，拼接最自然；六轴是低维标量，可以做成 token 走 cross-attention（论文路线），也可以走 FiLM（论文5 路线）。我的初步方案是双路混合 + FiLM 对照，这里抛给老师讨论。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左卡讲 CT 特殊性：定量、结构敏感 → 压缩要更保守，评估必须加 HU 指标。右卡是概念连接：CFG 的差值外推和我们的条件差向量是同一思想的两个实例；训练时丢条件是获得插值/外推能力的必要手段。这两点是我们接下来实验设计的直接输入。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一页总结五点。如果时间不够，这页就是压缩版汇报。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收尾：抛出两个真问题请大家讨论——这正是我们下周做条件 LDM 原型要拍板的决策。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601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 会 论 文 汇 报 · 2026-09-20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6384" y="1417320"/>
            <a:ext cx="6035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0EE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高分辨率图像合成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0EE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与潜空间扩散模型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456432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A49E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High-Resolution Image Synthesis with Latent Diffusion Models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5852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49E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Robin Rombach*, Andreas Blattmann*, Dominik Lorenz, Patrick Esser, Björn Ommer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49E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LMU Munich &amp; Heidelberg University · Runway ML · CVPR 2022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5074920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241F49"/>
          </a:solidFill>
          <a:ln w="12700">
            <a:solidFill>
              <a:srgbClr val="3A31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5074920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EE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arXiv 2112.10752 · Stable Diffusion 底座论文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E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汇报人：潘耀辉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086600" y="1234440"/>
            <a:ext cx="457200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D5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10" name="Image 0" descr="ppt_assets/fig3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2204951"/>
            <a:ext cx="4297680" cy="221949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086600" y="5486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论文图 3：LDM 条件注入机制（拼接 / cross-attention）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AGENDA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汇报大纲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777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2DE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325880" y="160934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扩散模型基础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325880" y="206654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生成模型全景 · 前向/反向逐公式 · ELBO 推导 · U-Net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126480" y="1554480"/>
            <a:ext cx="777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2DE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995160" y="1609344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方法：两阶段潜空间扩散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995160" y="206654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自编码器损失逐项 · 潜空间 DDPM 逐符号对照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3127248"/>
            <a:ext cx="777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2DE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325880" y="318211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条件机制与引导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325880" y="363931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拼接 / Cross-Attention（含实例）/ CFG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126480" y="3127248"/>
            <a:ext cx="777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2DE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995160" y="318211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实验结果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6995160" y="363931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压缩率消融与五类任务的定量结论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4700016"/>
            <a:ext cx="777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2DE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1325880" y="47548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对我们课题的启发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325880" y="52120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 LDM 原型的三个设计决策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26480" y="4700016"/>
            <a:ext cx="777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2DE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995160" y="47548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总结与讨论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6995160" y="52120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要点回顾 + 两个待讨论问题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3444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241F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312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5760720" y="237744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EE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扩散模型基础与动机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779008" y="331012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49E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逐公式推导：前向、反向、ELBO、U-Net —— 再看 LDM 为什么、怎么搬进潜空间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49E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 · 背景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生成模型全景：扩散模型的崛起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395728"/>
            <a:ext cx="10515600" cy="0"/>
          </a:xfrm>
          <a:prstGeom prst="line">
            <a:avLst/>
          </a:prstGeom>
          <a:noFill/>
          <a:ln w="25400">
            <a:solidFill>
              <a:srgbClr val="D9D5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71016" y="2295144"/>
            <a:ext cx="201168" cy="201168"/>
          </a:xfrm>
          <a:prstGeom prst="ellipse">
            <a:avLst/>
          </a:prstGeom>
          <a:solidFill>
            <a:srgbClr val="4C3FB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556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2013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73736" y="2615184"/>
            <a:ext cx="2395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VAE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变分自编码器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66744" y="2295144"/>
            <a:ext cx="201168" cy="201168"/>
          </a:xfrm>
          <a:prstGeom prst="ellipse">
            <a:avLst/>
          </a:prstGeom>
          <a:solidFill>
            <a:srgbClr val="4C3FB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52928" y="17556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2014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569464" y="2615184"/>
            <a:ext cx="2395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对抗生成网络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62472" y="2295144"/>
            <a:ext cx="201168" cy="20116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48656" y="17556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2020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965192" y="2615184"/>
            <a:ext cx="2395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DDPM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去噪扩散概率模型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458200" y="2295144"/>
            <a:ext cx="201168" cy="201168"/>
          </a:xfrm>
          <a:prstGeom prst="ellipse">
            <a:avLst/>
          </a:prstGeom>
          <a:solidFill>
            <a:srgbClr val="4C3FB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44384" y="17556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2021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360920" y="2615184"/>
            <a:ext cx="2395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ADM / GLIDE / CDM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高保真 · 引导 · 级联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0853928" y="2295144"/>
            <a:ext cx="201168" cy="201168"/>
          </a:xfrm>
          <a:prstGeom prst="ellipse">
            <a:avLst/>
          </a:prstGeom>
          <a:solidFill>
            <a:srgbClr val="4C3FB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40112" y="17556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2022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756648" y="2615184"/>
            <a:ext cx="2395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DALL·E 2 / Imagen / SD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文生图爆发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3794760"/>
            <a:ext cx="11247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5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GAN（对抗）与 VAE（变分）之后，2020 年 DDPM 把「逐步去噪」变成图像生成的第三条主线</a:t>
            </a:r>
            <a:endParaRPr lang="en-US" sz="150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5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扩散训练稳定、多样性好、引导机制灵活 → 迅速成为 AIGC 的主流骨干</a:t>
            </a:r>
            <a:endParaRPr lang="en-US" sz="150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5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2022 年 Stable Diffusion 出圈——其底座架构正是本次汇报的 LDM 论文（CVPR 2022）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 · 核心思想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扩散模型 = 前向加噪 + 反向去噪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481328"/>
            <a:ext cx="14173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5875">
            <a:solidFill>
              <a:srgbClr val="D9D5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" y="1481328"/>
            <a:ext cx="1307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x₀（图像）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2834640"/>
            <a:ext cx="1417320" cy="658368"/>
          </a:xfrm>
          <a:prstGeom prst="roundRect">
            <a:avLst>
              <a:gd name="adj" fmla="val 6944"/>
            </a:avLst>
          </a:prstGeom>
          <a:solidFill>
            <a:srgbClr val="EFEDF9"/>
          </a:solidFill>
          <a:ln w="15875">
            <a:solidFill>
              <a:srgbClr val="D9D5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" y="2834640"/>
            <a:ext cx="1307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x₀（生成）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221992" y="1810512"/>
            <a:ext cx="493776" cy="0"/>
          </a:xfrm>
          <a:prstGeom prst="line">
            <a:avLst/>
          </a:prstGeom>
          <a:noFill/>
          <a:ln w="27940">
            <a:solidFill>
              <a:srgbClr val="9D97C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H="1">
            <a:off x="2276856" y="3163824"/>
            <a:ext cx="493776" cy="0"/>
          </a:xfrm>
          <a:prstGeom prst="line">
            <a:avLst/>
          </a:prstGeom>
          <a:noFill/>
          <a:ln w="27940">
            <a:solidFill>
              <a:srgbClr val="4C3FB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43200" y="1481328"/>
            <a:ext cx="14173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5875">
            <a:solidFill>
              <a:srgbClr val="D9D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98064" y="1481328"/>
            <a:ext cx="1307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x₁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43200" y="2834640"/>
            <a:ext cx="14173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5875">
            <a:solidFill>
              <a:srgbClr val="D9D5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98064" y="2834640"/>
            <a:ext cx="1307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x₁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87952" y="1810512"/>
            <a:ext cx="493776" cy="0"/>
          </a:xfrm>
          <a:prstGeom prst="line">
            <a:avLst/>
          </a:prstGeom>
          <a:noFill/>
          <a:ln w="27940">
            <a:solidFill>
              <a:srgbClr val="9D97C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4242816" y="3163824"/>
            <a:ext cx="493776" cy="0"/>
          </a:xfrm>
          <a:prstGeom prst="line">
            <a:avLst/>
          </a:prstGeom>
          <a:noFill/>
          <a:ln w="27940">
            <a:solidFill>
              <a:srgbClr val="4C3FB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709160" y="1481328"/>
            <a:ext cx="14173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5875">
            <a:solidFill>
              <a:srgbClr val="D9D5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64024" y="1481328"/>
            <a:ext cx="1307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09160" y="2834640"/>
            <a:ext cx="14173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5875">
            <a:solidFill>
              <a:srgbClr val="D9D5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64024" y="2834640"/>
            <a:ext cx="1307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53912" y="1810512"/>
            <a:ext cx="493776" cy="0"/>
          </a:xfrm>
          <a:prstGeom prst="line">
            <a:avLst/>
          </a:prstGeom>
          <a:noFill/>
          <a:ln w="27940">
            <a:solidFill>
              <a:srgbClr val="9D97C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H="1">
            <a:off x="6208776" y="3163824"/>
            <a:ext cx="493776" cy="0"/>
          </a:xfrm>
          <a:prstGeom prst="line">
            <a:avLst/>
          </a:prstGeom>
          <a:noFill/>
          <a:ln w="27940">
            <a:solidFill>
              <a:srgbClr val="4C3FB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675120" y="1481328"/>
            <a:ext cx="10972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5875">
            <a:solidFill>
              <a:srgbClr val="D9D5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9984" y="1481328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⋯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675120" y="2834640"/>
            <a:ext cx="10972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5875">
            <a:solidFill>
              <a:srgbClr val="D9D5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9984" y="2834640"/>
            <a:ext cx="987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⋯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799832" y="1810512"/>
            <a:ext cx="813816" cy="0"/>
          </a:xfrm>
          <a:prstGeom prst="line">
            <a:avLst/>
          </a:prstGeom>
          <a:noFill/>
          <a:ln w="27940">
            <a:solidFill>
              <a:srgbClr val="9D97C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H="1">
            <a:off x="7854696" y="3163824"/>
            <a:ext cx="813816" cy="0"/>
          </a:xfrm>
          <a:prstGeom prst="line">
            <a:avLst/>
          </a:prstGeom>
          <a:noFill/>
          <a:ln w="27940">
            <a:solidFill>
              <a:srgbClr val="4C3FB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641080" y="1481328"/>
            <a:ext cx="14173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5875">
            <a:solidFill>
              <a:srgbClr val="D9D5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95944" y="1481328"/>
            <a:ext cx="1307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xₜ₋₁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641080" y="2834640"/>
            <a:ext cx="14173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5875">
            <a:solidFill>
              <a:srgbClr val="D9D5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95944" y="2834640"/>
            <a:ext cx="1307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xₜ₋₁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10085832" y="1810512"/>
            <a:ext cx="265176" cy="0"/>
          </a:xfrm>
          <a:prstGeom prst="line">
            <a:avLst/>
          </a:prstGeom>
          <a:noFill/>
          <a:ln w="27940">
            <a:solidFill>
              <a:srgbClr val="9D97C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H="1">
            <a:off x="10140696" y="3163824"/>
            <a:ext cx="265176" cy="0"/>
          </a:xfrm>
          <a:prstGeom prst="line">
            <a:avLst/>
          </a:prstGeom>
          <a:noFill/>
          <a:ln w="27940">
            <a:solidFill>
              <a:srgbClr val="4C3FB1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378440" y="1481328"/>
            <a:ext cx="1417320" cy="658368"/>
          </a:xfrm>
          <a:prstGeom prst="roundRect">
            <a:avLst>
              <a:gd name="adj" fmla="val 6944"/>
            </a:avLst>
          </a:prstGeom>
          <a:solidFill>
            <a:srgbClr val="EFEDF9"/>
          </a:solidFill>
          <a:ln w="15875">
            <a:solidFill>
              <a:srgbClr val="D9D5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433304" y="1481328"/>
            <a:ext cx="1307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xₜ（纯噪声）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10378440" y="2834640"/>
            <a:ext cx="14173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5875">
            <a:solidFill>
              <a:srgbClr val="D9D5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433304" y="2834640"/>
            <a:ext cx="13075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xₜ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457200" y="223113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前向过程 q：加噪 —— 固定、无参数、逐步趋近标准高斯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00" y="360273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反向过程 p_θ：去噪 —— 神经网络学习；采样（生成）= 反复执行去噪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57200" y="4160520"/>
            <a:ext cx="11247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5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两个过程都是马尔可夫链：当前步只依赖上一步</a:t>
            </a:r>
            <a:endParaRPr lang="en-US" sz="150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5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训练：给定 x₀，学习每一步该去掉多少噪声</a:t>
            </a:r>
            <a:endParaRPr lang="en-US" sz="150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5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采样：从纯噪声 x_T 出发，一步步去噪得到图像 x₀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457200" y="65105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Source: Ho et al. 2020 (DDPM)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 · 记号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先把六个符号摆齐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36576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5760720"/>
              </a:tblGrid>
              <a:tr h="5225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符号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FB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含义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FB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一句话理解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FB1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x₀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干净图像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我们真正想生成的东西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x_t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加了 t 步噪声的图像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 越大越糊；t = T 时是纯噪声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β_t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 t 步的噪声量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预先查表：如从 0.0001 线性涨到 0.02，T ≈ 1000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ᾱ_t = ∏(1−β_s)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累积信号系数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“还剩多少信号”：从 1 单调降到 ≈ 0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ε ~ N(0, I)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标准高斯噪声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每像素独立采样；是训练时已知的“答案”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ε_θ(x_t, t)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去噪网络（U-Net）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整个扩散模型唯一要学的东西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5394960"/>
            <a:ext cx="12188952" cy="566928"/>
          </a:xfrm>
          <a:prstGeom prst="rect">
            <a:avLst/>
          </a:prstGeom>
          <a:solidFill>
            <a:srgbClr val="EFEDF9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539496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后面所有公式都只是这六个符号的组合——认住它们，推导就不可怕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 · 前向 ①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单步加噪：缩一点，再添噪声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67208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9D5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13232" y="239572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每一步从 x_{t-1} 得到 x_t：乘 √(1−β_t) 略缩，再叠加方差 β_t 的高斯噪声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77240" y="312724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 小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1691640" y="3154680"/>
            <a:ext cx="4256532" cy="310896"/>
          </a:xfrm>
          <a:prstGeom prst="rect">
            <a:avLst/>
          </a:prstGeom>
          <a:solidFill>
            <a:srgbClr val="4C3FB1"/>
          </a:solidFill>
          <a:ln/>
        </p:spPr>
      </p:sp>
      <p:sp>
        <p:nvSpPr>
          <p:cNvPr id="9" name="Shape 6"/>
          <p:cNvSpPr/>
          <p:nvPr/>
        </p:nvSpPr>
        <p:spPr>
          <a:xfrm>
            <a:off x="5948172" y="3154680"/>
            <a:ext cx="224028" cy="310896"/>
          </a:xfrm>
          <a:prstGeom prst="rect">
            <a:avLst/>
          </a:prstGeom>
          <a:solidFill>
            <a:srgbClr val="D6D2EC"/>
          </a:solidFill>
          <a:ln/>
        </p:spPr>
      </p:sp>
      <p:sp>
        <p:nvSpPr>
          <p:cNvPr id="10" name="Text 7"/>
          <p:cNvSpPr/>
          <p:nvPr/>
        </p:nvSpPr>
        <p:spPr>
          <a:xfrm>
            <a:off x="6281928" y="31638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信号 ᾱ ≈ 0.95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369417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 中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691640" y="3721608"/>
            <a:ext cx="2240280" cy="310896"/>
          </a:xfrm>
          <a:prstGeom prst="rect">
            <a:avLst/>
          </a:prstGeom>
          <a:solidFill>
            <a:srgbClr val="4C3FB1"/>
          </a:solidFill>
          <a:ln/>
        </p:spPr>
      </p:sp>
      <p:sp>
        <p:nvSpPr>
          <p:cNvPr id="13" name="Shape 10"/>
          <p:cNvSpPr/>
          <p:nvPr/>
        </p:nvSpPr>
        <p:spPr>
          <a:xfrm>
            <a:off x="3931920" y="3721608"/>
            <a:ext cx="2240280" cy="310896"/>
          </a:xfrm>
          <a:prstGeom prst="rect">
            <a:avLst/>
          </a:prstGeom>
          <a:solidFill>
            <a:srgbClr val="D6D2EC"/>
          </a:solidFill>
          <a:ln/>
        </p:spPr>
      </p:sp>
      <p:sp>
        <p:nvSpPr>
          <p:cNvPr id="14" name="Text 11"/>
          <p:cNvSpPr/>
          <p:nvPr/>
        </p:nvSpPr>
        <p:spPr>
          <a:xfrm>
            <a:off x="6281928" y="37307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信号 ᾱ ≈ 0.50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77240" y="426110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 大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1691640" y="4288536"/>
            <a:ext cx="224028" cy="310896"/>
          </a:xfrm>
          <a:prstGeom prst="rect">
            <a:avLst/>
          </a:prstGeom>
          <a:solidFill>
            <a:srgbClr val="4C3FB1"/>
          </a:solidFill>
          <a:ln/>
        </p:spPr>
      </p:sp>
      <p:sp>
        <p:nvSpPr>
          <p:cNvPr id="17" name="Shape 14"/>
          <p:cNvSpPr/>
          <p:nvPr/>
        </p:nvSpPr>
        <p:spPr>
          <a:xfrm>
            <a:off x="1915668" y="4288536"/>
            <a:ext cx="4256532" cy="310896"/>
          </a:xfrm>
          <a:prstGeom prst="rect">
            <a:avLst/>
          </a:prstGeom>
          <a:solidFill>
            <a:srgbClr val="D6D2EC"/>
          </a:solidFill>
          <a:ln/>
        </p:spPr>
      </p:sp>
      <p:sp>
        <p:nvSpPr>
          <p:cNvPr id="18" name="Text 15"/>
          <p:cNvSpPr/>
          <p:nvPr/>
        </p:nvSpPr>
        <p:spPr>
          <a:xfrm>
            <a:off x="6281928" y="42976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信号 ᾱ ≈ 0.05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7240" y="48920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信号占比 ᾱ_t 与噪声占比 1−ᾱ_t 的此消彼长（示意）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7498080" y="1554480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读法两件事：旧图像乘 √(1−β_t)（略缩），叠加 β_t 方差的噪声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为什么乘 √(1−β_t)：总能量守恒 (1−β_t) + β_t = 1，方差不会逐步爆炸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β_t 是查表值，无任何学习参数；T ≈ 1000 步后 x_T ≈ N(0, I)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57200" y="65105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Source: Ho et al. 2020 (DDPM), Eq. (2)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1050" dirty="0"/>
          </a:p>
        </p:txBody>
      </p:sp>
      <p:sp>
        <p:nvSpPr>
          <p:cNvPr id="23" name="TextBox 22"/>
          <p:cNvSpPr txBox="1"/>
          <p:nvPr/>
        </p:nvSpPr>
        <p:spPr>
          <a:xfrm>
            <a:off x="685800" y="1561248"/>
            <a:ext cx="6263640" cy="6631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 xmlns:a14="http://schemas.microsoft.com/office/drawing/2010/main" xmlns:mc="http://schemas.openxmlformats.org/markup-compatibility/2006" xmlns:m="http://schemas.openxmlformats.org/officeDocument/2006/math">
            <a:pPr algn="ctr">
              <a:defRPr sz="2750"/>
            </a:pPr>
            <mc:AlternateContent>
              <mc:Choice Requires="a14">
                <a14:m>
                  <m:oMathPara>
                    <m:oMathParaPr>
                      <m:jc m:val="center"/>
                    </m:oMathParaPr>
                    <m:oMath>
                      <m:box>
                        <m:e>
                          <m:r>
                            <a:rPr sz="2750">
                              <a:solidFill>
                                <a:srgbClr val="1F2937"/>
                              </a:solidFill>
                            </a:rPr>
                            <m:rPr>
                              <m:sty m:val="i"/>
                            </m:rPr>
                            <m:t>q</m:t>
                          </m:r>
                          <m:r>
                            <a:rPr sz="275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r>
                                <a:rPr sz="275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x</m:t>
                              </m:r>
                            </m:e>
                            <m:sub>
                              <m:r>
                                <a:rPr sz="275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t</m:t>
                              </m:r>
                            </m:sub>
                          </m:sSub>
                          <m:r>
                            <a:rPr sz="275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∣</m:t>
                          </m:r>
                          <m:sSub>
                            <m:e>
                              <m:r>
                                <a:rPr sz="275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x</m:t>
                              </m:r>
                            </m:e>
                            <m:sub>
                              <m:box>
                                <m:e>
                                  <m:r>
                                    <a:rPr sz="27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t</m:t>
                                  </m:r>
                                  <m:r>
                                    <a:rPr sz="27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p"/>
                                    </m:rPr>
                                    <m:t>−</m:t>
                                  </m:r>
                                  <m:r>
                                    <a:rPr sz="27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p"/>
                                    </m:rPr>
                                    <m:t>1</m:t>
                                  </m:r>
                                </m:e>
                              </m:box>
                            </m:sub>
                          </m:sSub>
                          <m:r>
                            <a:rPr sz="275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)</m:t>
                          </m:r>
                          <m:r>
                            <a:rPr sz="275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=</m:t>
                          </m:r>
                          <m:r>
                            <a:rPr sz="2750">
                              <a:solidFill>
                                <a:srgbClr val="1F2937"/>
                              </a:solidFill>
                            </a:rPr>
                            <m:rPr>
                              <m:sty m:val="i"/>
                            </m:rPr>
                            <m:t>𝒩</m:t>
                          </m:r>
                          <m:box>
                            <m:e>
                              <m:d>
                                <m:dPr>
                                  <m:begChr m:val="("/>
                                  <m:endChr m:val=")"/>
                                </m:dPr>
                                <m:e>
                                  <m:box>
                                    <m:e>
                                      <m:rad>
                                        <m:e>
                                          <m:box>
                                            <m:e>
                                              <m:box>
                                                <m:e>
                                                  <m:r>
                                                    <a:rPr sz="2750">
                                                      <a:solidFill>
                                                        <a:srgbClr val="1F2937"/>
                                                      </a:solidFill>
                                                    </a:rPr>
                                                    <m:rPr>
                                                      <m:sty m:val="p"/>
                                                    </m:rPr>
                                                    <m:t>1</m:t>
                                                  </m:r>
                                                  <m:r>
                                                    <a:rPr sz="2750">
                                                      <a:solidFill>
                                                        <a:srgbClr val="1F2937"/>
                                                      </a:solidFill>
                                                    </a:rPr>
                                                    <m:rPr>
                                                      <m:sty m:val="p"/>
                                                    </m:rPr>
                                                    <m:t>−</m:t>
                                                  </m:r>
                                                  <m:sSub>
                                                    <m:e>
                                                      <m:r>
                                                        <a:rPr sz="2750">
                                                          <a:solidFill>
                                                            <a:srgbClr val="1F2937"/>
                                                          </a:solidFill>
                                                        </a:rPr>
                                                        <m:rPr>
                                                          <m:sty m:val="i"/>
                                                        </m:rPr>
                                                        <m:t>β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sz="2750">
                                                          <a:solidFill>
                                                            <a:srgbClr val="1F2937"/>
                                                          </a:solidFill>
                                                        </a:rPr>
                                                        <m:rPr>
                                                          <m:sty m:val="i"/>
                                                        </m:rPr>
                                                        <m:t>t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box>
                                            </m:e>
                                          </m:box>
                                        </m:e>
                                      </m:rad>
                                      <m:r>
                                        <a:rPr sz="2750">
                                          <a:solidFill>
                                            <a:srgbClr val="1F2937"/>
                                          </a:solidFill>
                                        </a:rPr>
                                        <m:t/>
                                      </m:r>
                                      <m:sSub>
                                        <m:e>
                                          <m:r>
                                            <a:rPr sz="275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x</m:t>
                                          </m:r>
                                        </m:e>
                                        <m:sub>
                                          <m:box>
                                            <m:e>
                                              <m:r>
                                                <a:rPr sz="2750">
                                                  <a:solidFill>
                                                    <a:srgbClr val="1F2937"/>
                                                  </a:solidFill>
                                                </a:rPr>
                                                <m:rPr>
                                                  <m:sty m:val="i"/>
                                                </m:rPr>
                                                <m:t>t</m:t>
                                              </m:r>
                                              <m:r>
                                                <a:rPr sz="2750">
                                                  <a:solidFill>
                                                    <a:srgbClr val="1F2937"/>
                                                  </a:solidFill>
                                                </a:rPr>
                                                <m:rPr>
                                                  <m:sty m:val="p"/>
                                                </m:rPr>
                                                <m:t>−</m:t>
                                              </m:r>
                                              <m:r>
                                                <a:rPr sz="2750">
                                                  <a:solidFill>
                                                    <a:srgbClr val="1F2937"/>
                                                  </a:solidFill>
                                                </a:rPr>
                                                <m:rPr>
                                                  <m:sty m:val="p"/>
                                                </m:rPr>
                                                <m:t>1</m:t>
                                              </m:r>
                                            </m:e>
                                          </m:box>
                                        </m:sub>
                                      </m:sSub>
                                      <m:r>
                                        <a:rPr sz="275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,</m:t>
                                      </m:r>
                                      <m:r>
                                        <a:rPr sz="2750">
                                          <a:solidFill>
                                            <a:srgbClr val="1F2937"/>
                                          </a:solidFill>
                                        </a:rPr>
                                        <m:t/>
                                      </m:r>
                                      <m:sSub>
                                        <m:e>
                                          <m:r>
                                            <a:rPr sz="275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β</m:t>
                                          </m:r>
                                        </m:e>
                                        <m:sub>
                                          <m:r>
                                            <a:rPr sz="275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t</m:t>
                                          </m:r>
                                        </m:sub>
                                      </m:sSub>
                                      <m:r>
                                        <a:rPr sz="275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i"/>
                                        </m:rPr>
                                        <m:t>𝐈</m:t>
                                      </m:r>
                                    </m:e>
                                  </m:box>
                                </m:e>
                              </m:d>
                            </m:e>
                          </m:box>
                        </m:e>
                      </m:box>
                    </m:oMath>
                  </m:oMathPara>
                </a14:m>
              </mc:Choice>
              <mc:Fallback>
                <a:r>
                  <a:t>q(x_t|x_{t-1}) = N(sqrt(1-beta_t) x_{t-1}, beta_t I)</a:t>
                </a:r>
              </mc:Fallback>
            </mc:AlternateContent>
            <a:endParaRPr 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 · 前向 ②③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闭式解与重参数化：训练样本的免费发生器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672084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9D5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13232" y="239572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高斯可连乘合并：任意 t 的 x_t 直接由 x₀ 与 ᾱ_t 决定，不必逐步走链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926080"/>
            <a:ext cx="672084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5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13232" y="380390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重参数化：把 ② 解出来——干净图×系数 + 噪声×系数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0" y="5074920"/>
            <a:ext cx="12188952" cy="566928"/>
          </a:xfrm>
          <a:prstGeom prst="rect">
            <a:avLst/>
          </a:prstGeom>
          <a:solidFill>
            <a:srgbClr val="EFEDF9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507492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随机抽 (x₀, t, ε) → 一行代码合成 x_t：这就是训练数据的“免费发生器”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7498080" y="155448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数值感受：ᾱ_t 从 1 单调降到 0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 小：≈ 原图；t = T：纯噪声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此处出现的 ε 正是网络之后要猜的“答案”（伏笔）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7200" y="65105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Source: Ho et al. 2020 (DDPM), Eq. (4)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050" dirty="0"/>
          </a:p>
        </p:txBody>
      </p:sp>
      <p:sp>
        <p:nvSpPr>
          <p:cNvPr id="15" name="TextBox 14"/>
          <p:cNvSpPr txBox="1"/>
          <p:nvPr/>
        </p:nvSpPr>
        <p:spPr>
          <a:xfrm>
            <a:off x="685800" y="1570766"/>
            <a:ext cx="6263640" cy="6623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 xmlns:a14="http://schemas.microsoft.com/office/drawing/2010/main" xmlns:mc="http://schemas.openxmlformats.org/markup-compatibility/2006" xmlns:m="http://schemas.openxmlformats.org/officeDocument/2006/math">
            <a:pPr algn="ctr">
              <a:defRPr sz="1600"/>
            </a:pPr>
            <mc:AlternateContent>
              <mc:Choice Requires="a14">
                <a14:m>
                  <m:oMathPara>
                    <m:oMathParaPr>
                      <m:jc m:val="center"/>
                    </m:oMathParaPr>
                    <m:oMath>
                      <m:box>
                        <m:e>
                          <m:sSub>
                            <m:e>
                              <m:r>
                                <a:rPr sz="16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α</m:t>
                              </m:r>
                            </m:e>
                            <m:sub>
                              <m:r>
                                <a:rPr sz="16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t</m:t>
                              </m:r>
                            </m:sub>
                          </m:sSub>
                          <m:r>
                            <a:rPr sz="16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=</m:t>
                          </m:r>
                          <m:r>
                            <a:rPr sz="16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1</m:t>
                          </m:r>
                          <m:r>
                            <a:rPr sz="16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a:rPr sz="16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β</m:t>
                              </m:r>
                            </m:e>
                            <m:sub>
                              <m:r>
                                <a:rPr sz="16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t</m:t>
                              </m:r>
                            </m:sub>
                          </m:sSub>
                          <m:r>
                            <a:rPr sz="16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,</m:t>
                          </m:r>
                          <m:r>
                            <a:rPr sz="1600">
                              <a:solidFill>
                                <a:srgbClr val="1F2937"/>
                              </a:solidFill>
                            </a:rPr>
                            <m:t/>
                          </m:r>
                          <m:sSub>
                            <m:e>
                              <m:bar>
                                <m:barPr>
                                  <m:pos m:val="top"/>
                                </m:barPr>
                                <m:e>
                                  <m:box>
                                    <m:e>
                                      <m:r>
                                        <a:rPr sz="16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i"/>
                                        </m:rPr>
                                        <m:t>α</m:t>
                                      </m:r>
                                    </m:e>
                                  </m:box>
                                </m:e>
                              </m:bar>
                            </m:e>
                            <m:sub>
                              <m:r>
                                <a:rPr sz="16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t</m:t>
                              </m:r>
                            </m:sub>
                          </m:sSub>
                          <m:r>
                            <a:rPr sz="16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=</m:t>
                          </m:r>
                          <m:nary>
                            <m:naryPr>
                              <m:chr m:val="∏"/>
                              <m:limLoc m:val="undOvr"/>
                            </m:naryPr>
                            <m:sub>
                              <m:box>
                                <m:e>
                                  <m:r>
                                    <a:rPr sz="16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s</m:t>
                                  </m:r>
                                  <m:r>
                                    <a:rPr sz="16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p"/>
                                    </m:rPr>
                                    <m:t>=</m:t>
                                  </m:r>
                                  <m:r>
                                    <a:rPr sz="16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p"/>
                                    </m:rPr>
                                    <m:t>1</m:t>
                                  </m:r>
                                </m:e>
                              </m:box>
                            </m:sub>
                            <m:sup>
                              <m:box>
                                <m:e>
                                  <m:r>
                                    <a:rPr sz="16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t</m:t>
                                  </m:r>
                                </m:e>
                              </m:box>
                            </m:sup>
                            <m:e>
                              <m:sSub>
                                <m:e>
                                  <m:r>
                                    <a:rPr sz="16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α</m:t>
                                  </m:r>
                                </m:e>
                                <m:sub>
                                  <m:r>
                                    <a:rPr sz="16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s</m:t>
                                  </m:r>
                                </m:sub>
                              </m:sSub>
                              <m:r>
                                <a:rPr sz="16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a:rPr sz="1600">
                                  <a:solidFill>
                                    <a:srgbClr val="1F2937"/>
                                  </a:solidFill>
                                </a:rPr>
                                <m:t/>
                              </m:r>
                              <m:r>
                                <a:rPr sz="16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q</m:t>
                              </m:r>
                              <m:r>
                                <a:rPr sz="16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p"/>
                                </m:rPr>
                                <m:t>(</m:t>
                              </m:r>
                              <m:sSub>
                                <m:e>
                                  <m:r>
                                    <a:rPr sz="16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x</m:t>
                                  </m:r>
                                </m:e>
                                <m:sub>
                                  <m:r>
                                    <a:rPr sz="16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t</m:t>
                                  </m:r>
                                </m:sub>
                              </m:sSub>
                              <m:r>
                                <a:rPr sz="16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p"/>
                                </m:rPr>
                                <m:t>∣</m:t>
                              </m:r>
                              <m:sSub>
                                <m:e>
                                  <m:r>
                                    <a:rPr sz="16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x</m:t>
                                  </m:r>
                                </m:e>
                                <m:sub>
                                  <m:r>
                                    <a:rPr sz="16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p"/>
                                    </m:rPr>
                                    <m:t>0</m:t>
                                  </m:r>
                                </m:sub>
                              </m:sSub>
                              <m:r>
                                <a:rPr sz="16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p"/>
                                </m:rPr>
                                <m:t>)</m:t>
                              </m:r>
                              <m:r>
                                <a:rPr sz="16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p"/>
                                </m:rPr>
                                <m:t>=</m:t>
                              </m:r>
                              <m:r>
                                <a:rPr sz="16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𝒩</m:t>
                              </m:r>
                              <m:box>
                                <m:e>
                                  <m:d>
                                    <m:dPr>
                                      <m:begChr m:val="("/>
                                      <m:endChr m:val=")"/>
                                    </m:dPr>
                                    <m:e>
                                      <m:box>
                                        <m:e>
                                          <m:rad>
                                            <m:e>
                                              <m:box>
                                                <m:e>
                                                  <m:box>
                                                    <m:e>
                                                      <m:sSub>
                                                        <m:e>
                                                          <m:bar>
                                                            <m:barPr>
                                                              <m:pos m:val="top"/>
                                                            </m:barPr>
                                                            <m:e>
                                                              <m:box>
                                                                <m:e>
                                                                  <m:r>
                                                                    <a:rPr sz="1600">
                                                                      <a:solidFill>
                                                                        <a:srgbClr val="1F2937"/>
                                                                      </a:solidFill>
                                                                    </a:rPr>
                                                                    <m:rPr>
                                                                      <m:sty m:val="i"/>
                                                                    </m:rPr>
                                                                    <m:t>α</m:t>
                                                                  </m:r>
                                                                </m:e>
                                                              </m:box>
                                                            </m:e>
                                                          </m:bar>
                                                        </m:e>
                                                        <m:sub>
                                                          <m:r>
                                                            <a:rPr sz="1600">
                                                              <a:solidFill>
                                                                <a:srgbClr val="1F2937"/>
                                                              </a:solidFill>
                                                            </a:rPr>
                                                            <m:rPr>
                                                              <m:sty m:val="i"/>
                                                            </m:rPr>
                                                            <m:t>t</m:t>
                                                          </m:r>
                                                        </m:sub>
                                                      </m:sSub>
                                                    </m:e>
                                                  </m:box>
                                                </m:e>
                                              </m:box>
                                            </m:e>
                                          </m:rad>
                                          <m:r>
                                            <a:rPr sz="160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t/>
                                          </m:r>
                                          <m:sSub>
                                            <m:e>
                                              <m:r>
                                                <a:rPr sz="1600">
                                                  <a:solidFill>
                                                    <a:srgbClr val="1F2937"/>
                                                  </a:solidFill>
                                                </a:rPr>
                                                <m:rPr>
                                                  <m:sty m:val="i"/>
                                                </m:rPr>
                                                <m:t>x</m:t>
                                              </m:r>
                                            </m:e>
                                            <m:sub>
                                              <m:r>
                                                <a:rPr sz="1600">
                                                  <a:solidFill>
                                                    <a:srgbClr val="1F2937"/>
                                                  </a:solidFill>
                                                </a:rPr>
                                                <m:rPr>
                                                  <m:sty m:val="p"/>
                                                </m:rPr>
                                                <m:t>0</m:t>
                                              </m:r>
                                            </m:sub>
                                          </m:sSub>
                                          <m:r>
                                            <a:rPr sz="160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p"/>
                                            </m:rPr>
                                            <m:t>,</m:t>
                                          </m:r>
                                          <m:r>
                                            <a:rPr sz="160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t/>
                                          </m:r>
                                          <m:r>
                                            <a:rPr sz="160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p"/>
                                            </m:rPr>
                                            <m:t>(</m:t>
                                          </m:r>
                                          <m:r>
                                            <a:rPr sz="160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p"/>
                                            </m:rPr>
                                            <m:t>1</m:t>
                                          </m:r>
                                          <m:r>
                                            <a:rPr sz="160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p"/>
                                            </m:rPr>
                                            <m:t>−</m:t>
                                          </m:r>
                                          <m:sSub>
                                            <m:e>
                                              <m:bar>
                                                <m:barPr>
                                                  <m:pos m:val="top"/>
                                                </m:barPr>
                                                <m:e>
                                                  <m:box>
                                                    <m:e>
                                                      <m:r>
                                                        <a:rPr sz="1600">
                                                          <a:solidFill>
                                                            <a:srgbClr val="1F2937"/>
                                                          </a:solidFill>
                                                        </a:rPr>
                                                        <m:rPr>
                                                          <m:sty m:val="i"/>
                                                        </m:rPr>
                                                        <m:t>α</m:t>
                                                      </m:r>
                                                    </m:e>
                                                  </m:box>
                                                </m:e>
                                              </m:bar>
                                            </m:e>
                                            <m:sub>
                                              <m:r>
                                                <a:rPr sz="1600">
                                                  <a:solidFill>
                                                    <a:srgbClr val="1F2937"/>
                                                  </a:solidFill>
                                                </a:rPr>
                                                <m:rPr>
                                                  <m:sty m:val="i"/>
                                                </m:rPr>
                                                <m:t>t</m:t>
                                              </m:r>
                                            </m:sub>
                                          </m:sSub>
                                          <m:r>
                                            <a:rPr sz="160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p"/>
                                            </m:rPr>
                                            <m:t>)</m:t>
                                          </m:r>
                                          <m:r>
                                            <a:rPr sz="160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t/>
                                          </m:r>
                                          <m:r>
                                            <a:rPr sz="160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𝐈</m:t>
                                          </m:r>
                                        </m:e>
                                      </m:box>
                                    </m:e>
                                  </m:d>
                                </m:e>
                              </m:box>
                            </m:e>
                          </m:nary>
                        </m:e>
                      </m:box>
                    </m:oMath>
                  </m:oMathPara>
                </a14:m>
              </mc:Choice>
              <mc:Fallback>
                <a:r>
                  <a:t>alpha_t = 1-beta_t, bar_alpha_t = prod alpha_s, q(x_t|x_0) = N(...)</a:t>
                </a:r>
              </mc:Fallback>
            </mc:AlternateContent>
            <a:endParaRPr lang="zh-CN"/>
          </a:p>
        </p:txBody>
      </p:sp>
      <p:sp>
        <p:nvSpPr>
          <p:cNvPr id="16" name="TextBox 15"/>
          <p:cNvSpPr txBox="1"/>
          <p:nvPr/>
        </p:nvSpPr>
        <p:spPr>
          <a:xfrm>
            <a:off x="685800" y="3091630"/>
            <a:ext cx="6263640" cy="61987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 xmlns:a14="http://schemas.microsoft.com/office/drawing/2010/main" xmlns:mc="http://schemas.openxmlformats.org/markup-compatibility/2006" xmlns:m="http://schemas.openxmlformats.org/officeDocument/2006/math">
            <a:pPr algn="ctr">
              <a:defRPr sz="2600"/>
            </a:pPr>
            <mc:AlternateContent>
              <mc:Choice Requires="a14">
                <a14:m>
                  <m:oMathPara>
                    <m:oMathParaPr>
                      <m:jc m:val="center"/>
                    </m:oMathParaPr>
                    <m:oMath>
                      <m:box>
                        <m:e>
                          <m:sSub>
                            <m:e>
                              <m:r>
                                <a:rPr sz="26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x</m:t>
                              </m:r>
                            </m:e>
                            <m:sub>
                              <m:r>
                                <a:rPr sz="26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t</m:t>
                              </m:r>
                            </m:sub>
                          </m:sSub>
                          <m:r>
                            <a:rPr sz="26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=</m:t>
                          </m:r>
                          <m:rad>
                            <m:e>
                              <m:box>
                                <m:e>
                                  <m:box>
                                    <m:e>
                                      <m:sSub>
                                        <m:e>
                                          <m:bar>
                                            <m:barPr>
                                              <m:pos m:val="top"/>
                                            </m:barPr>
                                            <m:e>
                                              <m:box>
                                                <m:e>
                                                  <m:r>
                                                    <a:rPr sz="2600">
                                                      <a:solidFill>
                                                        <a:srgbClr val="1F2937"/>
                                                      </a:solidFill>
                                                    </a:rPr>
                                                    <m:rPr>
                                                      <m:sty m:val="i"/>
                                                    </m:rPr>
                                                    <m:t>α</m:t>
                                                  </m:r>
                                                </m:e>
                                              </m:box>
                                            </m:e>
                                          </m:bar>
                                        </m:e>
                                        <m:sub>
                                          <m:r>
                                            <a:rPr sz="260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t</m:t>
                                          </m:r>
                                        </m:sub>
                                      </m:sSub>
                                    </m:e>
                                  </m:box>
                                </m:e>
                              </m:box>
                            </m:e>
                          </m:rad>
                          <m:r>
                            <a:rPr sz="2600">
                              <a:solidFill>
                                <a:srgbClr val="1F2937"/>
                              </a:solidFill>
                            </a:rPr>
                            <m:t/>
                          </m:r>
                          <m:sSub>
                            <m:e>
                              <m:r>
                                <a:rPr sz="26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x</m:t>
                              </m:r>
                            </m:e>
                            <m:sub>
                              <m:r>
                                <a:rPr sz="26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p"/>
                                </m:rPr>
                                <m:t>0</m:t>
                              </m:r>
                            </m:sub>
                          </m:sSub>
                          <m:r>
                            <a:rPr sz="26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+</m:t>
                          </m:r>
                          <m:rad>
                            <m:e>
                              <m:box>
                                <m:e>
                                  <m:box>
                                    <m:e>
                                      <m:r>
                                        <a:rPr sz="26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1</m:t>
                                      </m:r>
                                      <m:r>
                                        <a:rPr sz="26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−</m:t>
                                      </m:r>
                                      <m:sSub>
                                        <m:e>
                                          <m:bar>
                                            <m:barPr>
                                              <m:pos m:val="top"/>
                                            </m:barPr>
                                            <m:e>
                                              <m:box>
                                                <m:e>
                                                  <m:r>
                                                    <a:rPr sz="2600">
                                                      <a:solidFill>
                                                        <a:srgbClr val="1F2937"/>
                                                      </a:solidFill>
                                                    </a:rPr>
                                                    <m:rPr>
                                                      <m:sty m:val="i"/>
                                                    </m:rPr>
                                                    <m:t>α</m:t>
                                                  </m:r>
                                                </m:e>
                                              </m:box>
                                            </m:e>
                                          </m:bar>
                                        </m:e>
                                        <m:sub>
                                          <m:r>
                                            <a:rPr sz="260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t</m:t>
                                          </m:r>
                                        </m:sub>
                                      </m:sSub>
                                    </m:e>
                                  </m:box>
                                </m:e>
                              </m:box>
                            </m:e>
                          </m:rad>
                          <m:r>
                            <a:rPr sz="2600">
                              <a:solidFill>
                                <a:srgbClr val="1F2937"/>
                              </a:solidFill>
                            </a:rPr>
                            <m:t/>
                          </m:r>
                          <m:r>
                            <a:rPr sz="2600">
                              <a:solidFill>
                                <a:srgbClr val="1F2937"/>
                              </a:solidFill>
                            </a:rPr>
                            <m:rPr>
                              <m:sty m:val="i"/>
                            </m:rPr>
                            <m:t>ϵ</m:t>
                          </m:r>
                          <m:r>
                            <a:rPr sz="26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,</m:t>
                          </m:r>
                          <m:r>
                            <a:rPr sz="2600">
                              <a:solidFill>
                                <a:srgbClr val="1F2937"/>
                              </a:solidFill>
                            </a:rPr>
                            <m:t/>
                          </m:r>
                          <m:r>
                            <a:rPr sz="2600">
                              <a:solidFill>
                                <a:srgbClr val="1F2937"/>
                              </a:solidFill>
                            </a:rPr>
                            <m:rPr>
                              <m:sty m:val="i"/>
                            </m:rPr>
                            <m:t>ϵ</m:t>
                          </m:r>
                          <m:r>
                            <a:rPr sz="2600">
                              <a:solidFill>
                                <a:srgbClr val="1F2937"/>
                              </a:solidFill>
                            </a:rPr>
                            <m:rPr>
                              <m:sty m:val="i"/>
                            </m:rPr>
                            <m:t>~</m:t>
                          </m:r>
                          <m:r>
                            <a:rPr sz="2600">
                              <a:solidFill>
                                <a:srgbClr val="1F2937"/>
                              </a:solidFill>
                            </a:rPr>
                            <m:rPr>
                              <m:sty m:val="i"/>
                            </m:rPr>
                            <m:t>𝒩</m:t>
                          </m:r>
                          <m:r>
                            <a:rPr sz="26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(</m:t>
                          </m:r>
                          <m:r>
                            <a:rPr sz="26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0</m:t>
                          </m:r>
                          <m:r>
                            <a:rPr sz="26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,</m:t>
                          </m:r>
                          <m:r>
                            <a:rPr sz="2600">
                              <a:solidFill>
                                <a:srgbClr val="1F2937"/>
                              </a:solidFill>
                            </a:rPr>
                            <m:rPr>
                              <m:sty m:val="i"/>
                            </m:rPr>
                            <m:t>𝐈</m:t>
                          </m:r>
                          <m:r>
                            <a:rPr sz="26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)</m:t>
                          </m:r>
                        </m:e>
                      </m:box>
                    </m:oMath>
                  </m:oMathPara>
                </a14:m>
              </mc:Choice>
              <mc:Fallback>
                <a:r>
                  <a:t>x_t = sqrt(bar_alpha_t) x_0 + sqrt(1-bar_alpha_t) eps, eps ~ N(0,I)</a:t>
                </a:r>
              </mc:Fallback>
            </mc:AlternateContent>
            <a:endParaRPr 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 · 反向 ①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反向也建模为高斯：只差一个均值要学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67208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9D5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13232" y="265176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反向每步建模为高斯：网络参数化其均值与方差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3154680"/>
            <a:ext cx="67208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9D5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13232" y="43891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数学事实：若额外知道 x₀，真实反向分布（后验）有闭式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0" y="5074920"/>
            <a:ext cx="12188952" cy="566928"/>
          </a:xfrm>
          <a:prstGeom prst="rect">
            <a:avLst/>
          </a:prstGeom>
          <a:solidFill>
            <a:srgbClr val="EFEDF9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507492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于是「学反向」坍缩为「学均值」——而均值恰好可以由 ε 表达（下一页）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7498080" y="1554480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DDPM 结论：方差可直接固定 σ_t² = β̃_t，不必学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后验方差 β̃_t = β_t(1−ᾱ_{t−1})/(1−ᾱ_t) 也是已知量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于是“学反向” = “学均值”，且均值能写成 ε 的函数（下一页）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7200" y="65105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Source: Ho et al. 2020 (DDPM), Eq. (6)(7)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1050" dirty="0"/>
          </a:p>
        </p:txBody>
      </p:sp>
      <p:sp>
        <p:nvSpPr>
          <p:cNvPr id="15" name="TextBox 14"/>
          <p:cNvSpPr txBox="1"/>
          <p:nvPr/>
        </p:nvSpPr>
        <p:spPr>
          <a:xfrm>
            <a:off x="685800" y="1785151"/>
            <a:ext cx="6263640" cy="54449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 xmlns:a14="http://schemas.microsoft.com/office/drawing/2010/main" xmlns:mc="http://schemas.openxmlformats.org/markup-compatibility/2006" xmlns:m="http://schemas.openxmlformats.org/officeDocument/2006/math">
            <a:pPr algn="ctr">
              <a:defRPr sz="2750"/>
            </a:pPr>
            <mc:AlternateContent>
              <mc:Choice Requires="a14">
                <a14:m>
                  <m:oMathPara>
                    <m:oMathParaPr>
                      <m:jc m:val="center"/>
                    </m:oMathParaPr>
                    <m:oMath>
                      <m:box>
                        <m:e>
                          <m:sSub>
                            <m:e>
                              <m:r>
                                <a:rPr sz="275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p</m:t>
                              </m:r>
                            </m:e>
                            <m:sub>
                              <m:r>
                                <a:rPr sz="275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θ</m:t>
                              </m:r>
                            </m:sub>
                          </m:sSub>
                          <m:r>
                            <a:rPr sz="275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r>
                                <a:rPr sz="275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x</m:t>
                              </m:r>
                            </m:e>
                            <m:sub>
                              <m:box>
                                <m:e>
                                  <m:r>
                                    <a:rPr sz="27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t</m:t>
                                  </m:r>
                                  <m:r>
                                    <a:rPr sz="27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p"/>
                                    </m:rPr>
                                    <m:t>−</m:t>
                                  </m:r>
                                  <m:r>
                                    <a:rPr sz="27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p"/>
                                    </m:rPr>
                                    <m:t>1</m:t>
                                  </m:r>
                                </m:e>
                              </m:box>
                            </m:sub>
                          </m:sSub>
                          <m:r>
                            <a:rPr sz="275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∣</m:t>
                          </m:r>
                          <m:sSub>
                            <m:e>
                              <m:r>
                                <a:rPr sz="275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x</m:t>
                              </m:r>
                            </m:e>
                            <m:sub>
                              <m:r>
                                <a:rPr sz="275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t</m:t>
                              </m:r>
                            </m:sub>
                          </m:sSub>
                          <m:r>
                            <a:rPr sz="275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)</m:t>
                          </m:r>
                          <m:r>
                            <a:rPr sz="275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=</m:t>
                          </m:r>
                          <m:r>
                            <a:rPr sz="2750">
                              <a:solidFill>
                                <a:srgbClr val="1F2937"/>
                              </a:solidFill>
                            </a:rPr>
                            <m:rPr>
                              <m:sty m:val="i"/>
                            </m:rPr>
                            <m:t>𝒩</m:t>
                          </m:r>
                          <m:box>
                            <m:e>
                              <m:d>
                                <m:dPr>
                                  <m:begChr m:val="("/>
                                  <m:endChr m:val=")"/>
                                </m:dPr>
                                <m:e>
                                  <m:box>
                                    <m:e>
                                      <m:sSub>
                                        <m:e>
                                          <m:r>
                                            <a:rPr sz="275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μ</m:t>
                                          </m:r>
                                        </m:e>
                                        <m:sub>
                                          <m:r>
                                            <a:rPr sz="275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θ</m:t>
                                          </m:r>
                                        </m:sub>
                                      </m:sSub>
                                      <m:r>
                                        <a:rPr sz="275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(</m:t>
                                      </m:r>
                                      <m:sSub>
                                        <m:e>
                                          <m:r>
                                            <a:rPr sz="275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sz="275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t</m:t>
                                          </m:r>
                                        </m:sub>
                                      </m:sSub>
                                      <m:r>
                                        <a:rPr sz="275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,</m:t>
                                      </m:r>
                                      <m:r>
                                        <a:rPr sz="275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i"/>
                                        </m:rPr>
                                        <m:t>t</m:t>
                                      </m:r>
                                      <m:r>
                                        <a:rPr sz="275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)</m:t>
                                      </m:r>
                                      <m:r>
                                        <a:rPr sz="275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,</m:t>
                                      </m:r>
                                      <m:r>
                                        <a:rPr sz="2750">
                                          <a:solidFill>
                                            <a:srgbClr val="1F2937"/>
                                          </a:solidFill>
                                        </a:rPr>
                                        <m:t/>
                                      </m:r>
                                      <m:sSub>
                                        <m:e>
                                          <m:r>
                                            <a:rPr sz="275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Σ</m:t>
                                          </m:r>
                                        </m:e>
                                        <m:sub>
                                          <m:r>
                                            <a:rPr sz="275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θ</m:t>
                                          </m:r>
                                        </m:sub>
                                      </m:sSub>
                                      <m:r>
                                        <a:rPr sz="275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(</m:t>
                                      </m:r>
                                      <m:sSub>
                                        <m:e>
                                          <m:r>
                                            <a:rPr sz="275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sz="275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t</m:t>
                                          </m:r>
                                        </m:sub>
                                      </m:sSub>
                                      <m:r>
                                        <a:rPr sz="275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,</m:t>
                                      </m:r>
                                      <m:r>
                                        <a:rPr sz="275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i"/>
                                        </m:rPr>
                                        <m:t>t</m:t>
                                      </m:r>
                                      <m:r>
                                        <a:rPr sz="275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)</m:t>
                                      </m:r>
                                    </m:e>
                                  </m:box>
                                </m:e>
                              </m:d>
                            </m:e>
                          </m:box>
                        </m:e>
                      </m:box>
                    </m:oMath>
                  </m:oMathPara>
                </a14:m>
              </mc:Choice>
              <mc:Fallback>
                <a:r>
                  <a:t>p_theta(x_{t-1}|x_t) = N(mu_theta, Sigma_theta)</a:t>
                </a:r>
              </mc:Fallback>
            </mc:AlternateContent>
            <a:endParaRPr lang="zh-CN"/>
          </a:p>
        </p:txBody>
      </p:sp>
      <p:sp>
        <p:nvSpPr>
          <p:cNvPr id="16" name="TextBox 15"/>
          <p:cNvSpPr txBox="1"/>
          <p:nvPr/>
        </p:nvSpPr>
        <p:spPr>
          <a:xfrm>
            <a:off x="685800" y="3470846"/>
            <a:ext cx="6263640" cy="6478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 xmlns:a14="http://schemas.microsoft.com/office/drawing/2010/main" xmlns:mc="http://schemas.openxmlformats.org/markup-compatibility/2006" xmlns:m="http://schemas.openxmlformats.org/officeDocument/2006/math">
            <a:pPr algn="ctr">
              <a:defRPr sz="2800"/>
            </a:pPr>
            <mc:AlternateContent>
              <mc:Choice Requires="a14">
                <a14:m>
                  <m:oMathPara>
                    <m:oMathParaPr>
                      <m:jc m:val="center"/>
                    </m:oMathParaPr>
                    <m:oMath>
                      <m:box>
                        <m:e>
                          <m:r>
                            <a:rPr sz="2800">
                              <a:solidFill>
                                <a:srgbClr val="1F2937"/>
                              </a:solidFill>
                            </a:rPr>
                            <m:rPr>
                              <m:sty m:val="i"/>
                            </m:rPr>
                            <m:t>q</m:t>
                          </m:r>
                          <m:r>
                            <a:rPr sz="28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r>
                                <a:rPr sz="28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x</m:t>
                              </m:r>
                            </m:e>
                            <m:sub>
                              <m:box>
                                <m:e>
                                  <m:r>
                                    <a:rPr sz="28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t</m:t>
                                  </m:r>
                                  <m:r>
                                    <a:rPr sz="28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p"/>
                                    </m:rPr>
                                    <m:t>−</m:t>
                                  </m:r>
                                  <m:r>
                                    <a:rPr sz="28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p"/>
                                    </m:rPr>
                                    <m:t>1</m:t>
                                  </m:r>
                                </m:e>
                              </m:box>
                            </m:sub>
                          </m:sSub>
                          <m:r>
                            <a:rPr sz="28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∣</m:t>
                          </m:r>
                          <m:sSub>
                            <m:e>
                              <m:r>
                                <a:rPr sz="28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x</m:t>
                              </m:r>
                            </m:e>
                            <m:sub>
                              <m:r>
                                <a:rPr sz="28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t</m:t>
                              </m:r>
                            </m:sub>
                          </m:sSub>
                          <m:r>
                            <a:rPr sz="28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,</m:t>
                          </m:r>
                          <m:sSub>
                            <m:e>
                              <m:r>
                                <a:rPr sz="28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x</m:t>
                              </m:r>
                            </m:e>
                            <m:sub>
                              <m:r>
                                <a:rPr sz="28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p"/>
                                </m:rPr>
                                <m:t>0</m:t>
                              </m:r>
                            </m:sub>
                          </m:sSub>
                          <m:r>
                            <a:rPr sz="28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)</m:t>
                          </m:r>
                          <m:r>
                            <a:rPr sz="28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=</m:t>
                          </m:r>
                          <m:r>
                            <a:rPr sz="2800">
                              <a:solidFill>
                                <a:srgbClr val="1F2937"/>
                              </a:solidFill>
                            </a:rPr>
                            <m:rPr>
                              <m:sty m:val="i"/>
                            </m:rPr>
                            <m:t>𝒩</m:t>
                          </m:r>
                          <m:box>
                            <m:e>
                              <m:d>
                                <m:dPr>
                                  <m:begChr m:val="("/>
                                  <m:endChr m:val=")"/>
                                </m:dPr>
                                <m:e>
                                  <m:box>
                                    <m:e>
                                      <m:sSub>
                                        <m:e>
                                          <m:limUpp>
                                            <m:e>
                                              <m:box>
                                                <m:e>
                                                  <m:r>
                                                    <a:rPr sz="2800">
                                                      <a:solidFill>
                                                        <a:srgbClr val="1F2937"/>
                                                      </a:solidFill>
                                                    </a:rPr>
                                                    <m:rPr>
                                                      <m:sty m:val="i"/>
                                                    </m:rPr>
                                                    <m:t>μ</m:t>
                                                  </m:r>
                                                </m:e>
                                              </m:box>
                                            </m:e>
                                            <m:lim>
                                              <m:r>
                                                <a:rPr sz="2800">
                                                  <a:solidFill>
                                                    <a:srgbClr val="1F2937"/>
                                                  </a:solidFill>
                                                </a:rPr>
                                                <m:rPr>
                                                  <m:sty m:val="p"/>
                                                </m:rPr>
                                                <m:t>~</m:t>
                                              </m:r>
                                            </m:lim>
                                          </m:limUpp>
                                        </m:e>
                                        <m:sub>
                                          <m:r>
                                            <a:rPr sz="280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t</m:t>
                                          </m:r>
                                        </m:sub>
                                      </m:sSub>
                                      <m:r>
                                        <a:rPr sz="28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(</m:t>
                                      </m:r>
                                      <m:sSub>
                                        <m:e>
                                          <m:r>
                                            <a:rPr sz="280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sz="280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t</m:t>
                                          </m:r>
                                        </m:sub>
                                      </m:sSub>
                                      <m:r>
                                        <a:rPr sz="28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,</m:t>
                                      </m:r>
                                      <m:sSub>
                                        <m:e>
                                          <m:r>
                                            <a:rPr sz="280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sz="280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p"/>
                                            </m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sz="28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)</m:t>
                                      </m:r>
                                      <m:r>
                                        <a:rPr sz="28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,</m:t>
                                      </m:r>
                                      <m:r>
                                        <a:rPr sz="28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t/>
                                      </m:r>
                                      <m:sSub>
                                        <m:e>
                                          <m:limUpp>
                                            <m:e>
                                              <m:box>
                                                <m:e>
                                                  <m:r>
                                                    <a:rPr sz="2800">
                                                      <a:solidFill>
                                                        <a:srgbClr val="1F2937"/>
                                                      </a:solidFill>
                                                    </a:rPr>
                                                    <m:rPr>
                                                      <m:sty m:val="i"/>
                                                    </m:rPr>
                                                    <m:t>β</m:t>
                                                  </m:r>
                                                </m:e>
                                              </m:box>
                                            </m:e>
                                            <m:lim>
                                              <m:r>
                                                <a:rPr sz="2800">
                                                  <a:solidFill>
                                                    <a:srgbClr val="1F2937"/>
                                                  </a:solidFill>
                                                </a:rPr>
                                                <m:rPr>
                                                  <m:sty m:val="p"/>
                                                </m:rPr>
                                                <m:t>~</m:t>
                                              </m:r>
                                            </m:lim>
                                          </m:limUpp>
                                        </m:e>
                                        <m:sub>
                                          <m:r>
                                            <a:rPr sz="280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t</m:t>
                                          </m:r>
                                        </m:sub>
                                      </m:sSub>
                                      <m:r>
                                        <a:rPr sz="28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t/>
                                      </m:r>
                                      <m:r>
                                        <a:rPr sz="28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i"/>
                                        </m:rPr>
                                        <m:t>𝐈</m:t>
                                      </m:r>
                                    </m:e>
                                  </m:box>
                                </m:e>
                              </m:d>
                            </m:e>
                          </m:box>
                        </m:e>
                      </m:box>
                    </m:oMath>
                  </m:oMathPara>
                </a14:m>
              </mc:Choice>
              <mc:Fallback>
                <a:r>
                  <a:t>q(x_{t-1}|x_t,x_0) = N(mu~_t, beta~_t I)</a:t>
                </a:r>
              </mc:Fallback>
            </mc:AlternateContent>
            <a:endParaRPr 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 · 反向 ②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核心一步：均值完全由噪声表达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67208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9D5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13232" y="221284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从重参数化公式反解 x₀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724912"/>
            <a:ext cx="67208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9D5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13232" y="356616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代入后验：真实均值只剩 ε 一个未知量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57200" y="4114800"/>
            <a:ext cx="67208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9D5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713232" y="495604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网络均值：把 ε 换成估计 ε_θ —— 唯一可学的部件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7498080" y="1463040"/>
            <a:ext cx="4206240" cy="1463040"/>
          </a:xfrm>
          <a:prstGeom prst="roundRect">
            <a:avLst>
              <a:gd name="adj" fmla="val 3750"/>
            </a:avLst>
          </a:prstGeom>
          <a:solidFill>
            <a:srgbClr val="EFEDF9"/>
          </a:solidFill>
          <a:ln w="9525">
            <a:solidFill>
              <a:srgbClr val="D9D5EF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662672" y="1572768"/>
            <a:ext cx="3877056" cy="7607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ε_θ(x_t, t)</a:t>
            </a:r>
            <a:endParaRPr lang="en-US" sz="3000" dirty="0"/>
          </a:p>
        </p:txBody>
      </p:sp>
      <p:sp>
        <p:nvSpPr>
          <p:cNvPr id="15" name="Text 10"/>
          <p:cNvSpPr/>
          <p:nvPr/>
        </p:nvSpPr>
        <p:spPr>
          <a:xfrm>
            <a:off x="7662672" y="2311603"/>
            <a:ext cx="3877056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整个扩散模型唯一要学的东西：看一张模糊图，猜上面的噪声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7498080" y="315468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均值的结构：把估出的噪声从 x_t 里减掉，再缩放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训练学 ε_θ；采样时按 μ_θ 公式走一步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57200" y="65105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Source: Ho et al. 2020 (DDPM), Eq. (8)(11)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050" dirty="0"/>
          </a:p>
        </p:txBody>
      </p:sp>
      <p:sp>
        <p:nvSpPr>
          <p:cNvPr id="19" name="TextBox 18"/>
          <p:cNvSpPr txBox="1"/>
          <p:nvPr/>
        </p:nvSpPr>
        <p:spPr>
          <a:xfrm>
            <a:off x="2772070" y="1517904"/>
            <a:ext cx="2136820" cy="7132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 xmlns:a14="http://schemas.microsoft.com/office/drawing/2010/main" xmlns:mc="http://schemas.openxmlformats.org/markup-compatibility/2006" xmlns:m="http://schemas.openxmlformats.org/officeDocument/2006/math">
            <a:pPr algn="ctr">
              <a:defRPr sz="1700"/>
            </a:pPr>
            <mc:AlternateContent>
              <mc:Choice Requires="a14">
                <a14:m>
                  <m:oMathPara>
                    <m:oMathParaPr>
                      <m:jc m:val="center"/>
                    </m:oMathParaPr>
                    <m:oMath>
                      <m:box>
                        <m:e>
                          <m:sSub>
                            <m:e>
                              <m:r>
                                <a:rPr sz="17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x</m:t>
                              </m:r>
                            </m:e>
                            <m:sub>
                              <m:r>
                                <a:rPr sz="17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p"/>
                                </m:rPr>
                                <m:t>0</m:t>
                              </m:r>
                            </m:sub>
                          </m:sSub>
                          <m:r>
                            <a:rPr sz="17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=</m:t>
                          </m:r>
                          <m:f>
                            <m:num>
                              <m:box>
                                <m:e>
                                  <m:sSub>
                                    <m:e>
                                      <m:r>
                                        <a:rPr sz="17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i"/>
                                        </m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sz="17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i"/>
                                        </m:rPr>
                                        <m:t>t</m:t>
                                      </m:r>
                                    </m:sub>
                                  </m:sSub>
                                  <m:r>
                                    <a:rPr sz="17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p"/>
                                    </m:rPr>
                                    <m:t>−</m:t>
                                  </m:r>
                                  <m:rad>
                                    <m:e>
                                      <m:box>
                                        <m:e>
                                          <m:box>
                                            <m:e>
                                              <m:r>
                                                <a:rPr sz="1700">
                                                  <a:solidFill>
                                                    <a:srgbClr val="1F2937"/>
                                                  </a:solidFill>
                                                </a:rPr>
                                                <m:rPr>
                                                  <m:sty m:val="p"/>
                                                </m:rPr>
                                                <m:t>1</m:t>
                                              </m:r>
                                              <m:r>
                                                <a:rPr sz="1700">
                                                  <a:solidFill>
                                                    <a:srgbClr val="1F2937"/>
                                                  </a:solidFill>
                                                </a:rPr>
                                                <m:rPr>
                                                  <m:sty m:val="p"/>
                                                </m:rPr>
                                                <m:t>−</m:t>
                                              </m:r>
                                              <m:sSub>
                                                <m:e>
                                                  <m:bar>
                                                    <m:barPr>
                                                      <m:pos m:val="top"/>
                                                    </m:barPr>
                                                    <m:e>
                                                      <m:box>
                                                        <m:e>
                                                          <m:r>
                                                            <a:rPr sz="1700">
                                                              <a:solidFill>
                                                                <a:srgbClr val="1F2937"/>
                                                              </a:solidFill>
                                                            </a:rPr>
                                                            <m:rPr>
                                                              <m:sty m:val="i"/>
                                                            </m:rPr>
                                                            <m:t>α</m:t>
                                                          </m:r>
                                                        </m:e>
                                                      </m:box>
                                                    </m:e>
                                                  </m:bar>
                                                </m:e>
                                                <m:sub>
                                                  <m:r>
                                                    <a:rPr sz="1700">
                                                      <a:solidFill>
                                                        <a:srgbClr val="1F2937"/>
                                                      </a:solidFill>
                                                    </a:rPr>
                                                    <m:rPr>
                                                      <m:sty m:val="i"/>
                                                    </m:rPr>
                                                    <m:t>t</m:t>
                                                  </m:r>
                                                </m:sub>
                                              </m:sSub>
                                            </m:e>
                                          </m:box>
                                        </m:e>
                                      </m:box>
                                    </m:e>
                                  </m:rad>
                                  <m:r>
                                    <a:rPr sz="1700">
                                      <a:solidFill>
                                        <a:srgbClr val="1F2937"/>
                                      </a:solidFill>
                                    </a:rPr>
                                    <m:t/>
                                  </m:r>
                                  <m:r>
                                    <a:rPr sz="17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ϵ</m:t>
                                  </m:r>
                                </m:e>
                              </m:box>
                            </m:num>
                            <m:den>
                              <m:box>
                                <m:e>
                                  <m:rad>
                                    <m:e>
                                      <m:box>
                                        <m:e>
                                          <m:box>
                                            <m:e>
                                              <m:sSub>
                                                <m:e>
                                                  <m:bar>
                                                    <m:barPr>
                                                      <m:pos m:val="top"/>
                                                    </m:barPr>
                                                    <m:e>
                                                      <m:box>
                                                        <m:e>
                                                          <m:r>
                                                            <a:rPr sz="1700">
                                                              <a:solidFill>
                                                                <a:srgbClr val="1F2937"/>
                                                              </a:solidFill>
                                                            </a:rPr>
                                                            <m:rPr>
                                                              <m:sty m:val="i"/>
                                                            </m:rPr>
                                                            <m:t>α</m:t>
                                                          </m:r>
                                                        </m:e>
                                                      </m:box>
                                                    </m:e>
                                                  </m:bar>
                                                </m:e>
                                                <m:sub>
                                                  <m:r>
                                                    <a:rPr sz="1700">
                                                      <a:solidFill>
                                                        <a:srgbClr val="1F2937"/>
                                                      </a:solidFill>
                                                    </a:rPr>
                                                    <m:rPr>
                                                      <m:sty m:val="i"/>
                                                    </m:rPr>
                                                    <m:t>t</m:t>
                                                  </m:r>
                                                </m:sub>
                                              </m:sSub>
                                            </m:e>
                                          </m:box>
                                        </m:e>
                                      </m:box>
                                    </m:e>
                                  </m:rad>
                                </m:e>
                              </m:box>
                            </m:den>
                          </m:f>
                        </m:e>
                      </m:box>
                    </m:oMath>
                  </m:oMathPara>
                </a14:m>
              </mc:Choice>
              <mc:Fallback>
                <a:r>
                  <a:t>x_0 = (x_t - sqrt(1-bar_alpha_t) eps)/sqrt(bar_alpha_t)</a:t>
                </a:r>
              </mc:Fallback>
            </mc:AlternateContent>
            <a:endParaRPr lang="zh-CN"/>
          </a:p>
        </p:txBody>
      </p:sp>
      <p:sp>
        <p:nvSpPr>
          <p:cNvPr id="20" name="TextBox 19"/>
          <p:cNvSpPr txBox="1"/>
          <p:nvPr/>
        </p:nvSpPr>
        <p:spPr>
          <a:xfrm>
            <a:off x="1933412" y="2871216"/>
            <a:ext cx="3814136" cy="7863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 xmlns:a14="http://schemas.microsoft.com/office/drawing/2010/main" xmlns:mc="http://schemas.openxmlformats.org/markup-compatibility/2006" xmlns:m="http://schemas.openxmlformats.org/officeDocument/2006/math">
            <a:pPr algn="ctr">
              <a:defRPr sz="1900"/>
            </a:pPr>
            <mc:AlternateContent>
              <mc:Choice Requires="a14">
                <a14:m>
                  <m:oMathPara>
                    <m:oMathParaPr>
                      <m:jc m:val="center"/>
                    </m:oMathParaPr>
                    <m:oMath>
                      <m:box>
                        <m:e>
                          <m:sSub>
                            <m:e>
                              <m:limUpp>
                                <m:e>
                                  <m:box>
                                    <m:e>
                                      <m:r>
                                        <a:rPr sz="19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i"/>
                                        </m:rPr>
                                        <m:t>μ</m:t>
                                      </m:r>
                                    </m:e>
                                  </m:box>
                                </m:e>
                                <m:lim>
                                  <m:r>
                                    <a:rPr sz="1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p"/>
                                    </m:rPr>
                                    <m:t>~</m:t>
                                  </m:r>
                                </m:lim>
                              </m:limUpp>
                            </m:e>
                            <m:sub>
                              <m:r>
                                <a:rPr sz="19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t</m:t>
                              </m:r>
                            </m:sub>
                          </m:sSub>
                          <m:r>
                            <a:rPr sz="19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=</m:t>
                          </m:r>
                          <m:f>
                            <m:num>
                              <m:box>
                                <m:e>
                                  <m:r>
                                    <a:rPr sz="1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p"/>
                                    </m:rPr>
                                    <m:t>1</m:t>
                                  </m:r>
                                </m:e>
                              </m:box>
                            </m:num>
                            <m:den>
                              <m:box>
                                <m:e>
                                  <m:rad>
                                    <m:e>
                                      <m:box>
                                        <m:e>
                                          <m:box>
                                            <m:e>
                                              <m:sSub>
                                                <m:e>
                                                  <m:r>
                                                    <a:rPr sz="1900">
                                                      <a:solidFill>
                                                        <a:srgbClr val="1F2937"/>
                                                      </a:solidFill>
                                                    </a:rPr>
                                                    <m:rPr>
                                                      <m:sty m:val="i"/>
                                                    </m:rPr>
                                                    <m:t>α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sz="1900">
                                                      <a:solidFill>
                                                        <a:srgbClr val="1F2937"/>
                                                      </a:solidFill>
                                                    </a:rPr>
                                                    <m:rPr>
                                                      <m:sty m:val="i"/>
                                                    </m:rPr>
                                                    <m:t>t</m:t>
                                                  </m:r>
                                                </m:sub>
                                              </m:sSub>
                                            </m:e>
                                          </m:box>
                                        </m:e>
                                      </m:box>
                                    </m:e>
                                  </m:rad>
                                </m:e>
                              </m:box>
                            </m:den>
                          </m:f>
                          <m:box>
                            <m:e>
                              <m:d>
                                <m:dPr>
                                  <m:begChr m:val="("/>
                                  <m:endChr m:val=")"/>
                                </m:dPr>
                                <m:e>
                                  <m:box>
                                    <m:e>
                                      <m:sSub>
                                        <m:e>
                                          <m:r>
                                            <a:rPr sz="190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sz="190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t</m:t>
                                          </m:r>
                                        </m:sub>
                                      </m:sSub>
                                      <m:r>
                                        <a:rPr sz="19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−</m:t>
                                      </m:r>
                                      <m:f>
                                        <m:num>
                                          <m:box>
                                            <m:e>
                                              <m:sSub>
                                                <m:e>
                                                  <m:r>
                                                    <a:rPr sz="1900">
                                                      <a:solidFill>
                                                        <a:srgbClr val="1F2937"/>
                                                      </a:solidFill>
                                                    </a:rPr>
                                                    <m:rPr>
                                                      <m:sty m:val="i"/>
                                                    </m:rPr>
                                                    <m:t>β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sz="1900">
                                                      <a:solidFill>
                                                        <a:srgbClr val="1F2937"/>
                                                      </a:solidFill>
                                                    </a:rPr>
                                                    <m:rPr>
                                                      <m:sty m:val="i"/>
                                                    </m:rPr>
                                                    <m:t>t</m:t>
                                                  </m:r>
                                                </m:sub>
                                              </m:sSub>
                                            </m:e>
                                          </m:box>
                                        </m:num>
                                        <m:den>
                                          <m:box>
                                            <m:e>
                                              <m:rad>
                                                <m:e>
                                                  <m:box>
                                                    <m:e>
                                                      <m:box>
                                                        <m:e>
                                                          <m:r>
                                                            <a:rPr sz="1900">
                                                              <a:solidFill>
                                                                <a:srgbClr val="1F2937"/>
                                                              </a:solidFill>
                                                            </a:rPr>
                                                            <m:rPr>
                                                              <m:sty m:val="p"/>
                                                            </m:rPr>
                                                            <m:t>1</m:t>
                                                          </m:r>
                                                          <m:r>
                                                            <a:rPr sz="1900">
                                                              <a:solidFill>
                                                                <a:srgbClr val="1F2937"/>
                                                              </a:solidFill>
                                                            </a:rPr>
                                                            <m:rPr>
                                                              <m:sty m:val="p"/>
                                                            </m:rPr>
                                                            <m:t>−</m:t>
                                                          </m:r>
                                                          <m:sSub>
                                                            <m:e>
                                                              <m:bar>
                                                                <m:barPr>
                                                                  <m:pos m:val="top"/>
                                                                </m:barPr>
                                                                <m:e>
                                                                  <m:box>
                                                                    <m:e>
                                                                      <m:r>
                                                                        <a:rPr sz="1900">
                                                                          <a:solidFill>
                                                                            <a:srgbClr val="1F2937"/>
                                                                          </a:solidFill>
                                                                        </a:rPr>
                                                                        <m:rPr>
                                                                          <m:sty m:val="i"/>
                                                                        </m:rPr>
                                                                        <m:t>α</m:t>
                                                                      </m:r>
                                                                    </m:e>
                                                                  </m:box>
                                                                </m:e>
                                                              </m:bar>
                                                            </m:e>
                                                            <m:sub>
                                                              <m:r>
                                                                <a:rPr sz="1900">
                                                                  <a:solidFill>
                                                                    <a:srgbClr val="1F2937"/>
                                                                  </a:solidFill>
                                                                </a:rPr>
                                                                <m:rPr>
                                                                  <m:sty m:val="i"/>
                                                                </m:rPr>
                                                                <m:t>t</m:t>
                                                              </m:r>
                                                            </m:sub>
                                                          </m:sSub>
                                                        </m:e>
                                                      </m:box>
                                                    </m:e>
                                                  </m:box>
                                                </m:e>
                                              </m:rad>
                                            </m:e>
                                          </m:box>
                                        </m:den>
                                      </m:f>
                                      <m:r>
                                        <a:rPr sz="19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t/>
                                      </m:r>
                                      <m:r>
                                        <a:rPr sz="19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i"/>
                                        </m:rPr>
                                        <m:t>ϵ</m:t>
                                      </m:r>
                                    </m:e>
                                  </m:box>
                                </m:e>
                              </m:d>
                            </m:e>
                          </m:box>
                        </m:e>
                      </m:box>
                    </m:oMath>
                  </m:oMathPara>
                </a14:m>
              </mc:Choice>
              <mc:Fallback>
                <a:r>
                  <a:t>mu~_t = 1/sqrt(alpha_t) (x_t - beta_t/sqrt(1-bar_alpha_t) eps)</a:t>
                </a:r>
              </mc:Fallback>
            </mc:AlternateContent>
            <a:endParaRPr lang="zh-CN"/>
          </a:p>
        </p:txBody>
      </p:sp>
      <p:sp>
        <p:nvSpPr>
          <p:cNvPr id="21" name="TextBox 20"/>
          <p:cNvSpPr txBox="1"/>
          <p:nvPr/>
        </p:nvSpPr>
        <p:spPr>
          <a:xfrm>
            <a:off x="997723" y="4261104"/>
            <a:ext cx="5639794" cy="7863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 xmlns:a14="http://schemas.microsoft.com/office/drawing/2010/main" xmlns:mc="http://schemas.openxmlformats.org/markup-compatibility/2006" xmlns:m="http://schemas.openxmlformats.org/officeDocument/2006/math">
            <a:pPr algn="ctr">
              <a:defRPr sz="1900"/>
            </a:pPr>
            <mc:AlternateContent>
              <mc:Choice Requires="a14">
                <a14:m>
                  <m:oMathPara>
                    <m:oMathParaPr>
                      <m:jc m:val="center"/>
                    </m:oMathParaPr>
                    <m:oMath>
                      <m:box>
                        <m:e>
                          <m:sSub>
                            <m:e>
                              <m:r>
                                <a:rPr sz="19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μ</m:t>
                              </m:r>
                            </m:e>
                            <m:sub>
                              <m:r>
                                <a:rPr sz="19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θ</m:t>
                              </m:r>
                            </m:sub>
                          </m:sSub>
                          <m:r>
                            <a:rPr sz="19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r>
                                <a:rPr sz="19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x</m:t>
                              </m:r>
                            </m:e>
                            <m:sub>
                              <m:r>
                                <a:rPr sz="19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t</m:t>
                              </m:r>
                            </m:sub>
                          </m:sSub>
                          <m:r>
                            <a:rPr sz="19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,</m:t>
                          </m:r>
                          <m:r>
                            <a:rPr sz="1900">
                              <a:solidFill>
                                <a:srgbClr val="1F2937"/>
                              </a:solidFill>
                            </a:rPr>
                            <m:rPr>
                              <m:sty m:val="i"/>
                            </m:rPr>
                            <m:t>t</m:t>
                          </m:r>
                          <m:r>
                            <a:rPr sz="19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)</m:t>
                          </m:r>
                          <m:r>
                            <a:rPr sz="19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=</m:t>
                          </m:r>
                          <m:f>
                            <m:num>
                              <m:box>
                                <m:e>
                                  <m:r>
                                    <a:rPr sz="1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p"/>
                                    </m:rPr>
                                    <m:t>1</m:t>
                                  </m:r>
                                </m:e>
                              </m:box>
                            </m:num>
                            <m:den>
                              <m:box>
                                <m:e>
                                  <m:rad>
                                    <m:e>
                                      <m:box>
                                        <m:e>
                                          <m:box>
                                            <m:e>
                                              <m:sSub>
                                                <m:e>
                                                  <m:r>
                                                    <a:rPr sz="1900">
                                                      <a:solidFill>
                                                        <a:srgbClr val="1F2937"/>
                                                      </a:solidFill>
                                                    </a:rPr>
                                                    <m:rPr>
                                                      <m:sty m:val="i"/>
                                                    </m:rPr>
                                                    <m:t>α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sz="1900">
                                                      <a:solidFill>
                                                        <a:srgbClr val="1F2937"/>
                                                      </a:solidFill>
                                                    </a:rPr>
                                                    <m:rPr>
                                                      <m:sty m:val="i"/>
                                                    </m:rPr>
                                                    <m:t>t</m:t>
                                                  </m:r>
                                                </m:sub>
                                              </m:sSub>
                                            </m:e>
                                          </m:box>
                                        </m:e>
                                      </m:box>
                                    </m:e>
                                  </m:rad>
                                </m:e>
                              </m:box>
                            </m:den>
                          </m:f>
                          <m:box>
                            <m:e>
                              <m:d>
                                <m:dPr>
                                  <m:begChr m:val="("/>
                                  <m:endChr m:val=")"/>
                                </m:dPr>
                                <m:e>
                                  <m:box>
                                    <m:e>
                                      <m:sSub>
                                        <m:e>
                                          <m:r>
                                            <a:rPr sz="190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sz="190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t</m:t>
                                          </m:r>
                                        </m:sub>
                                      </m:sSub>
                                      <m:r>
                                        <a:rPr sz="19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−</m:t>
                                      </m:r>
                                      <m:f>
                                        <m:num>
                                          <m:box>
                                            <m:e>
                                              <m:sSub>
                                                <m:e>
                                                  <m:r>
                                                    <a:rPr sz="1900">
                                                      <a:solidFill>
                                                        <a:srgbClr val="1F2937"/>
                                                      </a:solidFill>
                                                    </a:rPr>
                                                    <m:rPr>
                                                      <m:sty m:val="i"/>
                                                    </m:rPr>
                                                    <m:t>β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sz="1900">
                                                      <a:solidFill>
                                                        <a:srgbClr val="1F2937"/>
                                                      </a:solidFill>
                                                    </a:rPr>
                                                    <m:rPr>
                                                      <m:sty m:val="i"/>
                                                    </m:rPr>
                                                    <m:t>t</m:t>
                                                  </m:r>
                                                </m:sub>
                                              </m:sSub>
                                            </m:e>
                                          </m:box>
                                        </m:num>
                                        <m:den>
                                          <m:box>
                                            <m:e>
                                              <m:rad>
                                                <m:e>
                                                  <m:box>
                                                    <m:e>
                                                      <m:box>
                                                        <m:e>
                                                          <m:r>
                                                            <a:rPr sz="1900">
                                                              <a:solidFill>
                                                                <a:srgbClr val="1F2937"/>
                                                              </a:solidFill>
                                                            </a:rPr>
                                                            <m:rPr>
                                                              <m:sty m:val="p"/>
                                                            </m:rPr>
                                                            <m:t>1</m:t>
                                                          </m:r>
                                                          <m:r>
                                                            <a:rPr sz="1900">
                                                              <a:solidFill>
                                                                <a:srgbClr val="1F2937"/>
                                                              </a:solidFill>
                                                            </a:rPr>
                                                            <m:rPr>
                                                              <m:sty m:val="p"/>
                                                            </m:rPr>
                                                            <m:t>−</m:t>
                                                          </m:r>
                                                          <m:sSub>
                                                            <m:e>
                                                              <m:bar>
                                                                <m:barPr>
                                                                  <m:pos m:val="top"/>
                                                                </m:barPr>
                                                                <m:e>
                                                                  <m:box>
                                                                    <m:e>
                                                                      <m:r>
                                                                        <a:rPr sz="1900">
                                                                          <a:solidFill>
                                                                            <a:srgbClr val="1F2937"/>
                                                                          </a:solidFill>
                                                                        </a:rPr>
                                                                        <m:rPr>
                                                                          <m:sty m:val="i"/>
                                                                        </m:rPr>
                                                                        <m:t>α</m:t>
                                                                      </m:r>
                                                                    </m:e>
                                                                  </m:box>
                                                                </m:e>
                                                              </m:bar>
                                                            </m:e>
                                                            <m:sub>
                                                              <m:r>
                                                                <a:rPr sz="1900">
                                                                  <a:solidFill>
                                                                    <a:srgbClr val="1F2937"/>
                                                                  </a:solidFill>
                                                                </a:rPr>
                                                                <m:rPr>
                                                                  <m:sty m:val="i"/>
                                                                </m:rPr>
                                                                <m:t>t</m:t>
                                                              </m:r>
                                                            </m:sub>
                                                          </m:sSub>
                                                        </m:e>
                                                      </m:box>
                                                    </m:e>
                                                  </m:box>
                                                </m:e>
                                              </m:rad>
                                            </m:e>
                                          </m:box>
                                        </m:den>
                                      </m:f>
                                      <m:r>
                                        <a:rPr sz="19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t/>
                                      </m:r>
                                      <m:sSub>
                                        <m:e>
                                          <m:r>
                                            <a:rPr sz="190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ϵ</m:t>
                                          </m:r>
                                        </m:e>
                                        <m:sub>
                                          <m:r>
                                            <a:rPr sz="190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θ</m:t>
                                          </m:r>
                                        </m:sub>
                                      </m:sSub>
                                      <m:r>
                                        <a:rPr sz="19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(</m:t>
                                      </m:r>
                                      <m:sSub>
                                        <m:e>
                                          <m:r>
                                            <a:rPr sz="190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sz="190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t</m:t>
                                          </m:r>
                                        </m:sub>
                                      </m:sSub>
                                      <m:r>
                                        <a:rPr sz="19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,</m:t>
                                      </m:r>
                                      <m:r>
                                        <a:rPr sz="19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i"/>
                                        </m:rPr>
                                        <m:t>t</m:t>
                                      </m:r>
                                      <m:r>
                                        <a:rPr sz="19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)</m:t>
                                      </m:r>
                                    </m:e>
                                  </m:box>
                                </m:e>
                              </m:d>
                            </m:e>
                          </m:box>
                        </m:e>
                      </m:box>
                    </m:oMath>
                  </m:oMathPara>
                </a14:m>
              </mc:Choice>
              <mc:Fallback>
                <a:r>
                  <a:t>mu_theta = 1/sqrt(alpha_t) (x_t - beta_t/sqrt(1-bar_alpha_t) eps_theta(x_t,t))</a:t>
                </a:r>
              </mc:Fallback>
            </mc:AlternateContent>
            <a:endParaRPr 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 · 训练目标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 ELBO 到 ε-预测：三步化简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67208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9D5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13232" y="223113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变分下界：先验项 L_T（无参数）+ 各去噪步 L_{t−1} + 重建项 L₀（常忽略）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2788920"/>
            <a:ext cx="672084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D9D5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13232" y="356616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每个去噪步 = 两个固定方差高斯的 KL → 有闭式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57200" y="4114800"/>
            <a:ext cx="672084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9D5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713232" y="495604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把 μ_θ 代入化简 → 简化目标：MSE 猜噪声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7498080" y="1554480"/>
            <a:ext cx="42062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L_T 无参数、L₀ 常忽略 → 学习压力全部落在去噪步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KL 闭式 = 均值之差×系数；代入 μ_θ 后只剩 ε − ε_θ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为什么预测 ε 而非 x₀：ε 对所有 t 统计相同，损失尺度均匀；预测 x₀ 则误差随 t 剧烈变化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57200" y="65105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Source: Ho et al. 2020 (DDPM), Eq. (8)(14)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1050" dirty="0"/>
          </a:p>
        </p:txBody>
      </p:sp>
      <p:sp>
        <p:nvSpPr>
          <p:cNvPr id="16" name="TextBox 15"/>
          <p:cNvSpPr txBox="1"/>
          <p:nvPr/>
        </p:nvSpPr>
        <p:spPr>
          <a:xfrm>
            <a:off x="2124844" y="1536192"/>
            <a:ext cx="3431272" cy="7863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 xmlns:a14="http://schemas.microsoft.com/office/drawing/2010/main" xmlns:mc="http://schemas.openxmlformats.org/markup-compatibility/2006" xmlns:m="http://schemas.openxmlformats.org/officeDocument/2006/math">
            <a:pPr algn="ctr">
              <a:defRPr sz="1500"/>
            </a:pPr>
            <mc:AlternateContent>
              <mc:Choice Requires="a14">
                <a14:m>
                  <m:oMathPara>
                    <m:oMathParaPr>
                      <m:jc m:val="center"/>
                    </m:oMathParaPr>
                    <m:oMath>
                      <m:box>
                        <m:e>
                          <m:sSub>
                            <m:e>
                              <m:r>
                                <a:rPr sz="15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L</m:t>
                              </m:r>
                            </m:e>
                            <m:sub>
                              <m:box>
                                <m:e>
                                  <m:r>
                                    <a:rPr sz="15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E</m:t>
                                  </m:r>
                                  <m:r>
                                    <a:rPr sz="15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L</m:t>
                                  </m:r>
                                  <m:r>
                                    <a:rPr sz="15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B</m:t>
                                  </m:r>
                                  <m:r>
                                    <a:rPr sz="15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O</m:t>
                                  </m:r>
                                </m:e>
                              </m:box>
                            </m:sub>
                          </m:sSub>
                          <m:r>
                            <a:rPr sz="15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=</m:t>
                          </m:r>
                          <m:sSub>
                            <m:e>
                              <m:r>
                                <a:rPr sz="15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L</m:t>
                              </m:r>
                            </m:e>
                            <m:sub>
                              <m:r>
                                <a:rPr sz="15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p"/>
                                </m:rPr>
                                <m:t>0</m:t>
                              </m:r>
                            </m:sub>
                          </m:sSub>
                          <m:r>
                            <a:rPr sz="15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+</m:t>
                          </m:r>
                          <m:nary>
                            <m:naryPr>
                              <m:chr m:val="∑"/>
                              <m:limLoc m:val="undOvr"/>
                            </m:naryPr>
                            <m:sub>
                              <m:box>
                                <m:e>
                                  <m:r>
                                    <a:rPr sz="15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t</m:t>
                                  </m:r>
                                  <m:r>
                                    <a:rPr sz="15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p"/>
                                    </m:rPr>
                                    <m:t>=</m:t>
                                  </m:r>
                                  <m:r>
                                    <a:rPr sz="15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p"/>
                                    </m:rPr>
                                    <m:t>2</m:t>
                                  </m:r>
                                </m:e>
                              </m:box>
                            </m:sub>
                            <m:sup>
                              <m:box>
                                <m:e>
                                  <m:r>
                                    <a:rPr sz="15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T</m:t>
                                  </m:r>
                                </m:e>
                              </m:box>
                            </m:sup>
                            <m:e>
                              <m:sSub>
                                <m:e>
                                  <m:r>
                                    <a:rPr sz="15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L</m:t>
                                  </m:r>
                                </m:e>
                                <m:sub>
                                  <m:box>
                                    <m:e>
                                      <m:r>
                                        <a:rPr sz="15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i"/>
                                        </m:rPr>
                                        <m:t>t</m:t>
                                      </m:r>
                                      <m:r>
                                        <a:rPr sz="15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−</m:t>
                                      </m:r>
                                      <m:r>
                                        <a:rPr sz="15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1</m:t>
                                      </m:r>
                                    </m:e>
                                  </m:box>
                                </m:sub>
                              </m:sSub>
                              <m:r>
                                <a:rPr sz="15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p"/>
                                </m:rPr>
                                <m:t>+</m:t>
                              </m:r>
                              <m:sSub>
                                <m:e>
                                  <m:r>
                                    <a:rPr sz="15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L</m:t>
                                  </m:r>
                                </m:e>
                                <m:sub>
                                  <m:r>
                                    <a:rPr sz="15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T</m:t>
                                  </m:r>
                                </m:sub>
                              </m:sSub>
                            </m:e>
                          </m:nary>
                        </m:e>
                      </m:box>
                    </m:oMath>
                  </m:oMathPara>
                </a14:m>
              </mc:Choice>
              <mc:Fallback>
                <a:r>
                  <a:t>L_ELBO = L_0 + sum_{t=2}^T L_{t-1} + L_T</a:t>
                </a:r>
              </mc:Fallback>
            </mc:AlternateContent>
            <a:endParaRPr lang="zh-CN"/>
          </a:p>
        </p:txBody>
      </p:sp>
      <p:sp>
        <p:nvSpPr>
          <p:cNvPr id="17" name="TextBox 16"/>
          <p:cNvSpPr txBox="1"/>
          <p:nvPr/>
        </p:nvSpPr>
        <p:spPr>
          <a:xfrm>
            <a:off x="806732" y="2962656"/>
            <a:ext cx="6021776" cy="60350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 xmlns:a14="http://schemas.microsoft.com/office/drawing/2010/main" xmlns:mc="http://schemas.openxmlformats.org/markup-compatibility/2006" xmlns:m="http://schemas.openxmlformats.org/officeDocument/2006/math">
            <a:pPr algn="ctr">
              <a:defRPr sz="2100"/>
            </a:pPr>
            <mc:AlternateContent>
              <mc:Choice Requires="a14">
                <a14:m>
                  <m:oMathPara>
                    <m:oMathParaPr>
                      <m:jc m:val="center"/>
                    </m:oMathParaPr>
                    <m:oMath>
                      <m:box>
                        <m:e>
                          <m:sSub>
                            <m:e>
                              <m:r>
                                <a:rPr sz="21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L</m:t>
                              </m:r>
                            </m:e>
                            <m:sub>
                              <m:box>
                                <m:e>
                                  <m:r>
                                    <a:rPr sz="21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t</m:t>
                                  </m:r>
                                  <m:r>
                                    <a:rPr sz="21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p"/>
                                    </m:rPr>
                                    <m:t>−</m:t>
                                  </m:r>
                                  <m:r>
                                    <a:rPr sz="21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p"/>
                                    </m:rPr>
                                    <m:t>1</m:t>
                                  </m:r>
                                </m:e>
                              </m:box>
                            </m:sub>
                          </m:sSub>
                          <m:r>
                            <a:rPr sz="21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=</m:t>
                          </m:r>
                          <m:sSub>
                            <m:e>
                              <m:r>
                                <a:rPr sz="21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D</m:t>
                              </m:r>
                            </m:e>
                            <m:sub>
                              <m:box>
                                <m:e>
                                  <m:r>
                                    <a:rPr sz="21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K</m:t>
                                  </m:r>
                                  <m:r>
                                    <a:rPr sz="21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L</m:t>
                                  </m:r>
                                </m:e>
                              </m:box>
                            </m:sub>
                          </m:sSub>
                          <m:box>
                            <m:e>
                              <m:d>
                                <m:dPr>
                                  <m:begChr m:val="("/>
                                  <m:endChr m:val=")"/>
                                </m:dPr>
                                <m:e>
                                  <m:box>
                                    <m:e>
                                      <m:r>
                                        <a:rPr sz="21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t/>
                                      </m:r>
                                      <m:r>
                                        <a:rPr sz="21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i"/>
                                        </m:rPr>
                                        <m:t>q</m:t>
                                      </m:r>
                                      <m:r>
                                        <a:rPr sz="21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(</m:t>
                                      </m:r>
                                      <m:sSub>
                                        <m:e>
                                          <m:r>
                                            <a:rPr sz="210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x</m:t>
                                          </m:r>
                                        </m:e>
                                        <m:sub>
                                          <m:box>
                                            <m:e>
                                              <m:r>
                                                <a:rPr sz="2100">
                                                  <a:solidFill>
                                                    <a:srgbClr val="1F2937"/>
                                                  </a:solidFill>
                                                </a:rPr>
                                                <m:rPr>
                                                  <m:sty m:val="i"/>
                                                </m:rPr>
                                                <m:t>t</m:t>
                                              </m:r>
                                              <m:r>
                                                <a:rPr sz="2100">
                                                  <a:solidFill>
                                                    <a:srgbClr val="1F2937"/>
                                                  </a:solidFill>
                                                </a:rPr>
                                                <m:rPr>
                                                  <m:sty m:val="p"/>
                                                </m:rPr>
                                                <m:t>−</m:t>
                                              </m:r>
                                              <m:r>
                                                <a:rPr sz="2100">
                                                  <a:solidFill>
                                                    <a:srgbClr val="1F2937"/>
                                                  </a:solidFill>
                                                </a:rPr>
                                                <m:rPr>
                                                  <m:sty m:val="p"/>
                                                </m:rPr>
                                                <m:t>1</m:t>
                                              </m:r>
                                            </m:e>
                                          </m:box>
                                        </m:sub>
                                      </m:sSub>
                                      <m:r>
                                        <a:rPr sz="21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∣</m:t>
                                      </m:r>
                                      <m:sSub>
                                        <m:e>
                                          <m:r>
                                            <a:rPr sz="210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sz="210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t</m:t>
                                          </m:r>
                                        </m:sub>
                                      </m:sSub>
                                      <m:r>
                                        <a:rPr sz="21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,</m:t>
                                      </m:r>
                                      <m:sSub>
                                        <m:e>
                                          <m:r>
                                            <a:rPr sz="210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sz="210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p"/>
                                            </m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sz="21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)</m:t>
                                      </m:r>
                                      <m:r>
                                        <a:rPr sz="21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t/>
                                      </m:r>
                                      <m:r>
                                        <a:rPr sz="21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‖</m:t>
                                      </m:r>
                                      <m:r>
                                        <a:rPr sz="21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t/>
                                      </m:r>
                                      <m:sSub>
                                        <m:e>
                                          <m:r>
                                            <a:rPr sz="210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p</m:t>
                                          </m:r>
                                        </m:e>
                                        <m:sub>
                                          <m:r>
                                            <a:rPr sz="210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θ</m:t>
                                          </m:r>
                                        </m:sub>
                                      </m:sSub>
                                      <m:r>
                                        <a:rPr sz="21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(</m:t>
                                      </m:r>
                                      <m:sSub>
                                        <m:e>
                                          <m:r>
                                            <a:rPr sz="210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x</m:t>
                                          </m:r>
                                        </m:e>
                                        <m:sub>
                                          <m:box>
                                            <m:e>
                                              <m:r>
                                                <a:rPr sz="2100">
                                                  <a:solidFill>
                                                    <a:srgbClr val="1F2937"/>
                                                  </a:solidFill>
                                                </a:rPr>
                                                <m:rPr>
                                                  <m:sty m:val="i"/>
                                                </m:rPr>
                                                <m:t>t</m:t>
                                              </m:r>
                                              <m:r>
                                                <a:rPr sz="2100">
                                                  <a:solidFill>
                                                    <a:srgbClr val="1F2937"/>
                                                  </a:solidFill>
                                                </a:rPr>
                                                <m:rPr>
                                                  <m:sty m:val="p"/>
                                                </m:rPr>
                                                <m:t>−</m:t>
                                              </m:r>
                                              <m:r>
                                                <a:rPr sz="2100">
                                                  <a:solidFill>
                                                    <a:srgbClr val="1F2937"/>
                                                  </a:solidFill>
                                                </a:rPr>
                                                <m:rPr>
                                                  <m:sty m:val="p"/>
                                                </m:rPr>
                                                <m:t>1</m:t>
                                              </m:r>
                                            </m:e>
                                          </m:box>
                                        </m:sub>
                                      </m:sSub>
                                      <m:r>
                                        <a:rPr sz="21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∣</m:t>
                                      </m:r>
                                      <m:sSub>
                                        <m:e>
                                          <m:r>
                                            <a:rPr sz="210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a:rPr sz="210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t</m:t>
                                          </m:r>
                                        </m:sub>
                                      </m:sSub>
                                      <m:r>
                                        <a:rPr sz="21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)</m:t>
                                      </m:r>
                                    </m:e>
                                  </m:box>
                                </m:e>
                              </m:d>
                            </m:e>
                          </m:box>
                        </m:e>
                      </m:box>
                    </m:oMath>
                  </m:oMathPara>
                </a14:m>
              </mc:Choice>
              <mc:Fallback>
                <a:r>
                  <a:t>L_{t-1} = D_KL(q || p_theta)</a:t>
                </a:r>
              </mc:Fallback>
            </mc:AlternateContent>
            <a:endParaRPr lang="zh-CN"/>
          </a:p>
        </p:txBody>
      </p:sp>
      <p:sp>
        <p:nvSpPr>
          <p:cNvPr id="18" name="TextBox 17"/>
          <p:cNvSpPr txBox="1"/>
          <p:nvPr/>
        </p:nvSpPr>
        <p:spPr>
          <a:xfrm>
            <a:off x="685800" y="4310802"/>
            <a:ext cx="6263640" cy="5955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 xmlns:a14="http://schemas.microsoft.com/office/drawing/2010/main" xmlns:mc="http://schemas.openxmlformats.org/markup-compatibility/2006" xmlns:m="http://schemas.openxmlformats.org/officeDocument/2006/math">
            <a:pPr algn="ctr">
              <a:defRPr sz="2750"/>
            </a:pPr>
            <mc:AlternateContent>
              <mc:Choice Requires="a14">
                <a14:m>
                  <m:oMathPara>
                    <m:oMathParaPr>
                      <m:jc m:val="center"/>
                    </m:oMathParaPr>
                    <m:oMath>
                      <m:box>
                        <m:e>
                          <m:sSub>
                            <m:e>
                              <m:r>
                                <a:rPr sz="275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L</m:t>
                              </m:r>
                            </m:e>
                            <m:sub>
                              <m:box>
                                <m:e>
                                  <m:r>
                                    <a:rPr sz="27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s</m:t>
                                  </m:r>
                                  <m:r>
                                    <a:rPr sz="27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i</m:t>
                                  </m:r>
                                  <m:r>
                                    <a:rPr sz="27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m</m:t>
                                  </m:r>
                                  <m:r>
                                    <a:rPr sz="27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p</m:t>
                                  </m:r>
                                  <m:r>
                                    <a:rPr sz="27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l</m:t>
                                  </m:r>
                                  <m:r>
                                    <a:rPr sz="27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e</m:t>
                                  </m:r>
                                </m:e>
                              </m:box>
                            </m:sub>
                          </m:sSub>
                          <m:r>
                            <a:rPr sz="275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=</m:t>
                          </m:r>
                          <m:sSub>
                            <m:e>
                              <m:r>
                                <a:rPr sz="275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𝔼</m:t>
                              </m:r>
                            </m:e>
                            <m:sub>
                              <m:box>
                                <m:e>
                                  <m:sSub>
                                    <m:e>
                                      <m:r>
                                        <a:rPr sz="275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i"/>
                                        </m:rPr>
                                        <m:t>x</m:t>
                                      </m:r>
                                    </m:e>
                                    <m:sub>
                                      <m:r>
                                        <a:rPr sz="275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0</m:t>
                                      </m:r>
                                    </m:sub>
                                  </m:sSub>
                                  <m:r>
                                    <a:rPr sz="27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p"/>
                                    </m:rPr>
                                    <m:t>,</m:t>
                                  </m:r>
                                  <m:r>
                                    <a:rPr sz="2750">
                                      <a:solidFill>
                                        <a:srgbClr val="1F2937"/>
                                      </a:solidFill>
                                    </a:rPr>
                                    <m:t/>
                                  </m:r>
                                  <m:r>
                                    <a:rPr sz="27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ϵ</m:t>
                                  </m:r>
                                  <m:r>
                                    <a:rPr sz="27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~</m:t>
                                  </m:r>
                                  <m:r>
                                    <a:rPr sz="27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𝒩</m:t>
                                  </m:r>
                                  <m:r>
                                    <a:rPr sz="27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p"/>
                                    </m:rPr>
                                    <m:t>(</m:t>
                                  </m:r>
                                  <m:r>
                                    <a:rPr sz="27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p"/>
                                    </m:rPr>
                                    <m:t>0</m:t>
                                  </m:r>
                                  <m:r>
                                    <a:rPr sz="27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p"/>
                                    </m:rPr>
                                    <m:t>,</m:t>
                                  </m:r>
                                  <m:r>
                                    <a:rPr sz="27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𝐈</m:t>
                                  </m:r>
                                  <m:r>
                                    <a:rPr sz="27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p"/>
                                    </m:rPr>
                                    <m:t>)</m:t>
                                  </m:r>
                                  <m:r>
                                    <a:rPr sz="27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p"/>
                                    </m:rPr>
                                    <m:t>,</m:t>
                                  </m:r>
                                  <m:r>
                                    <a:rPr sz="2750">
                                      <a:solidFill>
                                        <a:srgbClr val="1F2937"/>
                                      </a:solidFill>
                                    </a:rPr>
                                    <m:t/>
                                  </m:r>
                                  <m:r>
                                    <a:rPr sz="27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t</m:t>
                                  </m:r>
                                </m:e>
                              </m:box>
                            </m:sub>
                          </m:sSub>
                          <m:box>
                            <m:e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box>
                                    <m:e>
                                      <m:sSubSup>
                                        <m:e>
                                          <m:box>
                                            <m:e>
                                              <m:d>
                                                <m:dPr>
                                                  <m:begChr m:val="‖"/>
                                                  <m:endChr m:val="‖"/>
                                                </m:dPr>
                                                <m:e>
                                                  <m:box>
                                                    <m:e>
                                                      <m:r>
                                                        <a:rPr sz="2750">
                                                          <a:solidFill>
                                                            <a:srgbClr val="1F2937"/>
                                                          </a:solidFill>
                                                        </a:rPr>
                                                        <m:rPr>
                                                          <m:sty m:val="i"/>
                                                        </m:rPr>
                                                        <m:t>ϵ</m:t>
                                                      </m:r>
                                                      <m:r>
                                                        <a:rPr sz="2750">
                                                          <a:solidFill>
                                                            <a:srgbClr val="1F2937"/>
                                                          </a:solidFill>
                                                        </a:rPr>
                                                        <m:rPr>
                                                          <m:sty m:val="p"/>
                                                        </m:rPr>
                                                        <m:t>−</m:t>
                                                      </m:r>
                                                      <m:sSub>
                                                        <m:e>
                                                          <m:r>
                                                            <a:rPr sz="2750">
                                                              <a:solidFill>
                                                                <a:srgbClr val="1F2937"/>
                                                              </a:solidFill>
                                                            </a:rPr>
                                                            <m:rPr>
                                                              <m:sty m:val="i"/>
                                                            </m:rPr>
                                                            <m:t>ϵ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sz="2750">
                                                              <a:solidFill>
                                                                <a:srgbClr val="1F2937"/>
                                                              </a:solidFill>
                                                            </a:rPr>
                                                            <m:rPr>
                                                              <m:sty m:val="i"/>
                                                            </m:rPr>
                                                            <m:t>θ</m:t>
                                                          </m:r>
                                                        </m:sub>
                                                      </m:sSub>
                                                      <m:r>
                                                        <a:rPr sz="2750">
                                                          <a:solidFill>
                                                            <a:srgbClr val="1F2937"/>
                                                          </a:solidFill>
                                                        </a:rPr>
                                                        <m:rPr>
                                                          <m:sty m:val="p"/>
                                                        </m:rPr>
                                                        <m:t>(</m:t>
                                                      </m:r>
                                                      <m:sSub>
                                                        <m:e>
                                                          <m:r>
                                                            <a:rPr sz="2750">
                                                              <a:solidFill>
                                                                <a:srgbClr val="1F2937"/>
                                                              </a:solidFill>
                                                            </a:rPr>
                                                            <m:rPr>
                                                              <m:sty m:val="i"/>
                                                            </m:rPr>
                                                            <m:t>x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sz="2750">
                                                              <a:solidFill>
                                                                <a:srgbClr val="1F2937"/>
                                                              </a:solidFill>
                                                            </a:rPr>
                                                            <m:rPr>
                                                              <m:sty m:val="i"/>
                                                            </m:rPr>
                                                            <m:t>t</m:t>
                                                          </m:r>
                                                        </m:sub>
                                                      </m:sSub>
                                                      <m:r>
                                                        <a:rPr sz="2750">
                                                          <a:solidFill>
                                                            <a:srgbClr val="1F2937"/>
                                                          </a:solidFill>
                                                        </a:rPr>
                                                        <m:rPr>
                                                          <m:sty m:val="p"/>
                                                        </m:rPr>
                                                        <m:t>,</m:t>
                                                      </m:r>
                                                      <m:r>
                                                        <a:rPr sz="2750">
                                                          <a:solidFill>
                                                            <a:srgbClr val="1F2937"/>
                                                          </a:solidFill>
                                                        </a:rPr>
                                                        <m:rPr>
                                                          <m:sty m:val="i"/>
                                                        </m:rPr>
                                                        <m:t>t</m:t>
                                                      </m:r>
                                                      <m:r>
                                                        <a:rPr sz="2750">
                                                          <a:solidFill>
                                                            <a:srgbClr val="1F2937"/>
                                                          </a:solidFill>
                                                        </a:rPr>
                                                        <m:rPr>
                                                          <m:sty m:val="p"/>
                                                        </m:rPr>
                                                        <m:t>)</m:t>
                                                      </m:r>
                                                    </m:e>
                                                  </m:box>
                                                </m:e>
                                              </m:d>
                                            </m:e>
                                          </m:box>
                                        </m:e>
                                        <m:sub>
                                          <m:r>
                                            <a:rPr sz="275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p"/>
                                            </m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sz="275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p"/>
                                            </m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box>
                                </m:e>
                              </m:d>
                            </m:e>
                          </m:box>
                        </m:e>
                      </m:box>
                    </m:oMath>
                  </m:oMathPara>
                </a14:m>
              </mc:Choice>
              <mc:Fallback>
                <a:r>
                  <a:t>L_simple = E[||eps - eps_theta(x_t,t)||^2]</a:t>
                </a:r>
              </mc:Fallback>
            </mc:AlternateContent>
            <a:endParaRPr 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 · 算法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训练与采样：各五行伪代码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3794760"/>
          </a:xfrm>
          <a:prstGeom prst="roundRect">
            <a:avLst>
              <a:gd name="adj" fmla="val 1687"/>
            </a:avLst>
          </a:prstGeom>
          <a:solidFill>
            <a:srgbClr val="FFFFFF"/>
          </a:solidFill>
          <a:ln w="12700">
            <a:solidFill>
              <a:srgbClr val="D9D5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642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训练（对应式③）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4937760" cy="2880360"/>
          </a:xfrm>
          <a:prstGeom prst="rect">
            <a:avLst/>
          </a:prstGeom>
          <a:solidFill>
            <a:srgbClr val="F6F5FB"/>
          </a:solidFill>
          <a:ln w="9525">
            <a:solidFill>
              <a:srgbClr val="E4E1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240280"/>
            <a:ext cx="4709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x₀ ~ 数据集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  ~ Uniform{1..T}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ε  ~ N(0, I)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x_t = √ᾱ_t·x₀ + √(1−ᾱ_t)·ε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梯度下降 ‖ε − ε_θ(x_t, t)‖²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until 收敛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5486400" cy="3794760"/>
          </a:xfrm>
          <a:prstGeom prst="roundRect">
            <a:avLst>
              <a:gd name="adj" fmla="val 1687"/>
            </a:avLst>
          </a:prstGeom>
          <a:solidFill>
            <a:srgbClr val="FFFFFF"/>
          </a:solidFill>
          <a:ln w="12700">
            <a:solidFill>
              <a:srgbClr val="D9D5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16642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采样（生成一张图）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537960" y="2148840"/>
            <a:ext cx="4937760" cy="2880360"/>
          </a:xfrm>
          <a:prstGeom prst="rect">
            <a:avLst/>
          </a:prstGeom>
          <a:solidFill>
            <a:srgbClr val="F6F5FB"/>
          </a:solidFill>
          <a:ln w="9525">
            <a:solidFill>
              <a:srgbClr val="E4E1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240280"/>
            <a:ext cx="4709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 ~ N(0, I)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 = T, …, 1: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z ~ N(0, I)   (t &gt; 1)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x_{t−1} = μ_θ(x_t, t) + σ_t·z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x₀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0" y="5486400"/>
            <a:ext cx="12188952" cy="566928"/>
          </a:xfrm>
          <a:prstGeom prst="rect">
            <a:avLst/>
          </a:prstGeom>
          <a:solidFill>
            <a:srgbClr val="EFEDF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548640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DDIM：把采样改成确定性、可跳步的版本 → 20–50 步即可出图（LDM 默认）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Source: Ho et al. 2020 (DDPM) Algorithms 1–2; Song et al. 2021 (DDIM)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 · 网络结构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去噪网络 U-Net：细节与语义的立交桥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68680" y="150876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5875">
            <a:solidFill>
              <a:srgbClr val="D9D5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3544" y="1508760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 x_t, 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68680" y="2395728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5875">
            <a:solidFill>
              <a:srgbClr val="4C3F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3544" y="2395728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编码器 · 降采样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143000" y="3246120"/>
            <a:ext cx="123444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5875">
            <a:solidFill>
              <a:srgbClr val="4C3F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97864" y="3246120"/>
            <a:ext cx="1124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417320" y="4041648"/>
            <a:ext cx="1024128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5875">
            <a:solidFill>
              <a:srgbClr val="4C3F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72184" y="404164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32120" y="2395728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EFEDF9"/>
          </a:solidFill>
          <a:ln w="15875">
            <a:solidFill>
              <a:srgbClr val="4C3FB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86984" y="2395728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解码器 · 升采样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40680" y="3246120"/>
            <a:ext cx="1234440" cy="621792"/>
          </a:xfrm>
          <a:prstGeom prst="roundRect">
            <a:avLst>
              <a:gd name="adj" fmla="val 7353"/>
            </a:avLst>
          </a:prstGeom>
          <a:solidFill>
            <a:srgbClr val="EFEDF9"/>
          </a:solidFill>
          <a:ln w="15875">
            <a:solidFill>
              <a:srgbClr val="4C3F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95544" y="3246120"/>
            <a:ext cx="11247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22392" y="4041648"/>
            <a:ext cx="1024128" cy="566928"/>
          </a:xfrm>
          <a:prstGeom prst="roundRect">
            <a:avLst>
              <a:gd name="adj" fmla="val 8065"/>
            </a:avLst>
          </a:prstGeom>
          <a:solidFill>
            <a:srgbClr val="EFEDF9"/>
          </a:solidFill>
          <a:ln w="15875">
            <a:solidFill>
              <a:srgbClr val="4C3FB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77256" y="404164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880360" y="4041648"/>
            <a:ext cx="2103120" cy="566928"/>
          </a:xfrm>
          <a:prstGeom prst="roundRect">
            <a:avLst>
              <a:gd name="adj" fmla="val 8065"/>
            </a:avLst>
          </a:prstGeom>
          <a:solidFill>
            <a:srgbClr val="E2DEF5"/>
          </a:solidFill>
          <a:ln w="15875">
            <a:solidFill>
              <a:srgbClr val="4C3FB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35224" y="4041648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瓶颈层（分辨率最低）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600200" y="2194560"/>
            <a:ext cx="0" cy="173736"/>
          </a:xfrm>
          <a:prstGeom prst="line">
            <a:avLst/>
          </a:prstGeom>
          <a:noFill/>
          <a:ln w="27940">
            <a:solidFill>
              <a:srgbClr val="9D97C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691640" y="3081528"/>
            <a:ext cx="0" cy="146304"/>
          </a:xfrm>
          <a:prstGeom prst="line">
            <a:avLst/>
          </a:prstGeom>
          <a:noFill/>
          <a:ln w="27940">
            <a:solidFill>
              <a:srgbClr val="9D97C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810512" y="3895344"/>
            <a:ext cx="0" cy="128016"/>
          </a:xfrm>
          <a:prstGeom prst="line">
            <a:avLst/>
          </a:prstGeom>
          <a:noFill/>
          <a:ln w="27940">
            <a:solidFill>
              <a:srgbClr val="9D97C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468880" y="4325112"/>
            <a:ext cx="384048" cy="0"/>
          </a:xfrm>
          <a:prstGeom prst="line">
            <a:avLst/>
          </a:prstGeom>
          <a:noFill/>
          <a:ln w="27940">
            <a:solidFill>
              <a:srgbClr val="9D97C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010912" y="4325112"/>
            <a:ext cx="384048" cy="0"/>
          </a:xfrm>
          <a:prstGeom prst="line">
            <a:avLst/>
          </a:prstGeom>
          <a:noFill/>
          <a:ln w="27940">
            <a:solidFill>
              <a:srgbClr val="4C3FB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5934456" y="3886200"/>
            <a:ext cx="0" cy="137160"/>
          </a:xfrm>
          <a:prstGeom prst="line">
            <a:avLst/>
          </a:prstGeom>
          <a:noFill/>
          <a:ln w="27940">
            <a:solidFill>
              <a:srgbClr val="4C3FB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6062472" y="3081528"/>
            <a:ext cx="0" cy="146304"/>
          </a:xfrm>
          <a:prstGeom prst="line">
            <a:avLst/>
          </a:prstGeom>
          <a:noFill/>
          <a:ln w="27940">
            <a:solidFill>
              <a:srgbClr val="4C3FB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6263640" y="2194560"/>
            <a:ext cx="0" cy="182880"/>
          </a:xfrm>
          <a:prstGeom prst="line">
            <a:avLst/>
          </a:prstGeom>
          <a:noFill/>
          <a:ln w="27940">
            <a:solidFill>
              <a:srgbClr val="4C3FB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331720" y="2724912"/>
            <a:ext cx="320040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2377440" y="3557016"/>
            <a:ext cx="306324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2441448" y="3977640"/>
            <a:ext cx="2980944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2926080" y="18470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跳跃连接（skip）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532120" y="1508760"/>
            <a:ext cx="1463040" cy="658368"/>
          </a:xfrm>
          <a:prstGeom prst="roundRect">
            <a:avLst>
              <a:gd name="adj" fmla="val 6944"/>
            </a:avLst>
          </a:prstGeom>
          <a:solidFill>
            <a:srgbClr val="EFEDF9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86984" y="1508760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输出 ε̂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452360" y="1554480"/>
            <a:ext cx="4251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编码器压缩到低分辨率（语义），解码器逐级还原（细节）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跳跃连接：同层特征直通解码端——保细节 + 缓解梯度消失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组件：残差块 + GroupNorm + SiLU；低分辨率层加 self-attention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时间步 t：正弦位置嵌入投影进每个残差块（一个网络管所有噪声水平）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U-Net 2015 年提出，扩散模型让它成为生成领域的事实标准骨干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Source: Ronneberger et al. 2015 (U-Net); Ho et al. 2020 (DDPM)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 · 痛点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扩散这么好——但像素空间训练与推理都贵得离谱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657600" cy="1783080"/>
          </a:xfrm>
          <a:prstGeom prst="roundRect">
            <a:avLst>
              <a:gd name="adj" fmla="val 3077"/>
            </a:avLst>
          </a:prstGeom>
          <a:solidFill>
            <a:srgbClr val="EFEDF9"/>
          </a:solidFill>
          <a:ln w="9525">
            <a:solidFill>
              <a:srgbClr val="D9D5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527048"/>
            <a:ext cx="3328416" cy="927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150–1000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2451506"/>
            <a:ext cx="3328416" cy="677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V100·天 —— 训练一个 SOTA 像素扩散模型（ADM）的典型开销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34840" y="1417320"/>
            <a:ext cx="3657600" cy="1783080"/>
          </a:xfrm>
          <a:prstGeom prst="roundRect">
            <a:avLst>
              <a:gd name="adj" fmla="val 3077"/>
            </a:avLst>
          </a:prstGeom>
          <a:solidFill>
            <a:srgbClr val="EFEDF9"/>
          </a:solidFill>
          <a:ln w="9525">
            <a:solidFill>
              <a:srgbClr val="D9D5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9432" y="1527048"/>
            <a:ext cx="3328416" cy="927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≈ 5 天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99432" y="2451506"/>
            <a:ext cx="3328416" cy="677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单张 A100 上生成 5 万张图（推理顺序评估的代价）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366760" y="1417320"/>
            <a:ext cx="3337560" cy="1783080"/>
          </a:xfrm>
          <a:prstGeom prst="roundRect">
            <a:avLst>
              <a:gd name="adj" fmla="val 3077"/>
            </a:avLst>
          </a:prstGeom>
          <a:solidFill>
            <a:srgbClr val="EFEDF9"/>
          </a:solidFill>
          <a:ln w="9525">
            <a:solidFill>
              <a:srgbClr val="D9D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31352" y="1527048"/>
            <a:ext cx="3008376" cy="927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25–1000 步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531352" y="2451506"/>
            <a:ext cx="3008376" cy="677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采样需顺序执行去噪网络，步间无法并行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3611880"/>
            <a:ext cx="11247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5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根因：高维 RGB 空间（512×512×3 ≈ 78.6 万维）里反复评估同一个大网络</a:t>
            </a:r>
            <a:endParaRPr lang="en-US" sz="155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5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后果一：只有少数机构训得动，学术圈难以参与，碳 footprint 巨大</a:t>
            </a:r>
            <a:endParaRPr lang="en-US" sz="155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5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后果二：推理慢 → 实际部署（如医学影像工作流）不可行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Source: Rombach et al., CVPR 2022, Sec. 1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动机 · 相关路线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通往高分辨率生成：三条已有路线的困境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61188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D9D5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64208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GAN 路线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32004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对抗训练难以覆盖复杂多模态分布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模式坍缩、多样性(recall)差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可控性依赖额外注入设计，无统一条件接口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61188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D9D5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6280" y="1664208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VQGAN + 自回归 Transformer（DALL·E）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26280" y="2377440"/>
            <a:ext cx="32004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为迁就 Transformer 激进下采样（f≥16）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重建上界受损，纹理细节失真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放弃 2D 归纳偏置，全局注意力昂贵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549640" y="1463040"/>
            <a:ext cx="361188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D9D5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778240" y="1664208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级联扩散 CDM（多模型串联）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778240" y="2377440"/>
            <a:ext cx="32004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基础模型 64² → 多级超分扩散到 256²+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多模型串行：训练管线与误差累积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条件增强等技巧进一步推高复杂度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0" y="5120640"/>
            <a:ext cx="12188952" cy="566928"/>
          </a:xfrm>
          <a:prstGeom prst="rect">
            <a:avLst/>
          </a:prstGeom>
          <a:solidFill>
            <a:srgbClr val="EFEDF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512064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LDM 选择第四条路：不换架构、不串联模型——把整个扩散过程搬进自编码器的潜空间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Source: Rombach et al., CVPR 2022, Sec. 1–2; Ho et al. 2021 (CDM)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 · 小结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三大生成模型对比：各自的位置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2651760"/>
        </p:xfrm>
        <a:graphic>
          <a:graphicData uri="http://schemas.openxmlformats.org/drawingml/2006/table">
            <a:tbl>
              <a:tblPr/>
              <a:tblGrid>
                <a:gridCol w="1188720"/>
                <a:gridCol w="3017520"/>
                <a:gridCol w="2377440"/>
                <a:gridCol w="2377440"/>
                <a:gridCol w="2286000"/>
              </a:tblGrid>
              <a:tr h="6629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模型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FB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生成机制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FB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训练方式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FB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优点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FB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局限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FB1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GAN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生成器 vs 判别器博弈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min-max 对抗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单步采样快、图像锐利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模式坍缩、训练不稳、多样性差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VAE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编码分布 + 重参数化解码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ELBO 最大化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潜空间规整、训练稳定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生成偏模糊，单模型质量有限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扩散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逐步加噪 → 学习去噪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去噪 MSE（ELBO 简化）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多样性好、训练稳、引导灵活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迭代采样慢、算力需求高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4572000"/>
            <a:ext cx="12188952" cy="566928"/>
          </a:xfrm>
          <a:prstGeom prst="rect">
            <a:avLst/>
          </a:prstGeom>
          <a:solidFill>
            <a:srgbClr val="EFEDF9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57200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注意：VAE 并没有退场——它以“感知压缩模块”的身份成为 LDM 的第一阶段（本文伏笔）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57200" y="539496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扩散的“慢”有成熟补救：DDIM 少步采样、蒸馏、LCM 等（本文即用 DDIM）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动机 · 核心思想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把图像生成分解为两个子问题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286000" cy="777240"/>
          </a:xfrm>
          <a:prstGeom prst="roundRect">
            <a:avLst>
              <a:gd name="adj" fmla="val 5882"/>
            </a:avLst>
          </a:prstGeom>
          <a:solidFill>
            <a:srgbClr val="EFEDF9"/>
          </a:solidFill>
          <a:ln w="15875">
            <a:solidFill>
              <a:srgbClr val="D9D5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508760"/>
            <a:ext cx="21762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图像生成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834640" y="150876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383280" y="1508760"/>
            <a:ext cx="329184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4C3F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38144" y="1508760"/>
            <a:ext cx="31821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感知压缩（去冗余）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66560" y="150876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315200" y="1508760"/>
            <a:ext cx="438912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70064" y="1508760"/>
            <a:ext cx="42793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语义生成（对内容建模）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2606040"/>
            <a:ext cx="5577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5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数字图像的大部分比特编码感知上不可见的细节（高频纹理）</a:t>
            </a:r>
            <a:endParaRPr lang="en-US" sz="155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5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感知压缩交给自编码器：一次前向即可恢复像素级细节</a:t>
            </a:r>
            <a:endParaRPr lang="en-US" sz="155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5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语义生成交给扩散模型：只在压缩后的潜空间建模数据分布</a:t>
            </a:r>
            <a:endParaRPr lang="en-US" sz="155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5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两个阶段解耦 → 各自用最合适的技术，算力花在刀刃上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355080" y="2514600"/>
            <a:ext cx="5394960" cy="3383280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12700">
            <a:solidFill>
              <a:srgbClr val="D9D5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14" name="Image 0" descr="ppt_assets/fig2_compre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6321" y="2651760"/>
            <a:ext cx="4672478" cy="31089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355080" y="5943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论文图 2：感知压缩 vs 语义压缩示意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57200" y="65105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Source: Rombach et al., CVPR 2022, Fig. 2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动机 · 压缩证据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压缩越激进，重建上界损失越大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6035040" cy="3977640"/>
          </a:xfrm>
          <a:prstGeom prst="roundRect">
            <a:avLst>
              <a:gd name="adj" fmla="val 1609"/>
            </a:avLst>
          </a:prstGeom>
          <a:solidFill>
            <a:srgbClr val="FFFFFF"/>
          </a:solidFill>
          <a:ln w="12700">
            <a:solidFill>
              <a:srgbClr val="D9D5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5" name="Image 0" descr="ppt_assets/fig1_rd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09389"/>
            <a:ext cx="5760720" cy="35020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4406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论文图 1：DIV2K 512² 上不同 f 的重建对比</a:t>
            </a:r>
            <a:endParaRPr lang="en-US" sz="11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554480"/>
          <a:ext cx="4846320" cy="1920240"/>
        </p:xfrm>
        <a:graphic>
          <a:graphicData uri="http://schemas.openxmlformats.org/drawingml/2006/table">
            <a:tbl>
              <a:tblPr/>
              <a:tblGrid>
                <a:gridCol w="1737360"/>
                <a:gridCol w="731520"/>
                <a:gridCol w="1097280"/>
                <a:gridCol w="1280160"/>
              </a:tblGrid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第一阶段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FB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FB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PSNR ↑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FB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R-FID ↓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FB1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ours (LDM)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27.4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0.58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DALL·E 所用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22.8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32.01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VQGAN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16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19.9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4.98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858000" y="374904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f=4：重建几乎无损（R-FID 0.58），细节全保留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f=8/f=16：纹理明显退化——这是 AR 路线的固有代价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扩散不需要激进压缩 → 可以用轻压缩换高上界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57200" y="65105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Source: Rombach et al., CVPR 2022, Fig. 1（PSNR/R-FID 于 ImageNet-val 评估）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7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3444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241F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312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5760720" y="237744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EE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方法：两阶段潜空间扩散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779008" y="331012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49E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第一阶段感知压缩（自编码器） + 第二阶段语义生成（潜空间 DDPM）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49E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 · 总体框架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两阶段流水线：扩散只发生在潜空间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4173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D9D5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828800"/>
            <a:ext cx="1307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图像 x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H×W×3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20240" y="2354580"/>
            <a:ext cx="457200" cy="0"/>
          </a:xfrm>
          <a:prstGeom prst="line">
            <a:avLst/>
          </a:prstGeom>
          <a:noFill/>
          <a:ln w="2794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423160" y="1828800"/>
            <a:ext cx="1280160" cy="1051560"/>
          </a:xfrm>
          <a:prstGeom prst="roundRect">
            <a:avLst>
              <a:gd name="adj" fmla="val 4348"/>
            </a:avLst>
          </a:prstGeom>
          <a:solidFill>
            <a:srgbClr val="EFEDF9"/>
          </a:solidFill>
          <a:ln w="15875">
            <a:solidFill>
              <a:srgbClr val="4C3F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78024" y="1828800"/>
            <a:ext cx="11704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编码器 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49040" y="2354580"/>
            <a:ext cx="457200" cy="0"/>
          </a:xfrm>
          <a:prstGeom prst="line">
            <a:avLst/>
          </a:prstGeom>
          <a:noFill/>
          <a:ln w="2794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251960" y="1828800"/>
            <a:ext cx="178308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D9D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06824" y="1828800"/>
            <a:ext cx="16733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潜变量 z = E(x)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h×w×c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2354580"/>
            <a:ext cx="457200" cy="0"/>
          </a:xfrm>
          <a:prstGeom prst="line">
            <a:avLst/>
          </a:prstGeom>
          <a:noFill/>
          <a:ln w="2794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583680" y="1828800"/>
            <a:ext cx="196596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D9D5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38544" y="1828800"/>
            <a:ext cx="1856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加噪 → z_t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(固定调度)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95360" y="2354580"/>
            <a:ext cx="457200" cy="0"/>
          </a:xfrm>
          <a:prstGeom prst="line">
            <a:avLst/>
          </a:prstGeom>
          <a:noFill/>
          <a:ln w="2794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098280" y="1828800"/>
            <a:ext cx="2606040" cy="1051560"/>
          </a:xfrm>
          <a:prstGeom prst="roundRect">
            <a:avLst>
              <a:gd name="adj" fmla="val 4348"/>
            </a:avLst>
          </a:prstGeom>
          <a:solidFill>
            <a:srgbClr val="EFEDF9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53144" y="1828800"/>
            <a:ext cx="24963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UNet ε_θ(z_t, t, 条件)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逐步去噪 → ẑ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80760" y="3383280"/>
            <a:ext cx="4709160" cy="0"/>
          </a:xfrm>
          <a:prstGeom prst="line">
            <a:avLst/>
          </a:prstGeom>
          <a:noFill/>
          <a:ln w="12700">
            <a:solidFill>
              <a:srgbClr val="D9D5EF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080760" y="3447288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第二阶段：扩散模型，唯一需要训练的生成部件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378440" y="2935224"/>
            <a:ext cx="0" cy="932688"/>
          </a:xfrm>
          <a:prstGeom prst="line">
            <a:avLst/>
          </a:prstGeom>
          <a:noFill/>
          <a:ln w="27940">
            <a:solidFill>
              <a:srgbClr val="D9D5E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98280" y="3931920"/>
            <a:ext cx="2606040" cy="914400"/>
          </a:xfrm>
          <a:prstGeom prst="roundRect">
            <a:avLst>
              <a:gd name="adj" fmla="val 5000"/>
            </a:avLst>
          </a:prstGeom>
          <a:solidFill>
            <a:srgbClr val="EFEDF9"/>
          </a:solidFill>
          <a:ln w="15875">
            <a:solidFill>
              <a:srgbClr val="4C3FB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53144" y="3931920"/>
            <a:ext cx="2496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解码器 D → x̂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423160" y="3931920"/>
            <a:ext cx="36118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5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78024" y="3931920"/>
            <a:ext cx="3502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第一阶段：E/D 训练后冻结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983480"/>
            <a:ext cx="3566160" cy="1298448"/>
          </a:xfrm>
          <a:prstGeom prst="roundRect">
            <a:avLst>
              <a:gd name="adj" fmla="val 4225"/>
            </a:avLst>
          </a:prstGeom>
          <a:solidFill>
            <a:srgbClr val="EFEDF9"/>
          </a:solidFill>
          <a:ln w="9525">
            <a:solidFill>
              <a:srgbClr val="D9D5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5093208"/>
            <a:ext cx="3236976" cy="675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 = 4~8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21792" y="5736580"/>
            <a:ext cx="3236976" cy="493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下采样倍率（甜点区）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206240" y="4983480"/>
            <a:ext cx="3566160" cy="1298448"/>
          </a:xfrm>
          <a:prstGeom prst="roundRect">
            <a:avLst>
              <a:gd name="adj" fmla="val 4225"/>
            </a:avLst>
          </a:prstGeom>
          <a:solidFill>
            <a:srgbClr val="EFEDF9"/>
          </a:solidFill>
          <a:ln w="9525">
            <a:solidFill>
              <a:srgbClr val="D9D5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5093208"/>
            <a:ext cx="3236976" cy="675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48×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4370832" y="5736580"/>
            <a:ext cx="3236976" cy="493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维度缩减示例：512×512×3 → 128×128×4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955280" y="4983480"/>
            <a:ext cx="3749040" cy="1298448"/>
          </a:xfrm>
          <a:prstGeom prst="roundRect">
            <a:avLst>
              <a:gd name="adj" fmla="val 4225"/>
            </a:avLst>
          </a:prstGeom>
          <a:solidFill>
            <a:srgbClr val="EFEDF9"/>
          </a:solidFill>
          <a:ln w="9525">
            <a:solidFill>
              <a:srgbClr val="D9D5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19872" y="5093208"/>
            <a:ext cx="3419856" cy="675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1–2 个数量级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8119872" y="5736580"/>
            <a:ext cx="3419856" cy="493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训练/推理算力下降（对比像素扩散）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Source: Rombach et al., CVPR 2022, Sec. 3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 · 第一阶段 ①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感知压缩自编码器：四项损失各司其职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471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5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251460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L_rec（L1 像素重建）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3611880" y="2514600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管全局结构与灰度一致性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306324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L_perceptual（VGG 特征匹配）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3611880" y="3063240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管“看起来像不像”——在感知空间比对齐像素更重要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361188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L_adv（PatchGAN 对抗）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3611880" y="3611880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管“锐不锐”——判别器只看局部 patch，逼出高频纹理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416052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L_reg（潜空间正则）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3611880" y="4160520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管潜空间的“形状”（下一页）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001000" y="2468880"/>
            <a:ext cx="3703320" cy="2148840"/>
          </a:xfrm>
          <a:prstGeom prst="roundRect">
            <a:avLst>
              <a:gd name="adj" fmla="val 2979"/>
            </a:avLst>
          </a:prstGeom>
          <a:solidFill>
            <a:srgbClr val="EFEDF9"/>
          </a:solidFill>
          <a:ln w="9525">
            <a:solidFill>
              <a:srgbClr val="D9D5E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0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为什么不能只用 L2？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229600" y="306324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回归的最优解 = 所有可能图像的平均 → 平均必然模糊。感知项补“像”，对抗项补“锐”，三项合起来才有又像又锐的重建。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这一阶段的重建质量 = LDM 生成质量的硬上界；对我们的 CT：HU 定量精度也由它决定。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7200" y="65105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Source: Rombach et al., CVPR 2022, Sec. 3.1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21</a:t>
            </a:r>
            <a:endParaRPr lang="en-US" sz="1050" dirty="0"/>
          </a:p>
        </p:txBody>
      </p:sp>
      <p:sp>
        <p:nvSpPr>
          <p:cNvPr id="19" name="TextBox 18"/>
          <p:cNvSpPr txBox="1"/>
          <p:nvPr/>
        </p:nvSpPr>
        <p:spPr>
          <a:xfrm>
            <a:off x="731520" y="1496448"/>
            <a:ext cx="10698480" cy="57326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 xmlns:a14="http://schemas.microsoft.com/office/drawing/2010/main" xmlns:mc="http://schemas.openxmlformats.org/markup-compatibility/2006" xmlns:m="http://schemas.openxmlformats.org/officeDocument/2006/math">
            <a:pPr algn="ctr">
              <a:defRPr sz="2900"/>
            </a:pPr>
            <mc:AlternateContent>
              <mc:Choice Requires="a14">
                <a14:m>
                  <m:oMathPara>
                    <m:oMathParaPr>
                      <m:jc m:val="center"/>
                    </m:oMathParaPr>
                    <m:oMath>
                      <m:box>
                        <m:e>
                          <m:sSub>
                            <m:e>
                              <m:r>
                                <a:rPr sz="29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ℒ</m:t>
                              </m:r>
                            </m:e>
                            <m:sub>
                              <m:box>
                                <m:e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A</m:t>
                                  </m:r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u</m:t>
                                  </m:r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t</m:t>
                                  </m:r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o</m:t>
                                  </m:r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e</m:t>
                                  </m:r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n</m:t>
                                  </m:r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c</m:t>
                                  </m:r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o</m:t>
                                  </m:r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d</m:t>
                                  </m:r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e</m:t>
                                  </m:r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r</m:t>
                                  </m:r>
                                </m:e>
                              </m:box>
                            </m:sub>
                          </m:sSub>
                          <m:r>
                            <a:rPr sz="29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=</m:t>
                          </m:r>
                          <m:sSub>
                            <m:e>
                              <m:r>
                                <a:rPr sz="29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ℒ</m:t>
                              </m:r>
                            </m:e>
                            <m:sub>
                              <m:box>
                                <m:e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r</m:t>
                                  </m:r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e</m:t>
                                  </m:r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c</m:t>
                                  </m:r>
                                </m:e>
                              </m:box>
                            </m:sub>
                          </m:sSub>
                          <m:r>
                            <a:rPr sz="29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+</m:t>
                          </m:r>
                          <m:sSub>
                            <m:e>
                              <m:r>
                                <a:rPr sz="29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λ</m:t>
                              </m:r>
                            </m:e>
                            <m:sub>
                              <m:box>
                                <m:e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p</m:t>
                                  </m:r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e</m:t>
                                  </m:r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r</m:t>
                                  </m:r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c</m:t>
                                  </m:r>
                                </m:e>
                              </m:box>
                            </m:sub>
                          </m:sSub>
                          <m:r>
                            <a:rPr sz="2900">
                              <a:solidFill>
                                <a:srgbClr val="1F2937"/>
                              </a:solidFill>
                            </a:rPr>
                            <m:t/>
                          </m:r>
                          <m:sSub>
                            <m:e>
                              <m:r>
                                <a:rPr sz="29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ℒ</m:t>
                              </m:r>
                            </m:e>
                            <m:sub>
                              <m:box>
                                <m:e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p</m:t>
                                  </m:r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e</m:t>
                                  </m:r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r</m:t>
                                  </m:r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c</m:t>
                                  </m:r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e</m:t>
                                  </m:r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p</m:t>
                                  </m:r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t</m:t>
                                  </m:r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u</m:t>
                                  </m:r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a</m:t>
                                  </m:r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l</m:t>
                                  </m:r>
                                </m:e>
                              </m:box>
                            </m:sub>
                          </m:sSub>
                          <m:r>
                            <a:rPr sz="29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+</m:t>
                          </m:r>
                          <m:sSub>
                            <m:e>
                              <m:r>
                                <a:rPr sz="29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λ</m:t>
                              </m:r>
                            </m:e>
                            <m:sub>
                              <m:box>
                                <m:e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a</m:t>
                                  </m:r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d</m:t>
                                  </m:r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v</m:t>
                                  </m:r>
                                </m:e>
                              </m:box>
                            </m:sub>
                          </m:sSub>
                          <m:r>
                            <a:rPr sz="2900">
                              <a:solidFill>
                                <a:srgbClr val="1F2937"/>
                              </a:solidFill>
                            </a:rPr>
                            <m:t/>
                          </m:r>
                          <m:sSub>
                            <m:e>
                              <m:r>
                                <a:rPr sz="29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ℒ</m:t>
                              </m:r>
                            </m:e>
                            <m:sub>
                              <m:box>
                                <m:e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a</m:t>
                                  </m:r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d</m:t>
                                  </m:r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v</m:t>
                                  </m:r>
                                </m:e>
                              </m:box>
                            </m:sub>
                          </m:sSub>
                          <m:r>
                            <a:rPr sz="29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+</m:t>
                          </m:r>
                          <m:sSub>
                            <m:e>
                              <m:r>
                                <a:rPr sz="29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λ</m:t>
                              </m:r>
                            </m:e>
                            <m:sub>
                              <m:box>
                                <m:e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r</m:t>
                                  </m:r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e</m:t>
                                  </m:r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g</m:t>
                                  </m:r>
                                </m:e>
                              </m:box>
                            </m:sub>
                          </m:sSub>
                          <m:r>
                            <a:rPr sz="2900">
                              <a:solidFill>
                                <a:srgbClr val="1F2937"/>
                              </a:solidFill>
                            </a:rPr>
                            <m:t/>
                          </m:r>
                          <m:sSub>
                            <m:e>
                              <m:r>
                                <a:rPr sz="29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ℒ</m:t>
                              </m:r>
                            </m:e>
                            <m:sub>
                              <m:box>
                                <m:e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r</m:t>
                                  </m:r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e</m:t>
                                  </m:r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g</m:t>
                                  </m:r>
                                </m:e>
                              </m:box>
                            </m:sub>
                          </m:sSub>
                        </m:e>
                      </m:box>
                    </m:oMath>
                  </m:oMathPara>
                </a14:m>
              </mc:Choice>
              <mc:Fallback>
                <a:r>
                  <a:t>L_AE = L_rec + L_perceptual + L_adv + L_reg</a:t>
                </a:r>
              </mc:Fallback>
            </mc:AlternateContent>
            <a:endParaRPr lang="zh-C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 · 第一阶段 ②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潜空间正则：KL 还是 VQ？轻重要拿捏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532120" cy="2148840"/>
          </a:xfrm>
          <a:prstGeom prst="roundRect">
            <a:avLst>
              <a:gd name="adj" fmla="val 2553"/>
            </a:avLst>
          </a:prstGeom>
          <a:solidFill>
            <a:srgbClr val="EFEDF9"/>
          </a:solidFill>
          <a:ln w="9525">
            <a:solidFill>
              <a:srgbClr val="D9D5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727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KL 正则（连续潜空间）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 q(z|x) 施加轻微 KL 惩罚，拉向 N(0, I)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连续潜空间；Stable Diffusion（KL-8）即此路线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重建略好于 VQ 版（论文 Tab. 8）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532120" cy="2148840"/>
          </a:xfrm>
          <a:prstGeom prst="roundRect">
            <a:avLst>
              <a:gd name="adj" fmla="val 2553"/>
            </a:avLst>
          </a:prstGeom>
          <a:solidFill>
            <a:srgbClr val="EFEDF9"/>
          </a:solidFill>
          <a:ln w="9525">
            <a:solidFill>
              <a:srgbClr val="D9D5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5727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VQ 正则（离散码本）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解码器内置向量量化码本（量化层被解码器吸收）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论文主实验默认：采样质量优于 KL 版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▪"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训练用直通梯度估计量化处的梯度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977640"/>
            <a:ext cx="1124712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5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7200" y="491947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KL 正则项（权重 ≪ 1）：只防潜空间任意高方差，不追求严格先验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0" y="5440680"/>
            <a:ext cx="12188952" cy="566928"/>
          </a:xfrm>
          <a:prstGeom prst="rect">
            <a:avLst/>
          </a:prstGeom>
          <a:solidFill>
            <a:srgbClr val="EFEDF9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544068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拿捏的关键：潜空间“略微发散”反而对扩散友好——所有样本挤在细流形上，加噪去噪反而没有施展空间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457200" y="65105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Source: Rombach et al., CVPR 2022, Sec. 3.1 / Tab. 8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</a:t>
            </a:r>
            <a:endParaRPr lang="en-US" sz="1050" dirty="0"/>
          </a:p>
        </p:txBody>
      </p:sp>
      <p:sp>
        <p:nvSpPr>
          <p:cNvPr id="17" name="TextBox 16"/>
          <p:cNvSpPr txBox="1"/>
          <p:nvPr/>
        </p:nvSpPr>
        <p:spPr>
          <a:xfrm>
            <a:off x="2978834" y="4114800"/>
            <a:ext cx="6386732" cy="6400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 xmlns:a14="http://schemas.microsoft.com/office/drawing/2010/main" xmlns:mc="http://schemas.openxmlformats.org/markup-compatibility/2006" xmlns:m="http://schemas.openxmlformats.org/officeDocument/2006/math">
            <a:pPr algn="ctr">
              <a:defRPr sz="2900"/>
            </a:pPr>
            <mc:AlternateContent>
              <mc:Choice Requires="a14">
                <a14:m>
                  <m:oMathPara>
                    <m:oMathParaPr>
                      <m:jc m:val="center"/>
                    </m:oMathParaPr>
                    <m:oMath>
                      <m:box>
                        <m:e>
                          <m:sSubSup>
                            <m:e>
                              <m:r>
                                <a:rPr sz="29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ℒ</m:t>
                              </m:r>
                            </m:e>
                            <m:sub>
                              <m:box>
                                <m:e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r</m:t>
                                  </m:r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e</m:t>
                                  </m:r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g</m:t>
                                  </m:r>
                                </m:e>
                              </m:box>
                            </m:sub>
                            <m:sup>
                              <m:box>
                                <m:e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K</m:t>
                                  </m:r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L</m:t>
                                  </m:r>
                                </m:e>
                              </m:box>
                            </m:sup>
                          </m:sSubSup>
                          <m:r>
                            <a:rPr sz="29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=</m:t>
                          </m:r>
                          <m:sSub>
                            <m:e>
                              <m:r>
                                <a:rPr sz="29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D</m:t>
                              </m:r>
                            </m:e>
                            <m:sub>
                              <m:box>
                                <m:e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K</m:t>
                                  </m:r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L</m:t>
                                  </m:r>
                                </m:e>
                              </m:box>
                            </m:sub>
                          </m:sSub>
                          <m:box>
                            <m:e>
                              <m:d>
                                <m:dPr>
                                  <m:begChr m:val="("/>
                                  <m:endChr m:val=")"/>
                                </m:dPr>
                                <m:e>
                                  <m:box>
                                    <m:e>
                                      <m:r>
                                        <a:rPr sz="29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t/>
                                      </m:r>
                                      <m:r>
                                        <a:rPr sz="29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i"/>
                                        </m:rPr>
                                        <m:t>q</m:t>
                                      </m:r>
                                      <m:r>
                                        <a:rPr sz="29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(</m:t>
                                      </m:r>
                                      <m:r>
                                        <a:rPr sz="29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i"/>
                                        </m:rPr>
                                        <m:t>z</m:t>
                                      </m:r>
                                      <m:r>
                                        <a:rPr sz="29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|</m:t>
                                      </m:r>
                                      <m:r>
                                        <a:rPr sz="29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i"/>
                                        </m:rPr>
                                        <m:t>x</m:t>
                                      </m:r>
                                      <m:r>
                                        <a:rPr sz="29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)</m:t>
                                      </m:r>
                                      <m:r>
                                        <a:rPr sz="29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t/>
                                      </m:r>
                                      <m:r>
                                        <a:rPr sz="29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‖</m:t>
                                      </m:r>
                                      <m:r>
                                        <a:rPr sz="29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t/>
                                      </m:r>
                                      <m:r>
                                        <a:rPr sz="29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i"/>
                                        </m:rPr>
                                        <m:t>𝒩</m:t>
                                      </m:r>
                                      <m:r>
                                        <a:rPr sz="29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(</m:t>
                                      </m:r>
                                      <m:r>
                                        <a:rPr sz="29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0</m:t>
                                      </m:r>
                                      <m:r>
                                        <a:rPr sz="29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,</m:t>
                                      </m:r>
                                      <m:r>
                                        <a:rPr sz="29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i"/>
                                        </m:rPr>
                                        <m:t>𝐈</m:t>
                                      </m:r>
                                      <m:r>
                                        <a:rPr sz="29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)</m:t>
                                      </m:r>
                                    </m:e>
                                  </m:box>
                                </m:e>
                              </m:d>
                            </m:e>
                          </m:box>
                          <m:r>
                            <a:rPr sz="29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,</m:t>
                          </m:r>
                          <m:r>
                            <a:rPr sz="2900">
                              <a:solidFill>
                                <a:srgbClr val="1F2937"/>
                              </a:solidFill>
                            </a:rPr>
                            <m:t/>
                          </m:r>
                          <m:sSub>
                            <m:e>
                              <m:r>
                                <a:rPr sz="29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w</m:t>
                              </m:r>
                            </m:e>
                            <m:sub>
                              <m:box>
                                <m:e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K</m:t>
                                  </m:r>
                                  <m:r>
                                    <a:rPr sz="29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L</m:t>
                                  </m:r>
                                </m:e>
                              </m:box>
                            </m:sub>
                          </m:sSub>
                          <m:r>
                            <a:rPr sz="29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≪</m:t>
                          </m:r>
                          <m:r>
                            <a:rPr sz="29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1</m:t>
                          </m:r>
                        </m:e>
                      </m:box>
                    </m:oMath>
                  </m:oMathPara>
                </a14:m>
              </mc:Choice>
              <mc:Fallback>
                <a:r>
                  <a:t>L_reg = D_KL(q(z|x) || N(0,I)), w_KL &lt;&lt; 1</a:t>
                </a:r>
              </mc:Fallback>
            </mc:AlternateContent>
            <a:endParaRPr lang="zh-C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 · 第二阶段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潜空间扩散：与 DDPM 逐符号对照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67208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9D5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51760"/>
          <a:ext cx="11247120" cy="2377440"/>
        </p:xfrm>
        <a:graphic>
          <a:graphicData uri="http://schemas.openxmlformats.org/drawingml/2006/table">
            <a:tbl>
              <a:tblPr/>
              <a:tblGrid>
                <a:gridCol w="4206240"/>
                <a:gridCol w="4206240"/>
                <a:gridCol w="146304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DDPM（像素空间）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FB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LDM（潜空间）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FB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变化</a:t>
                      </a:r>
                      <a:endParaRPr lang="en-US" sz="13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FB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x₀（干净图像）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z₀ = E(x₀)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换空间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x_t = √ᾱ_t·x₀ + √(1−ᾱ_t)·ε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z_t = √ᾱ_t·z₀ + √(1−ᾱ_t)·ε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同式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ε_θ(x_t, t)（U-Net）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ε_θ(z_t, t)（同一 U-Net）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同构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噪声调度 / ε-目标 / DDIM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噪声调度 / ε-目标 / DDIM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完全继承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0" y="5303520"/>
            <a:ext cx="12188952" cy="566928"/>
          </a:xfrm>
          <a:prstGeom prst="rect">
            <a:avLst/>
          </a:prstGeom>
          <a:solidFill>
            <a:srgbClr val="EFEDF9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530352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理论零新增：公式、调度、目标、采样器全部继承——收益全在维度（f=4 时缩小 48 倍）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7635240" y="1371600"/>
            <a:ext cx="4069080" cy="1051560"/>
          </a:xfrm>
          <a:prstGeom prst="roundRect">
            <a:avLst>
              <a:gd name="adj" fmla="val 5217"/>
            </a:avLst>
          </a:prstGeom>
          <a:solidFill>
            <a:srgbClr val="EFEDF9"/>
          </a:solidFill>
          <a:ln w="9525">
            <a:solidFill>
              <a:srgbClr val="D9D5E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7799832" y="1481328"/>
            <a:ext cx="3739896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48×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7799832" y="1981505"/>
            <a:ext cx="3739896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维度缩减：512×512×3 → 128×128×4（f=4）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5105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Source: Rombach et al., CVPR 2022, Sec. 3.4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</a:t>
            </a:r>
            <a:endParaRPr lang="en-US" sz="1050" dirty="0"/>
          </a:p>
        </p:txBody>
      </p:sp>
      <p:sp>
        <p:nvSpPr>
          <p:cNvPr id="25" name="TextBox 24"/>
          <p:cNvSpPr txBox="1"/>
          <p:nvPr/>
        </p:nvSpPr>
        <p:spPr>
          <a:xfrm>
            <a:off x="685800" y="1605640"/>
            <a:ext cx="6263640" cy="574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 xmlns:a14="http://schemas.microsoft.com/office/drawing/2010/main" xmlns:mc="http://schemas.openxmlformats.org/markup-compatibility/2006" xmlns:m="http://schemas.openxmlformats.org/officeDocument/2006/math">
            <a:pPr algn="ctr">
              <a:defRPr sz="2650"/>
            </a:pPr>
            <mc:AlternateContent>
              <mc:Choice Requires="a14">
                <a14:m>
                  <m:oMathPara>
                    <m:oMathParaPr>
                      <m:jc m:val="center"/>
                    </m:oMathParaPr>
                    <m:oMath>
                      <m:box>
                        <m:e>
                          <m:sSub>
                            <m:e>
                              <m:r>
                                <a:rPr sz="265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ℒ</m:t>
                              </m:r>
                            </m:e>
                            <m:sub>
                              <m:box>
                                <m:e>
                                  <m:r>
                                    <a:rPr sz="26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L</m:t>
                                  </m:r>
                                  <m:r>
                                    <a:rPr sz="26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D</m:t>
                                  </m:r>
                                  <m:r>
                                    <a:rPr sz="26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M</m:t>
                                  </m:r>
                                </m:e>
                              </m:box>
                            </m:sub>
                          </m:sSub>
                          <m:r>
                            <a:rPr sz="265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=</m:t>
                          </m:r>
                          <m:sSub>
                            <m:e>
                              <m:r>
                                <a:rPr sz="265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𝔼</m:t>
                              </m:r>
                            </m:e>
                            <m:sub>
                              <m:box>
                                <m:e>
                                  <m:r>
                                    <a:rPr sz="26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ℰ</m:t>
                                  </m:r>
                                  <m:r>
                                    <a:rPr sz="26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p"/>
                                    </m:rPr>
                                    <m:t>(</m:t>
                                  </m:r>
                                  <m:r>
                                    <a:rPr sz="26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x</m:t>
                                  </m:r>
                                  <m:r>
                                    <a:rPr sz="26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p"/>
                                    </m:rPr>
                                    <m:t>)</m:t>
                                  </m:r>
                                  <m:r>
                                    <a:rPr sz="26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p"/>
                                    </m:rPr>
                                    <m:t>,</m:t>
                                  </m:r>
                                  <m:r>
                                    <a:rPr sz="2650">
                                      <a:solidFill>
                                        <a:srgbClr val="1F2937"/>
                                      </a:solidFill>
                                    </a:rPr>
                                    <m:t/>
                                  </m:r>
                                  <m:r>
                                    <a:rPr sz="26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ϵ</m:t>
                                  </m:r>
                                  <m:r>
                                    <a:rPr sz="26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~</m:t>
                                  </m:r>
                                  <m:r>
                                    <a:rPr sz="26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𝒩</m:t>
                                  </m:r>
                                  <m:r>
                                    <a:rPr sz="26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p"/>
                                    </m:rPr>
                                    <m:t>(</m:t>
                                  </m:r>
                                  <m:r>
                                    <a:rPr sz="26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p"/>
                                    </m:rPr>
                                    <m:t>0</m:t>
                                  </m:r>
                                  <m:r>
                                    <a:rPr sz="26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p"/>
                                    </m:rPr>
                                    <m:t>,</m:t>
                                  </m:r>
                                  <m:r>
                                    <a:rPr sz="26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𝐈</m:t>
                                  </m:r>
                                  <m:r>
                                    <a:rPr sz="26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p"/>
                                    </m:rPr>
                                    <m:t>)</m:t>
                                  </m:r>
                                  <m:r>
                                    <a:rPr sz="26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p"/>
                                    </m:rPr>
                                    <m:t>,</m:t>
                                  </m:r>
                                  <m:r>
                                    <a:rPr sz="2650">
                                      <a:solidFill>
                                        <a:srgbClr val="1F2937"/>
                                      </a:solidFill>
                                    </a:rPr>
                                    <m:t/>
                                  </m:r>
                                  <m:r>
                                    <a:rPr sz="26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t</m:t>
                                  </m:r>
                                </m:e>
                              </m:box>
                            </m:sub>
                          </m:sSub>
                          <m:box>
                            <m:e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box>
                                    <m:e>
                                      <m:sSubSup>
                                        <m:e>
                                          <m:box>
                                            <m:e>
                                              <m:d>
                                                <m:dPr>
                                                  <m:begChr m:val="‖"/>
                                                  <m:endChr m:val="‖"/>
                                                </m:dPr>
                                                <m:e>
                                                  <m:box>
                                                    <m:e>
                                                      <m:r>
                                                        <a:rPr sz="2650">
                                                          <a:solidFill>
                                                            <a:srgbClr val="1F2937"/>
                                                          </a:solidFill>
                                                        </a:rPr>
                                                        <m:rPr>
                                                          <m:sty m:val="i"/>
                                                        </m:rPr>
                                                        <m:t>ϵ</m:t>
                                                      </m:r>
                                                      <m:r>
                                                        <a:rPr sz="2650">
                                                          <a:solidFill>
                                                            <a:srgbClr val="1F2937"/>
                                                          </a:solidFill>
                                                        </a:rPr>
                                                        <m:rPr>
                                                          <m:sty m:val="p"/>
                                                        </m:rPr>
                                                        <m:t>−</m:t>
                                                      </m:r>
                                                      <m:sSub>
                                                        <m:e>
                                                          <m:r>
                                                            <a:rPr sz="2650">
                                                              <a:solidFill>
                                                                <a:srgbClr val="1F2937"/>
                                                              </a:solidFill>
                                                            </a:rPr>
                                                            <m:rPr>
                                                              <m:sty m:val="i"/>
                                                            </m:rPr>
                                                            <m:t>ϵ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sz="2650">
                                                              <a:solidFill>
                                                                <a:srgbClr val="1F2937"/>
                                                              </a:solidFill>
                                                            </a:rPr>
                                                            <m:rPr>
                                                              <m:sty m:val="i"/>
                                                            </m:rPr>
                                                            <m:t>θ</m:t>
                                                          </m:r>
                                                        </m:sub>
                                                      </m:sSub>
                                                      <m:r>
                                                        <a:rPr sz="2650">
                                                          <a:solidFill>
                                                            <a:srgbClr val="1F2937"/>
                                                          </a:solidFill>
                                                        </a:rPr>
                                                        <m:rPr>
                                                          <m:sty m:val="p"/>
                                                        </m:rPr>
                                                        <m:t>(</m:t>
                                                      </m:r>
                                                      <m:sSub>
                                                        <m:e>
                                                          <m:r>
                                                            <a:rPr sz="2650">
                                                              <a:solidFill>
                                                                <a:srgbClr val="1F2937"/>
                                                              </a:solidFill>
                                                            </a:rPr>
                                                            <m:rPr>
                                                              <m:sty m:val="i"/>
                                                            </m:rPr>
                                                            <m:t>z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sz="2650">
                                                              <a:solidFill>
                                                                <a:srgbClr val="1F2937"/>
                                                              </a:solidFill>
                                                            </a:rPr>
                                                            <m:rPr>
                                                              <m:sty m:val="i"/>
                                                            </m:rPr>
                                                            <m:t>t</m:t>
                                                          </m:r>
                                                        </m:sub>
                                                      </m:sSub>
                                                      <m:r>
                                                        <a:rPr sz="2650">
                                                          <a:solidFill>
                                                            <a:srgbClr val="1F2937"/>
                                                          </a:solidFill>
                                                        </a:rPr>
                                                        <m:rPr>
                                                          <m:sty m:val="p"/>
                                                        </m:rPr>
                                                        <m:t>,</m:t>
                                                      </m:r>
                                                      <m:r>
                                                        <a:rPr sz="2650">
                                                          <a:solidFill>
                                                            <a:srgbClr val="1F2937"/>
                                                          </a:solidFill>
                                                        </a:rPr>
                                                        <m:rPr>
                                                          <m:sty m:val="i"/>
                                                        </m:rPr>
                                                        <m:t>t</m:t>
                                                      </m:r>
                                                      <m:r>
                                                        <a:rPr sz="2650">
                                                          <a:solidFill>
                                                            <a:srgbClr val="1F2937"/>
                                                          </a:solidFill>
                                                        </a:rPr>
                                                        <m:rPr>
                                                          <m:sty m:val="p"/>
                                                        </m:rPr>
                                                        <m:t>)</m:t>
                                                      </m:r>
                                                    </m:e>
                                                  </m:box>
                                                </m:e>
                                              </m:d>
                                            </m:e>
                                          </m:box>
                                        </m:e>
                                        <m:sub>
                                          <m:r>
                                            <a:rPr sz="265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p"/>
                                            </m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sz="265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p"/>
                                            </m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box>
                                </m:e>
                              </m:d>
                            </m:e>
                          </m:box>
                        </m:e>
                      </m:box>
                    </m:oMath>
                  </m:oMathPara>
                </a14:m>
              </mc:Choice>
              <mc:Fallback>
                <a:r>
                  <a:t>L_LDM = E[||eps - eps_theta(z_t,t)||^2]</a:t>
                </a:r>
              </mc:Fallback>
            </mc:AlternateContent>
            <a:endParaRPr lang="zh-C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· 关键消融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压缩率 f：训练效率与质量上限的权衡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47120" cy="28346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12700">
            <a:solidFill>
              <a:srgbClr val="D9D5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5" name="Image 0" descr="ppt_assets/fig5_ablation_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0" y="1463040"/>
            <a:ext cx="7040880" cy="2560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206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论文图 5：ImageNet 类条件 LDM 不同 f 的训练曲线（2M 步，同一 A100 预算）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4663440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EFEDF9"/>
          </a:solidFill>
          <a:ln w="9525">
            <a:solidFill>
              <a:srgbClr val="D9D5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1792" y="4773168"/>
            <a:ext cx="3236976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FID gap = 38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21792" y="5485486"/>
            <a:ext cx="3236976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LDM-1（像素级）vs LDM-8，2M 步后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06240" y="4663440"/>
            <a:ext cx="3566160" cy="1417320"/>
          </a:xfrm>
          <a:prstGeom prst="roundRect">
            <a:avLst>
              <a:gd name="adj" fmla="val 3871"/>
            </a:avLst>
          </a:prstGeom>
          <a:solidFill>
            <a:srgbClr val="EFEDF9"/>
          </a:solidFill>
          <a:ln w="9525">
            <a:solidFill>
              <a:srgbClr val="D9D5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70832" y="4773168"/>
            <a:ext cx="3236976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 ∈ [4, 16]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4370832" y="5485486"/>
            <a:ext cx="3236976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甜点区：LDM-4/8 最优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955280" y="4663440"/>
            <a:ext cx="3749040" cy="1417320"/>
          </a:xfrm>
          <a:prstGeom prst="roundRect">
            <a:avLst>
              <a:gd name="adj" fmla="val 3871"/>
            </a:avLst>
          </a:prstGeom>
          <a:solidFill>
            <a:srgbClr val="EFEDF9"/>
          </a:solidFill>
          <a:ln w="9525">
            <a:solidFill>
              <a:srgbClr val="D9D5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19872" y="4773168"/>
            <a:ext cx="3419856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LDM-32 ✗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8119872" y="5485486"/>
            <a:ext cx="3419856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过压缩：第一阶段重建损失成瓶颈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57200" y="65105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Source: Rombach et al., CVPR 2022, Fig. 5（100 DDIM 步，κ=0）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· 推理效率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速度-质量权衡：LDM-4/8 全面占优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47120" cy="28346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 w="12700">
            <a:solidFill>
              <a:srgbClr val="D9D5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5" name="Image 0" descr="ppt_assets/fig6_inpain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0" y="1463040"/>
            <a:ext cx="7040880" cy="2560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206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论文图 6：CelebA-HQ（左）/ ImageNet（右），DDIM 步数 {10,20,50,100,200} 从右向左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4617720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4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横轴 V100 上每张图采样耗时，纵轴 FID（5000 样本评估）</a:t>
            </a:r>
            <a:endParaRPr lang="en-US" sz="145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4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LDM-{4-8} 在同等质量下比高压缩/低压缩版本都快</a:t>
            </a:r>
            <a:endParaRPr lang="en-US" sz="145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4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低步数（20–50 步 DDIM）即可接近最优质量 → 实用性关键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57200" y="65105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Source: Rombach et al., CVPR 2022, Fig. 6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7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3444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241F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312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5760720" y="237744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EE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条件机制与引导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779008" y="331012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49E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拼接 / Cross-Attention / Classifier-Free Guidance —— 本文方法上最大的贡献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49E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26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 · 条件机制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两类条件注入：空间拼接 与 交叉注意力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68680" y="1371600"/>
            <a:ext cx="10469880" cy="3063240"/>
          </a:xfrm>
          <a:prstGeom prst="roundRect">
            <a:avLst>
              <a:gd name="adj" fmla="val 2090"/>
            </a:avLst>
          </a:prstGeom>
          <a:solidFill>
            <a:srgbClr val="FFFFFF"/>
          </a:solidFill>
          <a:ln w="12700">
            <a:solidFill>
              <a:srgbClr val="D9D5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5" name="Image 0" descr="ppt_assets/fig3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9221" y="1481328"/>
            <a:ext cx="5488797" cy="2834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4480560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论文图 3：上=拼接式条件化；下=cross-attention 条件化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57200" y="4892040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EFEDF9"/>
          </a:solidFill>
          <a:ln w="9525">
            <a:solidFill>
              <a:srgbClr val="D9D5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5029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拼接（concatenation）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541324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空间对齐条件：语义图 / 低分辨率图 / 掩码+图像。降采样到潜分辨率后沿通道维拼给 UNet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09360" y="4892040"/>
            <a:ext cx="5394960" cy="1234440"/>
          </a:xfrm>
          <a:prstGeom prst="roundRect">
            <a:avLst>
              <a:gd name="adj" fmla="val 4444"/>
            </a:avLst>
          </a:prstGeom>
          <a:solidFill>
            <a:srgbClr val="EFEDF9"/>
          </a:solidFill>
          <a:ln w="9525">
            <a:solidFill>
              <a:srgbClr val="D9D5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37960" y="5029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Cross-attention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537960" y="541324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任意模态条件：文本 / 类别 / 布局框 / 参数向量。经 τ_θ 编码成 token 序列注入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" y="65105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Source: Rombach et al., CVPR 2022, Sec. 3.3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27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 · 条件机制 ①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拼接式：为空间对齐条件保留卷积本性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5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600200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条件图（256²）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语义图/低分图/掩码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06040" y="2057400"/>
            <a:ext cx="457200" cy="0"/>
          </a:xfrm>
          <a:prstGeom prst="line">
            <a:avLst/>
          </a:prstGeom>
          <a:noFill/>
          <a:ln w="2794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108960" y="160020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5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63824" y="1600200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下采样 ×f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c（64×64）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108960" y="283464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EFEDF9"/>
          </a:solidFill>
          <a:ln w="15875">
            <a:solidFill>
              <a:srgbClr val="D9D5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63824" y="2834640"/>
            <a:ext cx="19933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z_t（4×64×64）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49240" y="201168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⊕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074920" y="2057400"/>
            <a:ext cx="0" cy="1234440"/>
          </a:xfrm>
          <a:prstGeom prst="line">
            <a:avLst/>
          </a:prstGeom>
          <a:noFill/>
          <a:ln w="12700">
            <a:solidFill>
              <a:srgbClr val="D9D5EF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943600" y="2377440"/>
            <a:ext cx="502920" cy="0"/>
          </a:xfrm>
          <a:prstGeom prst="line">
            <a:avLst/>
          </a:prstGeom>
          <a:noFill/>
          <a:ln w="2794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92240" y="1920240"/>
            <a:ext cx="2377440" cy="914400"/>
          </a:xfrm>
          <a:prstGeom prst="roundRect">
            <a:avLst>
              <a:gd name="adj" fmla="val 5000"/>
            </a:avLst>
          </a:prstGeom>
          <a:solidFill>
            <a:srgbClr val="EFEDF9"/>
          </a:solidFill>
          <a:ln w="15875">
            <a:solidFill>
              <a:srgbClr val="4C3F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7104" y="1920240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通道拼接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(4+c)×64×64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15400" y="2377440"/>
            <a:ext cx="457200" cy="0"/>
          </a:xfrm>
          <a:prstGeom prst="line">
            <a:avLst/>
          </a:prstGeom>
          <a:noFill/>
          <a:ln w="2794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418320" y="1920240"/>
            <a:ext cx="22860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9D5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73184" y="1920240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UNet ε_θ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（输入通道加宽）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206240"/>
            <a:ext cx="11247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5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适用任务：语义合成（landscape）、超分辨率（低分图上采样后拼接）、修复（掩码+已知图像拼接）</a:t>
            </a:r>
            <a:endParaRPr lang="en-US" sz="150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5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关键优势：不改网络空间结构 → 保留平移等变性</a:t>
            </a:r>
            <a:endParaRPr lang="en-US" sz="150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5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卷积式采样：256² 训练的模型可滑窗外推到 512×1024（实验部分展示）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Source: Rombach et al., CVPR 2022, Sec. 3.3 / 4.3.2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28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 · 条件机制 ②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Cross-attention：条件注入的四步计算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214884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D9D5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572768"/>
            <a:ext cx="2039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UNet 第 i 层特征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φᵢ(z_t) ∈ R^{N×d_ε}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24912" y="1947672"/>
            <a:ext cx="320040" cy="0"/>
          </a:xfrm>
          <a:prstGeom prst="line">
            <a:avLst/>
          </a:prstGeom>
          <a:noFill/>
          <a:ln w="2794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072384" y="1700784"/>
            <a:ext cx="969264" cy="493776"/>
          </a:xfrm>
          <a:prstGeom prst="roundRect">
            <a:avLst>
              <a:gd name="adj" fmla="val 9259"/>
            </a:avLst>
          </a:prstGeom>
          <a:solidFill>
            <a:srgbClr val="EFEDF9"/>
          </a:solidFill>
          <a:ln w="15875">
            <a:solidFill>
              <a:srgbClr val="4C3F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27248" y="1700784"/>
            <a:ext cx="859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W_Q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069080" y="1947672"/>
            <a:ext cx="320040" cy="0"/>
          </a:xfrm>
          <a:prstGeom prst="line">
            <a:avLst/>
          </a:prstGeom>
          <a:noFill/>
          <a:ln w="2794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416552" y="1572768"/>
            <a:ext cx="141732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D9D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1416" y="1572768"/>
            <a:ext cx="13075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 ∈ R^{N×d}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查询（各空间位置）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346704"/>
            <a:ext cx="214884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D9D5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3346704"/>
            <a:ext cx="2039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 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文本 / 类别 / 布局 / 参数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24912" y="3721608"/>
            <a:ext cx="320040" cy="0"/>
          </a:xfrm>
          <a:prstGeom prst="line">
            <a:avLst/>
          </a:prstGeom>
          <a:noFill/>
          <a:ln w="2794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072384" y="3474720"/>
            <a:ext cx="969264" cy="493776"/>
          </a:xfrm>
          <a:prstGeom prst="roundRect">
            <a:avLst>
              <a:gd name="adj" fmla="val 9259"/>
            </a:avLst>
          </a:prstGeom>
          <a:solidFill>
            <a:srgbClr val="EFEDF9"/>
          </a:solidFill>
          <a:ln w="15875">
            <a:solidFill>
              <a:srgbClr val="4C3FB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27248" y="3474720"/>
            <a:ext cx="8595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τ_θ 编码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69080" y="3721608"/>
            <a:ext cx="320040" cy="0"/>
          </a:xfrm>
          <a:prstGeom prst="line">
            <a:avLst/>
          </a:prstGeom>
          <a:noFill/>
          <a:ln w="2794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416552" y="3310128"/>
            <a:ext cx="14173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875">
            <a:solidFill>
              <a:srgbClr val="D9D5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71416" y="3310128"/>
            <a:ext cx="1307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K, V ∈ R^{M×d}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键 / 值（M 个条件 token，经 W_K、W_V 投影）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63640" y="1554480"/>
            <a:ext cx="539496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D9D5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1554480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打分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498080" y="1554480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 = QKᵀ / √d —— Q 与 K 逐对相似度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961120" y="2176272"/>
            <a:ext cx="0" cy="128016"/>
          </a:xfrm>
          <a:prstGeom prst="line">
            <a:avLst/>
          </a:prstGeom>
          <a:noFill/>
          <a:ln w="2794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263640" y="2340864"/>
            <a:ext cx="539496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D9D5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2340864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归一化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498080" y="2340864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= softmax(S) —— 每行和为 1 的注意力权重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961120" y="2962656"/>
            <a:ext cx="0" cy="128016"/>
          </a:xfrm>
          <a:prstGeom prst="line">
            <a:avLst/>
          </a:prstGeom>
          <a:noFill/>
          <a:ln w="2794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263640" y="3127248"/>
            <a:ext cx="539496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D9D5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3127248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聚合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498080" y="3127248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 = A · V —— 各位置按权重聚合条件信息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961120" y="3749040"/>
            <a:ext cx="0" cy="128016"/>
          </a:xfrm>
          <a:prstGeom prst="line">
            <a:avLst/>
          </a:prstGeom>
          <a:noFill/>
          <a:ln w="2794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263640" y="3913632"/>
            <a:ext cx="5394960" cy="603504"/>
          </a:xfrm>
          <a:prstGeom prst="roundRect">
            <a:avLst>
              <a:gd name="adj" fmla="val 9091"/>
            </a:avLst>
          </a:prstGeom>
          <a:solidFill>
            <a:srgbClr val="EFEDF9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3913632"/>
            <a:ext cx="1005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④ 并入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498080" y="3913632"/>
            <a:ext cx="4069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残差叠加至 φᵢ(z_t)，不替换原特征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861304" y="1947672"/>
            <a:ext cx="365760" cy="0"/>
          </a:xfrm>
          <a:prstGeom prst="line">
            <a:avLst/>
          </a:prstGeom>
          <a:noFill/>
          <a:ln w="2794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 flipV="1">
            <a:off x="5861304" y="3154680"/>
            <a:ext cx="365760" cy="502920"/>
          </a:xfrm>
          <a:prstGeom prst="line">
            <a:avLst/>
          </a:prstGeom>
          <a:noFill/>
          <a:ln w="2794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48640" y="4864608"/>
            <a:ext cx="5486400" cy="585216"/>
          </a:xfrm>
          <a:prstGeom prst="rect">
            <a:avLst/>
          </a:prstGeom>
          <a:solidFill>
            <a:srgbClr val="F7F6FB"/>
          </a:solidFill>
          <a:ln w="9525">
            <a:solidFill>
              <a:srgbClr val="E4E1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" y="4864608"/>
            <a:ext cx="5193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逐位置注入：权重由内容相似度决定，每个空间位置获得专属的条件信息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63640" y="4864608"/>
            <a:ext cx="5486400" cy="585216"/>
          </a:xfrm>
          <a:prstGeom prst="rect">
            <a:avLst/>
          </a:prstGeom>
          <a:solidFill>
            <a:srgbClr val="F7F6FB"/>
          </a:solidFill>
          <a:ln w="9525">
            <a:solidFill>
              <a:srgbClr val="E4E1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28232" y="4864608"/>
            <a:ext cx="5193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模态无关：条件仅需编码为变长 token 序列，替换条件类型只替换 τ_θ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548640" y="5577840"/>
            <a:ext cx="5486400" cy="585216"/>
          </a:xfrm>
          <a:prstGeom prst="rect">
            <a:avLst/>
          </a:prstGeom>
          <a:solidFill>
            <a:srgbClr val="F7F6FB"/>
          </a:solidFill>
          <a:ln w="9525">
            <a:solidFill>
              <a:srgbClr val="E4E1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3232" y="5577840"/>
            <a:ext cx="5193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全程作用：U-Net 各分辨率层级均插入该模块，影响贯穿每个去噪步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263640" y="5577840"/>
            <a:ext cx="5486400" cy="585216"/>
          </a:xfrm>
          <a:prstGeom prst="rect">
            <a:avLst/>
          </a:prstGeom>
          <a:solidFill>
            <a:srgbClr val="F7F6FB"/>
          </a:solidFill>
          <a:ln w="9525">
            <a:solidFill>
              <a:srgbClr val="E4E1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28232" y="5577840"/>
            <a:ext cx="5193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端到端优化：τ_θ、投影矩阵与 ε_θ 由式(3)联合训练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48640" y="63276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权重矩阵 A ∈ R^{N×M}（注意力图）可直接可视化，用于分析空间位置与条件 token 的关联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57200" y="65105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Source: Rombach et al., CVPR 2022, Sec. 3.3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29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 · 条件机制 ②（实例）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走一遍：一条文本如何指挥每个像素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1488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5875">
            <a:solidFill>
              <a:srgbClr val="D9D5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554480"/>
            <a:ext cx="2039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文本条件 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“a CT scan of liver”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651760" y="1988820"/>
            <a:ext cx="411480" cy="0"/>
          </a:xfrm>
          <a:prstGeom prst="line">
            <a:avLst/>
          </a:prstGeom>
          <a:noFill/>
          <a:ln w="2794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108960" y="1554480"/>
            <a:ext cx="2148840" cy="868680"/>
          </a:xfrm>
          <a:prstGeom prst="roundRect">
            <a:avLst>
              <a:gd name="adj" fmla="val 5263"/>
            </a:avLst>
          </a:prstGeom>
          <a:solidFill>
            <a:srgbClr val="EFEDF9"/>
          </a:solidFill>
          <a:ln w="15875">
            <a:solidFill>
              <a:srgbClr val="4C3F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63824" y="1554480"/>
            <a:ext cx="2039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τ_θ：CLIP 文本编码器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（领域专家，可替换）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303520" y="1988820"/>
            <a:ext cx="411480" cy="0"/>
          </a:xfrm>
          <a:prstGeom prst="line">
            <a:avLst/>
          </a:prstGeom>
          <a:noFill/>
          <a:ln w="2794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760720" y="1554480"/>
            <a:ext cx="2148840" cy="868680"/>
          </a:xfrm>
          <a:prstGeom prst="roundRect">
            <a:avLst>
              <a:gd name="adj" fmla="val 5263"/>
            </a:avLst>
          </a:prstGeom>
          <a:solidFill>
            <a:srgbClr val="EFEDF9"/>
          </a:solidFill>
          <a:ln w="15875">
            <a:solidFill>
              <a:srgbClr val="4C3FB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15584" y="1554480"/>
            <a:ext cx="2039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 个条件 token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（K, V 的来源）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21488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5875">
            <a:solidFill>
              <a:srgbClr val="D9D5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2926080"/>
            <a:ext cx="2039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UNet 第 i 层特征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 个空间位置（Q）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651760" y="3360420"/>
            <a:ext cx="411480" cy="0"/>
          </a:xfrm>
          <a:prstGeom prst="line">
            <a:avLst/>
          </a:prstGeom>
          <a:noFill/>
          <a:ln w="2794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108960" y="2926080"/>
            <a:ext cx="2148840" cy="868680"/>
          </a:xfrm>
          <a:prstGeom prst="roundRect">
            <a:avLst>
              <a:gd name="adj" fmla="val 5263"/>
            </a:avLst>
          </a:prstGeom>
          <a:solidFill>
            <a:srgbClr val="EFEDF9"/>
          </a:solidFill>
          <a:ln w="15875">
            <a:solidFill>
              <a:srgbClr val="4C3FB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63824" y="2926080"/>
            <a:ext cx="2039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注意力打分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softmax(QKᵀ/√d)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303520" y="3360420"/>
            <a:ext cx="411480" cy="0"/>
          </a:xfrm>
          <a:prstGeom prst="line">
            <a:avLst/>
          </a:prstGeom>
          <a:noFill/>
          <a:ln w="2794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760720" y="2926080"/>
            <a:ext cx="2148840" cy="868680"/>
          </a:xfrm>
          <a:prstGeom prst="roundRect">
            <a:avLst>
              <a:gd name="adj" fmla="val 5263"/>
            </a:avLst>
          </a:prstGeom>
          <a:solidFill>
            <a:srgbClr val="EFEDF9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15584" y="2926080"/>
            <a:ext cx="2039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每个位置按相关度取 V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残差并回主干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30568" y="2423160"/>
            <a:ext cx="0" cy="50292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366760" y="155448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EFEDF9"/>
          </a:solidFill>
          <a:ln w="9525">
            <a:solidFill>
              <a:srgbClr val="D9D5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31352" y="1664208"/>
            <a:ext cx="3008376" cy="6419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提问 → 应答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531352" y="2270455"/>
            <a:ext cx="3008376" cy="46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Q：图像空间位置在问；K/V：条件 token 在答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366760" y="3017520"/>
            <a:ext cx="3337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换条件 = 换 τ_θ：文本=CLIP、布局=小 CNN、参数向量=MLP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主干 U-Net 不需任何结构改动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12188952" cy="566928"/>
          </a:xfrm>
          <a:prstGeom prst="rect">
            <a:avLst/>
          </a:prstGeom>
          <a:solidFill>
            <a:srgbClr val="EFEDF9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89204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我们的六轴条件（mAs/视角/弧段/r/SOD/SDD）同理：每轴一个 token，τ_θ 用小 MLP/Transformer 即可接入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57200" y="65105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Source: Rombach et al., CVPR 2022, Sec. 3.3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 · 训练目标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 LDM：τ_θ 与 ε_θ 联合优化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" y="1645920"/>
            <a:ext cx="99669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9D5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97280" y="3154680"/>
            <a:ext cx="9966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5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式(3)在式 L_LDM 基础上多了条件路径 τ_θ(y)，期望同时遍历 (E(x), y) 配对</a:t>
            </a:r>
            <a:endParaRPr lang="en-US" sz="155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5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τ_θ 与去噪网络 ε_θ 一起反向传播、联合收敛</a:t>
            </a:r>
            <a:endParaRPr lang="en-US" sz="155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5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y 可以是文本、类别、布局，也可以是参数向量 —— 接口统一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0" y="5029200"/>
            <a:ext cx="12188952" cy="566928"/>
          </a:xfrm>
          <a:prstGeom prst="rect">
            <a:avLst/>
          </a:prstGeom>
          <a:solidFill>
            <a:srgbClr val="EFEDF9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502920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对应我们课题：六轴条件向量 (mAs, 视角数, 弧段, r, SOD, SDD) + 源图像 → 就是 y 的两种实例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57200" y="65105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Source: Rombach et al., CVPR 2022, Eq. (3)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31</a:t>
            </a:r>
            <a:endParaRPr lang="en-US" sz="1050" dirty="0"/>
          </a:p>
        </p:txBody>
      </p:sp>
      <p:sp>
        <p:nvSpPr>
          <p:cNvPr id="11" name="TextBox 10"/>
          <p:cNvSpPr txBox="1"/>
          <p:nvPr/>
        </p:nvSpPr>
        <p:spPr>
          <a:xfrm>
            <a:off x="1371600" y="1940595"/>
            <a:ext cx="9418320" cy="69081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 xmlns:a14="http://schemas.microsoft.com/office/drawing/2010/main" xmlns:mc="http://schemas.openxmlformats.org/markup-compatibility/2006" xmlns:m="http://schemas.openxmlformats.org/officeDocument/2006/math">
            <a:pPr algn="ctr">
              <a:defRPr sz="3150"/>
            </a:pPr>
            <mc:AlternateContent>
              <mc:Choice Requires="a14">
                <a14:m>
                  <m:oMathPara>
                    <m:oMathParaPr>
                      <m:jc m:val="center"/>
                    </m:oMathParaPr>
                    <m:oMath>
                      <m:box>
                        <m:e>
                          <m:sSub>
                            <m:e>
                              <m:r>
                                <a:rPr sz="315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ℒ</m:t>
                              </m:r>
                            </m:e>
                            <m:sub>
                              <m:box>
                                <m:e>
                                  <m:r>
                                    <a:rPr sz="31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L</m:t>
                                  </m:r>
                                  <m:r>
                                    <a:rPr sz="31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D</m:t>
                                  </m:r>
                                  <m:r>
                                    <a:rPr sz="31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M</m:t>
                                  </m:r>
                                </m:e>
                              </m:box>
                            </m:sub>
                          </m:sSub>
                          <m:r>
                            <a:rPr sz="3150">
                              <a:solidFill>
                                <a:srgbClr val="1F2937"/>
                              </a:solidFill>
                            </a:rPr>
                            <m:rPr>
                              <m:sty m:val="i"/>
                            </m:rPr>
                            <m:t>:</m:t>
                          </m:r>
                          <m:r>
                            <a:rPr sz="315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=</m:t>
                          </m:r>
                          <m:sSub>
                            <m:e>
                              <m:r>
                                <a:rPr sz="315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𝔼</m:t>
                              </m:r>
                            </m:e>
                            <m:sub>
                              <m:box>
                                <m:e>
                                  <m:r>
                                    <a:rPr sz="31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ℰ</m:t>
                                  </m:r>
                                  <m:r>
                                    <a:rPr sz="31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p"/>
                                    </m:rPr>
                                    <m:t>(</m:t>
                                  </m:r>
                                  <m:r>
                                    <a:rPr sz="31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x</m:t>
                                  </m:r>
                                  <m:r>
                                    <a:rPr sz="31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p"/>
                                    </m:rPr>
                                    <m:t>)</m:t>
                                  </m:r>
                                  <m:r>
                                    <a:rPr sz="31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p"/>
                                    </m:rPr>
                                    <m:t>,</m:t>
                                  </m:r>
                                  <m:r>
                                    <a:rPr sz="3150">
                                      <a:solidFill>
                                        <a:srgbClr val="1F2937"/>
                                      </a:solidFill>
                                    </a:rPr>
                                    <m:t/>
                                  </m:r>
                                  <m:r>
                                    <a:rPr sz="31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y</m:t>
                                  </m:r>
                                  <m:r>
                                    <a:rPr sz="31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p"/>
                                    </m:rPr>
                                    <m:t>,</m:t>
                                  </m:r>
                                  <m:r>
                                    <a:rPr sz="3150">
                                      <a:solidFill>
                                        <a:srgbClr val="1F2937"/>
                                      </a:solidFill>
                                    </a:rPr>
                                    <m:t/>
                                  </m:r>
                                  <m:r>
                                    <a:rPr sz="31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ϵ</m:t>
                                  </m:r>
                                  <m:r>
                                    <a:rPr sz="31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~</m:t>
                                  </m:r>
                                  <m:r>
                                    <a:rPr sz="31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𝒩</m:t>
                                  </m:r>
                                  <m:r>
                                    <a:rPr sz="31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p"/>
                                    </m:rPr>
                                    <m:t>(</m:t>
                                  </m:r>
                                  <m:r>
                                    <a:rPr sz="31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p"/>
                                    </m:rPr>
                                    <m:t>0</m:t>
                                  </m:r>
                                  <m:r>
                                    <a:rPr sz="31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p"/>
                                    </m:rPr>
                                    <m:t>,</m:t>
                                  </m:r>
                                  <m:r>
                                    <a:rPr sz="31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𝐈</m:t>
                                  </m:r>
                                  <m:r>
                                    <a:rPr sz="31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p"/>
                                    </m:rPr>
                                    <m:t>)</m:t>
                                  </m:r>
                                  <m:r>
                                    <a:rPr sz="31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p"/>
                                    </m:rPr>
                                    <m:t>,</m:t>
                                  </m:r>
                                  <m:r>
                                    <a:rPr sz="3150">
                                      <a:solidFill>
                                        <a:srgbClr val="1F2937"/>
                                      </a:solidFill>
                                    </a:rPr>
                                    <m:t/>
                                  </m:r>
                                  <m:r>
                                    <a:rPr sz="315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i"/>
                                    </m:rPr>
                                    <m:t>t</m:t>
                                  </m:r>
                                </m:e>
                              </m:box>
                            </m:sub>
                          </m:sSub>
                          <m:box>
                            <m:e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box>
                                    <m:e>
                                      <m:sSubSup>
                                        <m:e>
                                          <m:box>
                                            <m:e>
                                              <m:d>
                                                <m:dPr>
                                                  <m:begChr m:val="‖"/>
                                                  <m:endChr m:val="‖"/>
                                                </m:dPr>
                                                <m:e>
                                                  <m:box>
                                                    <m:e>
                                                      <m:r>
                                                        <a:rPr sz="3150">
                                                          <a:solidFill>
                                                            <a:srgbClr val="1F2937"/>
                                                          </a:solidFill>
                                                        </a:rPr>
                                                        <m:rPr>
                                                          <m:sty m:val="i"/>
                                                        </m:rPr>
                                                        <m:t>ϵ</m:t>
                                                      </m:r>
                                                      <m:r>
                                                        <a:rPr sz="3150">
                                                          <a:solidFill>
                                                            <a:srgbClr val="1F2937"/>
                                                          </a:solidFill>
                                                        </a:rPr>
                                                        <m:rPr>
                                                          <m:sty m:val="p"/>
                                                        </m:rPr>
                                                        <m:t>−</m:t>
                                                      </m:r>
                                                      <m:sSub>
                                                        <m:e>
                                                          <m:r>
                                                            <a:rPr sz="3150">
                                                              <a:solidFill>
                                                                <a:srgbClr val="1F2937"/>
                                                              </a:solidFill>
                                                            </a:rPr>
                                                            <m:rPr>
                                                              <m:sty m:val="i"/>
                                                            </m:rPr>
                                                            <m:t>ϵ</m:t>
                                                          </m:r>
                                                        </m:e>
                                                        <m:sub>
                                                          <m:r>
                                                            <a:rPr sz="3150">
                                                              <a:solidFill>
                                                                <a:srgbClr val="1F2937"/>
                                                              </a:solidFill>
                                                            </a:rPr>
                                                            <m:rPr>
                                                              <m:sty m:val="i"/>
                                                            </m:rPr>
                                                            <m:t>θ</m:t>
                                                          </m:r>
                                                        </m:sub>
                                                      </m:sSub>
                                                      <m:box>
                                                        <m:e>
                                                          <m:d>
                                                            <m:dPr>
                                                              <m:begChr m:val="("/>
                                                              <m:endChr m:val=")"/>
                                                            </m:dPr>
                                                            <m:e>
                                                              <m:box>
                                                                <m:e>
                                                                  <m:sSub>
                                                                    <m:e>
                                                                      <m:r>
                                                                        <a:rPr sz="3150">
                                                                          <a:solidFill>
                                                                            <a:srgbClr val="1F2937"/>
                                                                          </a:solidFill>
                                                                        </a:rPr>
                                                                        <m:rPr>
                                                                          <m:sty m:val="i"/>
                                                                        </m:rPr>
                                                                        <m:t>z</m:t>
                                                                      </m:r>
                                                                    </m:e>
                                                                    <m:sub>
                                                                      <m:r>
                                                                        <a:rPr sz="3150">
                                                                          <a:solidFill>
                                                                            <a:srgbClr val="1F2937"/>
                                                                          </a:solidFill>
                                                                        </a:rPr>
                                                                        <m:rPr>
                                                                          <m:sty m:val="i"/>
                                                                        </m:rPr>
                                                                        <m:t>t</m:t>
                                                                      </m:r>
                                                                    </m:sub>
                                                                  </m:sSub>
                                                                  <m:r>
                                                                    <a:rPr sz="3150">
                                                                      <a:solidFill>
                                                                        <a:srgbClr val="1F2937"/>
                                                                      </a:solidFill>
                                                                    </a:rPr>
                                                                    <m:rPr>
                                                                      <m:sty m:val="p"/>
                                                                    </m:rPr>
                                                                    <m:t>,</m:t>
                                                                  </m:r>
                                                                  <m:r>
                                                                    <a:rPr sz="3150">
                                                                      <a:solidFill>
                                                                        <a:srgbClr val="1F2937"/>
                                                                      </a:solidFill>
                                                                    </a:rPr>
                                                                    <m:t/>
                                                                  </m:r>
                                                                  <m:r>
                                                                    <a:rPr sz="3150">
                                                                      <a:solidFill>
                                                                        <a:srgbClr val="1F2937"/>
                                                                      </a:solidFill>
                                                                    </a:rPr>
                                                                    <m:rPr>
                                                                      <m:sty m:val="i"/>
                                                                    </m:rPr>
                                                                    <m:t>t</m:t>
                                                                  </m:r>
                                                                  <m:r>
                                                                    <a:rPr sz="3150">
                                                                      <a:solidFill>
                                                                        <a:srgbClr val="1F2937"/>
                                                                      </a:solidFill>
                                                                    </a:rPr>
                                                                    <m:rPr>
                                                                      <m:sty m:val="p"/>
                                                                    </m:rPr>
                                                                    <m:t>,</m:t>
                                                                  </m:r>
                                                                  <m:r>
                                                                    <a:rPr sz="3150">
                                                                      <a:solidFill>
                                                                        <a:srgbClr val="1F2937"/>
                                                                      </a:solidFill>
                                                                    </a:rPr>
                                                                    <m:t/>
                                                                  </m:r>
                                                                  <m:sSub>
                                                                    <m:e>
                                                                      <m:r>
                                                                        <a:rPr sz="3150">
                                                                          <a:solidFill>
                                                                            <a:srgbClr val="1F2937"/>
                                                                          </a:solidFill>
                                                                        </a:rPr>
                                                                        <m:rPr>
                                                                          <m:sty m:val="i"/>
                                                                        </m:rPr>
                                                                        <m:t>τ</m:t>
                                                                      </m:r>
                                                                    </m:e>
                                                                    <m:sub>
                                                                      <m:r>
                                                                        <a:rPr sz="3150">
                                                                          <a:solidFill>
                                                                            <a:srgbClr val="1F2937"/>
                                                                          </a:solidFill>
                                                                        </a:rPr>
                                                                        <m:rPr>
                                                                          <m:sty m:val="i"/>
                                                                        </m:rPr>
                                                                        <m:t>θ</m:t>
                                                                      </m:r>
                                                                    </m:sub>
                                                                  </m:sSub>
                                                                  <m:r>
                                                                    <a:rPr sz="3150">
                                                                      <a:solidFill>
                                                                        <a:srgbClr val="1F2937"/>
                                                                      </a:solidFill>
                                                                    </a:rPr>
                                                                    <m:rPr>
                                                                      <m:sty m:val="p"/>
                                                                    </m:rPr>
                                                                    <m:t>(</m:t>
                                                                  </m:r>
                                                                  <m:r>
                                                                    <a:rPr sz="3150">
                                                                      <a:solidFill>
                                                                        <a:srgbClr val="1F2937"/>
                                                                      </a:solidFill>
                                                                    </a:rPr>
                                                                    <m:rPr>
                                                                      <m:sty m:val="i"/>
                                                                    </m:rPr>
                                                                    <m:t>y</m:t>
                                                                  </m:r>
                                                                  <m:r>
                                                                    <a:rPr sz="3150">
                                                                      <a:solidFill>
                                                                        <a:srgbClr val="1F2937"/>
                                                                      </a:solidFill>
                                                                    </a:rPr>
                                                                    <m:rPr>
                                                                      <m:sty m:val="p"/>
                                                                    </m:rPr>
                                                                    <m:t>)</m:t>
                                                                  </m:r>
                                                                </m:e>
                                                              </m:box>
                                                            </m:e>
                                                          </m:d>
                                                        </m:e>
                                                      </m:box>
                                                    </m:e>
                                                  </m:box>
                                                </m:e>
                                              </m:d>
                                            </m:e>
                                          </m:box>
                                        </m:e>
                                        <m:sub>
                                          <m:r>
                                            <a:rPr sz="315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p"/>
                                            </m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sz="315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p"/>
                                            </m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box>
                                </m:e>
                              </m:d>
                            </m:e>
                          </m:box>
                        </m:e>
                      </m:box>
                    </m:oMath>
                  </m:oMathPara>
                </a14:m>
              </mc:Choice>
              <mc:Fallback>
                <a:r>
                  <a:t>L_LDM := E[||eps - eps_theta(z_t, t, tau_theta(y))||^2]</a:t>
                </a:r>
              </mc:Fallback>
            </mc:AlternateContent>
            <a:endParaRPr lang="zh-C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 · 采样引导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Classifier-Free Guidance：免分类器的条件强化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667512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D9D5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2606040"/>
            <a:ext cx="6675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4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训练：以一定概率（如 10%）把条件替换为空条件 ∅ → 同一网络兼任无条件模型</a:t>
            </a:r>
            <a:endParaRPr lang="en-US" sz="145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4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采样：沿“条件方向”外推，w 控制遵从度</a:t>
            </a:r>
            <a:endParaRPr lang="en-US" sz="145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4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 = 1 退化为普通条件采样；w↑ 条件遵从↑、样本质量↑、多样性↓</a:t>
            </a:r>
            <a:endParaRPr lang="en-US" sz="145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4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无需分类器（对比 classifier guidance），对任意条件类型通用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7589520" y="1554480"/>
            <a:ext cx="18288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D9D5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44384" y="1554480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ε_θ(z_t, ∅)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589520" y="2468880"/>
            <a:ext cx="18288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D9D5E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44384" y="2468880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ε_θ(z_t, c)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464040" y="1892808"/>
            <a:ext cx="411480" cy="228600"/>
          </a:xfrm>
          <a:prstGeom prst="line">
            <a:avLst/>
          </a:prstGeom>
          <a:noFill/>
          <a:ln w="27940">
            <a:solidFill>
              <a:srgbClr val="4C3FB1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 flipV="1">
            <a:off x="9464040" y="2350008"/>
            <a:ext cx="411480" cy="228600"/>
          </a:xfrm>
          <a:prstGeom prst="line">
            <a:avLst/>
          </a:prstGeom>
          <a:noFill/>
          <a:ln w="27940">
            <a:solidFill>
              <a:srgbClr val="4C3FB1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9921240" y="1892808"/>
            <a:ext cx="1828800" cy="685800"/>
          </a:xfrm>
          <a:prstGeom prst="roundRect">
            <a:avLst>
              <a:gd name="adj" fmla="val 6667"/>
            </a:avLst>
          </a:prstGeom>
          <a:solidFill>
            <a:srgbClr val="EFEDF9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976104" y="1892808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ε̃（外推）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589520" y="3310128"/>
            <a:ext cx="4160520" cy="1261872"/>
          </a:xfrm>
          <a:prstGeom prst="roundRect">
            <a:avLst>
              <a:gd name="adj" fmla="val 4348"/>
            </a:avLst>
          </a:prstGeom>
          <a:solidFill>
            <a:srgbClr val="EFEDF9"/>
          </a:solidFill>
          <a:ln w="9525">
            <a:solidFill>
              <a:srgbClr val="D9D5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54112" y="3419856"/>
            <a:ext cx="3831336" cy="656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10.56 → 3.60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7754112" y="4042014"/>
            <a:ext cx="3831336" cy="479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类条件 ImageNet FID（w=1.5）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7589520" y="4681728"/>
            <a:ext cx="4160520" cy="1261872"/>
          </a:xfrm>
          <a:prstGeom prst="roundRect">
            <a:avLst>
              <a:gd name="adj" fmla="val 4348"/>
            </a:avLst>
          </a:prstGeom>
          <a:solidFill>
            <a:srgbClr val="EFEDF9"/>
          </a:solidFill>
          <a:ln w="9525">
            <a:solidFill>
              <a:srgbClr val="D9D5E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54112" y="4791456"/>
            <a:ext cx="3831336" cy="6561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23.35 → 12.61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7754112" y="5413614"/>
            <a:ext cx="3831336" cy="479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文本条件 COCO FID（w=1.5）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5105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Source: Ho &amp; Salimans 2022; Rombach et al., CVPR 2022, Tab. 2/3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32</a:t>
            </a:r>
            <a:endParaRPr lang="en-US" sz="1050" dirty="0"/>
          </a:p>
        </p:txBody>
      </p:sp>
      <p:sp>
        <p:nvSpPr>
          <p:cNvPr id="23" name="TextBox 22"/>
          <p:cNvSpPr txBox="1"/>
          <p:nvPr/>
        </p:nvSpPr>
        <p:spPr>
          <a:xfrm>
            <a:off x="731520" y="1668960"/>
            <a:ext cx="6126480" cy="41111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 xmlns:a14="http://schemas.microsoft.com/office/drawing/2010/main" xmlns:mc="http://schemas.openxmlformats.org/markup-compatibility/2006" xmlns:m="http://schemas.openxmlformats.org/officeDocument/2006/math">
            <a:pPr algn="ctr">
              <a:defRPr sz="2100"/>
            </a:pPr>
            <mc:AlternateContent>
              <mc:Choice Requires="a14">
                <a14:m>
                  <m:oMathPara>
                    <m:oMathParaPr>
                      <m:jc m:val="center"/>
                    </m:oMathParaPr>
                    <m:oMath>
                      <m:box>
                        <m:e>
                          <m:sSub>
                            <m:e>
                              <m:limUpp>
                                <m:e>
                                  <m:box>
                                    <m:e>
                                      <m:r>
                                        <a:rPr sz="21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i"/>
                                        </m:rPr>
                                        <m:t>ϵ</m:t>
                                      </m:r>
                                    </m:e>
                                  </m:box>
                                </m:e>
                                <m:lim>
                                  <m:r>
                                    <a:rPr sz="2100">
                                      <a:solidFill>
                                        <a:srgbClr val="1F2937"/>
                                      </a:solidFill>
                                    </a:rPr>
                                    <m:rPr>
                                      <m:sty m:val="p"/>
                                    </m:rPr>
                                    <m:t>~</m:t>
                                  </m:r>
                                </m:lim>
                              </m:limUpp>
                            </m:e>
                            <m:sub>
                              <m:r>
                                <a:rPr sz="21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θ</m:t>
                              </m:r>
                            </m:sub>
                          </m:sSub>
                          <m:r>
                            <a:rPr sz="21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r>
                                <a:rPr sz="21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z</m:t>
                              </m:r>
                            </m:e>
                            <m:sub>
                              <m:r>
                                <a:rPr sz="21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t</m:t>
                              </m:r>
                            </m:sub>
                          </m:sSub>
                          <m:r>
                            <a:rPr sz="21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,</m:t>
                          </m:r>
                          <m:r>
                            <a:rPr sz="2100">
                              <a:solidFill>
                                <a:srgbClr val="1F2937"/>
                              </a:solidFill>
                            </a:rPr>
                            <m:rPr>
                              <m:sty m:val="i"/>
                            </m:rPr>
                            <m:t>c</m:t>
                          </m:r>
                          <m:r>
                            <a:rPr sz="21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)</m:t>
                          </m:r>
                          <m:r>
                            <a:rPr sz="21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=</m:t>
                          </m:r>
                          <m:sSub>
                            <m:e>
                              <m:r>
                                <a:rPr sz="21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ϵ</m:t>
                              </m:r>
                            </m:e>
                            <m:sub>
                              <m:r>
                                <a:rPr sz="21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θ</m:t>
                              </m:r>
                            </m:sub>
                          </m:sSub>
                          <m:r>
                            <a:rPr sz="21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(</m:t>
                          </m:r>
                          <m:sSub>
                            <m:e>
                              <m:r>
                                <a:rPr sz="21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z</m:t>
                              </m:r>
                            </m:e>
                            <m:sub>
                              <m:r>
                                <a:rPr sz="2100">
                                  <a:solidFill>
                                    <a:srgbClr val="1F2937"/>
                                  </a:solidFill>
                                </a:rPr>
                                <m:rPr>
                                  <m:sty m:val="i"/>
                                </m:rPr>
                                <m:t>t</m:t>
                              </m:r>
                            </m:sub>
                          </m:sSub>
                          <m:r>
                            <a:rPr sz="21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,</m:t>
                          </m:r>
                          <m:r>
                            <a:rPr sz="21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∅</m:t>
                          </m:r>
                          <m:r>
                            <a:rPr sz="21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)</m:t>
                          </m:r>
                          <m:r>
                            <a:rPr sz="21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+</m:t>
                          </m:r>
                          <m:r>
                            <a:rPr sz="2100">
                              <a:solidFill>
                                <a:srgbClr val="1F2937"/>
                              </a:solidFill>
                            </a:rPr>
                            <m:rPr>
                              <m:sty m:val="i"/>
                            </m:rPr>
                            <m:t>w</m:t>
                          </m:r>
                          <m:r>
                            <a:rPr sz="2100">
                              <a:solidFill>
                                <a:srgbClr val="1F2937"/>
                              </a:solidFill>
                            </a:rPr>
                            <m:rPr>
                              <m:sty m:val="p"/>
                            </m:rPr>
                            <m:t>·</m:t>
                          </m:r>
                          <m:box>
                            <m:e>
                              <m:d>
                                <m:dPr>
                                  <m:begChr m:val="["/>
                                  <m:endChr m:val="]"/>
                                </m:dPr>
                                <m:e>
                                  <m:box>
                                    <m:e>
                                      <m:sSub>
                                        <m:e>
                                          <m:r>
                                            <a:rPr sz="210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ϵ</m:t>
                                          </m:r>
                                        </m:e>
                                        <m:sub>
                                          <m:r>
                                            <a:rPr sz="210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θ</m:t>
                                          </m:r>
                                        </m:sub>
                                      </m:sSub>
                                      <m:r>
                                        <a:rPr sz="21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(</m:t>
                                      </m:r>
                                      <m:sSub>
                                        <m:e>
                                          <m:r>
                                            <a:rPr sz="210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sz="210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t</m:t>
                                          </m:r>
                                        </m:sub>
                                      </m:sSub>
                                      <m:r>
                                        <a:rPr sz="21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,</m:t>
                                      </m:r>
                                      <m:r>
                                        <a:rPr sz="21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i"/>
                                        </m:rPr>
                                        <m:t>c</m:t>
                                      </m:r>
                                      <m:r>
                                        <a:rPr sz="21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)</m:t>
                                      </m:r>
                                      <m:r>
                                        <a:rPr sz="21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−</m:t>
                                      </m:r>
                                      <m:sSub>
                                        <m:e>
                                          <m:r>
                                            <a:rPr sz="210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ϵ</m:t>
                                          </m:r>
                                        </m:e>
                                        <m:sub>
                                          <m:r>
                                            <a:rPr sz="210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θ</m:t>
                                          </m:r>
                                        </m:sub>
                                      </m:sSub>
                                      <m:r>
                                        <a:rPr sz="21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(</m:t>
                                      </m:r>
                                      <m:sSub>
                                        <m:e>
                                          <m:r>
                                            <a:rPr sz="210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z</m:t>
                                          </m:r>
                                        </m:e>
                                        <m:sub>
                                          <m:r>
                                            <a:rPr sz="2100">
                                              <a:solidFill>
                                                <a:srgbClr val="1F2937"/>
                                              </a:solidFill>
                                            </a:rPr>
                                            <m:rPr>
                                              <m:sty m:val="i"/>
                                            </m:rPr>
                                            <m:t>t</m:t>
                                          </m:r>
                                        </m:sub>
                                      </m:sSub>
                                      <m:r>
                                        <a:rPr sz="21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,</m:t>
                                      </m:r>
                                      <m:r>
                                        <a:rPr sz="21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∅</m:t>
                                      </m:r>
                                      <m:r>
                                        <a:rPr sz="2100">
                                          <a:solidFill>
                                            <a:srgbClr val="1F2937"/>
                                          </a:solidFill>
                                        </a:rPr>
                                        <m:rPr>
                                          <m:sty m:val="p"/>
                                        </m:rPr>
                                        <m:t>)</m:t>
                                      </m:r>
                                    </m:e>
                                  </m:box>
                                </m:e>
                              </m:d>
                            </m:e>
                          </m:box>
                        </m:e>
                      </m:box>
                    </m:oMath>
                  </m:oMathPara>
                </a14:m>
              </mc:Choice>
              <mc:Fallback>
                <a:r>
                  <a:t>eps~_theta(z_t,c) = eps_theta(z_t,null) + w [eps_theta(z_t,c) - eps_theta(z_t,null)]</a:t>
                </a:r>
              </mc:Fallback>
            </mc:AlternateContent>
            <a:endParaRPr lang="zh-C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7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3444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241F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312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5760720" y="237744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EE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实验结果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779008" y="331012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49E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五类任务、两图两表：只讲支撑设计决策的关键数字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49E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33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①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无条件生成：与 GAN 系高度竞争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4712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D9D5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pic>
        <p:nvPicPr>
          <p:cNvPr id="5" name="Image 0" descr="ppt_assets/fig4_samp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9320" y="1508760"/>
            <a:ext cx="8802880" cy="2103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79476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论文图 4：CelebA-HQ / FFHQ / LSUN-Churches / LSUN-Bedrooms / ImageNet 256² 生成样例</a:t>
            </a:r>
            <a:endParaRPr lang="en-US" sz="115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206240"/>
          <a:ext cx="6949440" cy="16002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1554480"/>
                <a:gridCol w="1554480"/>
              </a:tblGrid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数据集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FB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最佳 GAN 系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FB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LDM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FB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读数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FB1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CelebA-HQ 256²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ProjectedGAN 3.08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LDM-4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FID 4.98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FFHQ 256²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ADM 1.90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LDM-8 (KL)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FID 4.02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LSUN-Churches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ProjectedGAN 1.59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LDM-4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FID 2.95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772400" y="434340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FID 仍落后顶级 GAN，但 recall（多样性）普遍更好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3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200 步 DDIM 即达最优 FID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57200" y="65105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Source: Rombach et al., CVPR 2022, Tab. 1（FID ↓）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34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②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类条件 ImageNet：以更少参数刷新 SOTA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7150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ImageNet 256² 类条件生成，FID ↓（越低越好）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7635240" y="1645920"/>
            <a:ext cx="40690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LDM-4-G（CFG w=1.5）FID 3.60，超过 ADM-G 的 4.59 —— 新 SOTA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参数量 400M vs ADM-G 608M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IS 247.7（ADM-G 186.7）；Precision 0.87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 CFG 时（10.56）与 ADM（10.94）持平 → 收益主要来自 CFG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635240" y="4572000"/>
            <a:ext cx="4069080" cy="1371600"/>
          </a:xfrm>
          <a:prstGeom prst="roundRect">
            <a:avLst>
              <a:gd name="adj" fmla="val 4000"/>
            </a:avLst>
          </a:prstGeom>
          <a:solidFill>
            <a:srgbClr val="EFEDF9"/>
          </a:solidFill>
          <a:ln w="9525">
            <a:solidFill>
              <a:srgbClr val="D9D5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99832" y="4681728"/>
            <a:ext cx="3739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400M 参数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799832" y="5367528"/>
            <a:ext cx="37398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完成 608M 模型未及的质量（250 DDIM 步）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Source: Rombach et al., CVPR 2022, Tab. 3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35</a:t>
            </a:r>
            <a:endParaRPr lang="en-US" sz="10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③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文本到图像：COCO 零样本大幅领先（当年）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7150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MS-COCO 验证集零样本文本到图像，FID ↓（250 DDIM 步）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7635240" y="1645920"/>
            <a:ext cx="4069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τ_θ = CLIP 文本 Transformer（领域专家实例）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无引导已领先 AR/GAN 路线（23.35 vs ~27）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CFG（w=1.5）再近乎减半 → 12.61，IS 26.6</a:t>
            </a:r>
            <a:endParaRPr lang="en-US" sz="140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cross-attention 的伸缩性首次在文本模态上验证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635240" y="4572000"/>
            <a:ext cx="4069080" cy="1371600"/>
          </a:xfrm>
          <a:prstGeom prst="roundRect">
            <a:avLst>
              <a:gd name="adj" fmla="val 4000"/>
            </a:avLst>
          </a:prstGeom>
          <a:solidFill>
            <a:srgbClr val="EFEDF9"/>
          </a:solidFill>
          <a:ln w="9525">
            <a:solidFill>
              <a:srgbClr val="D9D5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99832" y="4681728"/>
            <a:ext cx="3739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12.61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799832" y="5367528"/>
            <a:ext cx="37398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LDM-KL-8 + CFG 的 COCO FID（DALL·E 为 27.50）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5105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Source: Rombach et al., CVPR 2022, Tab. 2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36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④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卷积式采样：256² 训练 → 512×1024 推理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2918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875">
            <a:solidFill>
              <a:srgbClr val="D9D5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828800"/>
            <a:ext cx="31821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256 × 256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训练分辨率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977640" y="2514600"/>
            <a:ext cx="2103120" cy="0"/>
          </a:xfrm>
          <a:prstGeom prst="line">
            <a:avLst/>
          </a:prstGeom>
          <a:noFill/>
          <a:ln w="27940">
            <a:solidFill>
              <a:srgbClr val="4C3FB1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886200" y="26974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卷积式滑窗采样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（无需重训练）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0" y="1828800"/>
            <a:ext cx="3291840" cy="1371600"/>
          </a:xfrm>
          <a:prstGeom prst="roundRect">
            <a:avLst>
              <a:gd name="adj" fmla="val 3333"/>
            </a:avLst>
          </a:prstGeom>
          <a:solidFill>
            <a:srgbClr val="EFEDF9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5664" y="1828800"/>
            <a:ext cx="31821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512 × 1024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推理分辨率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11247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5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拼接式条件不改变网络的空间结构 → UNet 是纯卷积滑窗可用的</a:t>
            </a:r>
            <a:endParaRPr lang="en-US" sz="150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5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论文图 8：语义合成（landscape）任务上直接外推 4 倍像素</a:t>
            </a:r>
            <a:endParaRPr lang="en-US" sz="150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5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全局 attention 的 AR 路线（DALL·E）做不到——注意力模式绑定训练分辨率</a:t>
            </a:r>
            <a:endParaRPr lang="en-US" sz="150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5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对我们的意义：CT/MRI 不同矩阵尺寸/FOV 的泛化可能性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5105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Source: Rombach et al., CVPR 2022, Sec. 4.3.2 / Fig. 8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37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实验 ⑤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超分辨率与图像修复：像素级任务的落地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532120" cy="4343400"/>
          </a:xfrm>
          <a:prstGeom prst="roundRect">
            <a:avLst>
              <a:gd name="adj" fmla="val 1474"/>
            </a:avLst>
          </a:prstGeom>
          <a:solidFill>
            <a:srgbClr val="FFFFFF"/>
          </a:solidFill>
          <a:ln w="12700">
            <a:solidFill>
              <a:srgbClr val="D9D5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4592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超分辨率（×4，ImageNet 256²）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4983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 = 上采样后的低分图，与 z_t 通道拼接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LDM-SR 纹理真实感优于 SR3；精细重复结构不如 SR3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big 版 552M、100 步：FID 2.4†，A100 上 4.5 s/图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引导版 184M、50 步：0.38 s/图（快 12 倍，质量略降）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532120" cy="4343400"/>
          </a:xfrm>
          <a:prstGeom prst="roundRect">
            <a:avLst>
              <a:gd name="adj" fmla="val 1474"/>
            </a:avLst>
          </a:prstGeom>
          <a:solidFill>
            <a:srgbClr val="FFFFFF"/>
          </a:solidFill>
          <a:ln w="12700">
            <a:solidFill>
              <a:srgbClr val="D9D5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64592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图像修复（CelebA-HQ / Places2）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46520" y="2194560"/>
            <a:ext cx="4983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 = 掩码 + 已知图像拼接；采样每步做潜层融合（已知区域保持 noised 版本）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big + 微调（387M）：40–50% 掩码下 FID 9.39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用户研究整体优于 LaMa（纯判别式修复）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组合式场景合成：多对象布局 → cross-attention 的功劳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Source: Rombach et al., CVPR 2022, Tab. 4 / Tab. 7（†FID 于验证集特征）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38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讨论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局限：LDM 没解决的问题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68580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5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两阶段非端到端：第一阶段重建误差是生成质量的硬上界，E/D 无法感知下游需求</a:t>
            </a:r>
            <a:endParaRPr lang="en-US" sz="155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5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潜空间正则的取舍（KL vs VQ、权重多大）仍是经验权衡，无理论指导</a:t>
            </a:r>
            <a:endParaRPr lang="en-US" sz="155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5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文本理解完全依赖冻结的 CLIP——语义能力受制于外部模型</a:t>
            </a:r>
            <a:endParaRPr lang="en-US" sz="155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5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高频细节全交给解码器：极端压缩（f≥32）下细节失真</a:t>
            </a:r>
            <a:endParaRPr lang="en-US" sz="155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5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采样仍是多步迭代（相比 GAN 单步），实时性依赖蒸馏等后处理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772400" y="1508760"/>
            <a:ext cx="3931920" cy="1920240"/>
          </a:xfrm>
          <a:prstGeom prst="roundRect">
            <a:avLst>
              <a:gd name="adj" fmla="val 2857"/>
            </a:avLst>
          </a:prstGeom>
          <a:solidFill>
            <a:srgbClr val="EFEDF9"/>
          </a:solidFill>
          <a:ln w="9525">
            <a:solidFill>
              <a:srgbClr val="D9D5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36992" y="1618488"/>
            <a:ext cx="3602736" cy="998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上界效应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936992" y="2622499"/>
            <a:ext cx="3602736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对我们：CT 的 HU 定量精度直接受 VAE 重建上界约束（HU MAE 评估必做）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772400" y="3657600"/>
            <a:ext cx="3931920" cy="1920240"/>
          </a:xfrm>
          <a:prstGeom prst="roundRect">
            <a:avLst>
              <a:gd name="adj" fmla="val 2857"/>
            </a:avLst>
          </a:prstGeom>
          <a:solidFill>
            <a:srgbClr val="EFEDF9"/>
          </a:solidFill>
          <a:ln w="9525">
            <a:solidFill>
              <a:srgbClr val="D9D5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36992" y="3767328"/>
            <a:ext cx="3602736" cy="998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正则权衡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936992" y="4771339"/>
            <a:ext cx="3602736" cy="729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对我们：医学影像潜空间统计与自然图像不同，KL 权重需重调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39</a:t>
            </a:r>
            <a:endParaRPr lang="en-US" sz="10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影响与地位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从论文到生态：Stable Diffusion 的起点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566160" cy="1645920"/>
          </a:xfrm>
          <a:prstGeom prst="roundRect">
            <a:avLst>
              <a:gd name="adj" fmla="val 3333"/>
            </a:avLst>
          </a:prstGeom>
          <a:solidFill>
            <a:srgbClr val="EFEDF9"/>
          </a:solidFill>
          <a:ln w="9525">
            <a:solidFill>
              <a:srgbClr val="D9D5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572768"/>
            <a:ext cx="3236976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39,000+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21792" y="2417674"/>
            <a:ext cx="3236976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被引（截至 2026 年）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06240" y="1463040"/>
            <a:ext cx="3566160" cy="1645920"/>
          </a:xfrm>
          <a:prstGeom prst="roundRect">
            <a:avLst>
              <a:gd name="adj" fmla="val 3333"/>
            </a:avLst>
          </a:prstGeom>
          <a:solidFill>
            <a:srgbClr val="EFEDF9"/>
          </a:solidFill>
          <a:ln w="9525">
            <a:solidFill>
              <a:srgbClr val="D9D5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70832" y="1572768"/>
            <a:ext cx="3236976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SD 1.x / 2.x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370832" y="2417674"/>
            <a:ext cx="3236976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Stable Diffusion 直接基于 LDM-KL-8 架构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55280" y="1463040"/>
            <a:ext cx="3749040" cy="1645920"/>
          </a:xfrm>
          <a:prstGeom prst="roundRect">
            <a:avLst>
              <a:gd name="adj" fmla="val 3333"/>
            </a:avLst>
          </a:prstGeom>
          <a:solidFill>
            <a:srgbClr val="EFEDF9"/>
          </a:solidFill>
          <a:ln w="9525">
            <a:solidFill>
              <a:srgbClr val="D9D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19872" y="1572768"/>
            <a:ext cx="3419856" cy="855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diffusers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119872" y="2417674"/>
            <a:ext cx="3419856" cy="625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AutoencoderKL + UNet2DConditionModel 即本文两阶段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251460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D9D5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" y="3931920"/>
            <a:ext cx="2404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2021.12 arXiv v1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017520" y="4453128"/>
            <a:ext cx="274320" cy="0"/>
          </a:xfrm>
          <a:prstGeom prst="line">
            <a:avLst/>
          </a:prstGeom>
          <a:noFill/>
          <a:ln w="2794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337560" y="3931920"/>
            <a:ext cx="251460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D9D5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92424" y="3931920"/>
            <a:ext cx="2404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2022.06 CVPR 发表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897880" y="4453128"/>
            <a:ext cx="274320" cy="0"/>
          </a:xfrm>
          <a:prstGeom prst="line">
            <a:avLst/>
          </a:prstGeom>
          <a:noFill/>
          <a:ln w="2794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217920" y="3931920"/>
            <a:ext cx="2514600" cy="1051560"/>
          </a:xfrm>
          <a:prstGeom prst="roundRect">
            <a:avLst>
              <a:gd name="adj" fmla="val 4348"/>
            </a:avLst>
          </a:prstGeom>
          <a:solidFill>
            <a:srgbClr val="EFEDF9"/>
          </a:solidFill>
          <a:ln w="15875">
            <a:solidFill>
              <a:srgbClr val="D9D5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2784" y="3931920"/>
            <a:ext cx="2404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2022.08 Stable Diffusion 开源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778240" y="4453128"/>
            <a:ext cx="274320" cy="0"/>
          </a:xfrm>
          <a:prstGeom prst="line">
            <a:avLst/>
          </a:prstGeom>
          <a:noFill/>
          <a:ln w="2794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098280" y="3931920"/>
            <a:ext cx="251460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875">
            <a:solidFill>
              <a:srgbClr val="D9D5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53144" y="3931920"/>
            <a:ext cx="2404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2023+ 生态：SDXL / ControlNet / 医学 LDM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5349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方法论遗产：两阶段解耦 + cross-attention 条件接口，成为后续所有文生图模型的标配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40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7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23444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241F4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312A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5760720" y="237744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0EE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对我们课题的启发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779008" y="3310128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49E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 LDM 原型的三个设计决策：架构复刻 / 条件注入选型 / CT 特殊性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A49E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41</a:t>
            </a:r>
            <a:endParaRPr lang="en-US" sz="10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启发 ①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主模型直接对标：实验路线照 LDM 复刻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5544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875">
            <a:solidFill>
              <a:srgbClr val="D9D5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645920"/>
            <a:ext cx="14447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CT 切片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512×512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057400" y="2125980"/>
            <a:ext cx="365760" cy="0"/>
          </a:xfrm>
          <a:prstGeom prst="line">
            <a:avLst/>
          </a:prstGeom>
          <a:noFill/>
          <a:ln w="2794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468880" y="1645920"/>
            <a:ext cx="1371600" cy="960120"/>
          </a:xfrm>
          <a:prstGeom prst="roundRect">
            <a:avLst>
              <a:gd name="adj" fmla="val 4762"/>
            </a:avLst>
          </a:prstGeom>
          <a:solidFill>
            <a:srgbClr val="EFEDF9"/>
          </a:solidFill>
          <a:ln w="15875">
            <a:solidFill>
              <a:srgbClr val="4C3F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23744" y="1645920"/>
            <a:ext cx="12618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VAE 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86200" y="2125980"/>
            <a:ext cx="365760" cy="0"/>
          </a:xfrm>
          <a:prstGeom prst="line">
            <a:avLst/>
          </a:prstGeom>
          <a:noFill/>
          <a:ln w="2794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297680" y="1645920"/>
            <a:ext cx="16459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875">
            <a:solidFill>
              <a:srgbClr val="D9D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52544" y="1645920"/>
            <a:ext cx="15361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潜变量 z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(f 待消融)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89320" y="2125980"/>
            <a:ext cx="365760" cy="0"/>
          </a:xfrm>
          <a:prstGeom prst="line">
            <a:avLst/>
          </a:prstGeom>
          <a:noFill/>
          <a:ln w="2794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00800" y="1645920"/>
            <a:ext cx="3200400" cy="960120"/>
          </a:xfrm>
          <a:prstGeom prst="roundRect">
            <a:avLst>
              <a:gd name="adj" fmla="val 4762"/>
            </a:avLst>
          </a:prstGeom>
          <a:solidFill>
            <a:srgbClr val="EFEDF9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5664" y="1645920"/>
            <a:ext cx="3090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 UNet ε_θ(z_t, t, τ_θ(条件))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646920" y="2125980"/>
            <a:ext cx="365760" cy="0"/>
          </a:xfrm>
          <a:prstGeom prst="line">
            <a:avLst/>
          </a:prstGeom>
          <a:noFill/>
          <a:ln w="2794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058400" y="1645920"/>
            <a:ext cx="1645920" cy="960120"/>
          </a:xfrm>
          <a:prstGeom prst="roundRect">
            <a:avLst>
              <a:gd name="adj" fmla="val 4762"/>
            </a:avLst>
          </a:prstGeom>
          <a:solidFill>
            <a:srgbClr val="EFEDF9"/>
          </a:solidFill>
          <a:ln w="15875">
            <a:solidFill>
              <a:srgbClr val="4C3FB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13264" y="1645920"/>
            <a:ext cx="15361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VAE D →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目标条件图像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3063240"/>
            <a:ext cx="11247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5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顺序 1：单独训练并冻结 VAE —— 验收标准加 CT 特有指标（HU MAE / 结构 SSIM）</a:t>
            </a:r>
            <a:endParaRPr lang="en-US" sz="150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5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顺序 2：潜空间条件 UNet —— 六轴条件经 τ_θ 注入</a:t>
            </a:r>
            <a:endParaRPr lang="en-US" sz="150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5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顺序 3：复刻论文图 5 的压缩率消融（f=2/4/8），CT 上重找甜点区</a:t>
            </a:r>
            <a:endParaRPr lang="en-US" sz="1500" dirty="0"/>
          </a:p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5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已有基础：小复刻已验证“条件差向量驱动转换”（test PSNR 22.30 vs 16.33，+6dB）——那是像素级；LDM 是下一步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42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启发 ②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六轴条件的注入选型：三条路线对照</a:t>
            </a:r>
            <a:endParaRPr lang="en-US" sz="28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2743200"/>
        </p:xfrm>
        <a:graphic>
          <a:graphicData uri="http://schemas.openxmlformats.org/drawingml/2006/table">
            <a:tbl>
              <a:tblPr/>
              <a:tblGrid>
                <a:gridCol w="2743200"/>
                <a:gridCol w="3017520"/>
                <a:gridCol w="2926080"/>
                <a:gridCol w="256032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注入方式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FB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适配条件类型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FB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优点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FB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注意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3FB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拼接 concat（本文）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空间对齐：源图像潜变量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保留平移等变、可外推分辨率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只吃张量型条件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Cross-attention（本文）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任意 token：六轴参数、文本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通用可插拔、多条件容器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标量条件略绕（先成 token）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FiLM 调制（论文5 PDF）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标量参数：几何/剂量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逐通道仿射、极轻量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表达力弱于注意力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4617720"/>
            <a:ext cx="12188952" cy="566928"/>
          </a:xfrm>
          <a:prstGeom prst="rect">
            <a:avLst/>
          </a:prstGeom>
          <a:solidFill>
            <a:srgbClr val="EFEDF9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617720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初步方案：源图像 → 拼接；六轴向量 → cross-attention（每轴一个 token）；FiLM 作对照实验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57200" y="54406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▪"/>
            </a:pPr>
            <a:r>
              <a:rPr lang="en-US" sz="140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与上次汇报的论文5（PDF/FiLM）正好构成两条注入路线的对照——组会可请老师给意见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43</a:t>
            </a:r>
            <a:endParaRPr lang="en-US" sz="10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启发 ③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CT 的特殊性与未见条件组合泛化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532120" cy="4389120"/>
          </a:xfrm>
          <a:prstGeom prst="roundRect">
            <a:avLst>
              <a:gd name="adj" fmla="val 1458"/>
            </a:avLst>
          </a:prstGeom>
          <a:solidFill>
            <a:srgbClr val="FFFFFF"/>
          </a:solidFill>
          <a:ln w="12700">
            <a:solidFill>
              <a:srgbClr val="D9D5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91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 的选择：CT 比自然图像更保守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4983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CT 是定量成像：HU 误差直接传导诊断信息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细微结构（骨小梁、小病灶）对重建敏感 → f=4 甚至 2 起步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潜空间统计与自然图像不同：KL 权重需在 CT 上重调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验收指标：HU MAE / RMSE + 器官分割一致性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532120" cy="4389120"/>
          </a:xfrm>
          <a:prstGeom prst="roundRect">
            <a:avLst>
              <a:gd name="adj" fmla="val 1458"/>
            </a:avLst>
          </a:prstGeom>
          <a:solidFill>
            <a:srgbClr val="FFFFFF"/>
          </a:solidFill>
          <a:ln w="12700">
            <a:solidFill>
              <a:srgbClr val="D9D5EF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691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2E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未见条件组合泛化 ↔ CFG 思想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46520" y="2240280"/>
            <a:ext cx="4983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CFG 本质：沿"条件方向"差值外推（ε_c − ε_∅）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与我们小复刻的"条件差向量"假设同构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训练时对六轴条件做 5–10% 随机 dropout，保留无条件分支</a:t>
            </a:r>
            <a:endParaRPr lang="en-US" sz="135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推理时可调 w：条件遵从度 vs 多样性的旋钮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44</a:t>
            </a:r>
            <a:endParaRPr lang="en-US" sz="10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4C3FB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五句话带走 LDM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600200" cy="749808"/>
          </a:xfrm>
          <a:prstGeom prst="roundRect">
            <a:avLst>
              <a:gd name="adj" fmla="val 6098"/>
            </a:avLst>
          </a:prstGeom>
          <a:solidFill>
            <a:srgbClr val="4C3FB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解耦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331720" y="1463040"/>
            <a:ext cx="9372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图像生成 = 感知压缩（自编码器）+ 语义生成（潜空间扩散），算力降 1–2 个数量级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2395728"/>
            <a:ext cx="1600200" cy="749808"/>
          </a:xfrm>
          <a:prstGeom prst="roundRect">
            <a:avLst>
              <a:gd name="adj" fmla="val 6098"/>
            </a:avLst>
          </a:prstGeom>
          <a:solidFill>
            <a:srgbClr val="4C3FB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395728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甜点区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331720" y="2395728"/>
            <a:ext cx="9372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 ∈ [4,16]：压缩不足太贵、过压缩伤上界（ImageNet 消融 FID gap 38）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57200" y="3328416"/>
            <a:ext cx="1600200" cy="749808"/>
          </a:xfrm>
          <a:prstGeom prst="roundRect">
            <a:avLst>
              <a:gd name="adj" fmla="val 6098"/>
            </a:avLst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328416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条件接口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331720" y="3328416"/>
            <a:ext cx="9372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拼接管空间对齐条件；cross-attention 管任意模态——τ_θ 可插拔是多条件系统的关键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57200" y="4261104"/>
            <a:ext cx="1600200" cy="749808"/>
          </a:xfrm>
          <a:prstGeom prst="roundRect">
            <a:avLst>
              <a:gd name="adj" fmla="val 6098"/>
            </a:avLst>
          </a:prstGeom>
          <a:solidFill>
            <a:srgbClr val="4C3FB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261104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CFG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331720" y="4261104"/>
            <a:ext cx="9372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随机丢条件 + 采样差值外推：类条件 10.56→3.60、文本 23.35→12.61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57200" y="5193792"/>
            <a:ext cx="1600200" cy="749808"/>
          </a:xfrm>
          <a:prstGeom prst="roundRect">
            <a:avLst>
              <a:gd name="adj" fmla="val 6098"/>
            </a:avLst>
          </a:prstGeom>
          <a:solidFill>
            <a:srgbClr val="4C3FB1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5193792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统一框架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331720" y="5193792"/>
            <a:ext cx="9372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 LDM 覆盖无条件/类/文本/布局/超分/修复，后两者当时 SOTA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274552" y="651052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45</a:t>
            </a:r>
            <a:endParaRPr lang="en-US" sz="10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7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EE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谢谢聆听 · 欢迎讨论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两个想请大家给意见的问题：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0EE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六轴标量条件用 cross-attention 还是 FiLM 调制更合适？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0EEF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CT 的第一阶段 VAE，重建验收除 PSNR/SSIM 外如何定 HU 定量标准？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49E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论文：arXiv 2112.10752 · DOI 10.1109/CVPR52688.2022.01042 · 代码 github.com/CompVis/latent-diffusion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5257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49EC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笔记：[[论文6：高分辨率图像合成与潜空间扩散模型（LDM）]] · 汇报人：潘耀辉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LDM 论文组会汇报</dc:title>
  <dc:subject>PptxGenJS Presentation</dc:subject>
  <dc:creator>潘耀辉</dc:creator>
  <cp:lastModifiedBy>潘耀辉</cp:lastModifiedBy>
  <cp:revision>1</cp:revision>
  <dcterms:created xsi:type="dcterms:W3CDTF">2026-09-24T14:49:17Z</dcterms:created>
  <dcterms:modified xsi:type="dcterms:W3CDTF">2026-09-24T14:49:17Z</dcterms:modified>
</cp:coreProperties>
</file>