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9" d="100"/>
          <a:sy n="99" d="100"/>
        </p:scale>
        <p:origin x="284" y="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0AC962-0662-4BF2-B8DF-311F23FF1042}" type="datetimeFigureOut">
              <a:rPr lang="zh-CN" altLang="en-US" smtClean="0"/>
              <a:t>2026/8/6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61D2FF-A4C9-4919-9ABB-C7213DE1F88C}" type="slidenum">
              <a:rPr lang="zh-CN" altLang="en-US" smtClean="0"/>
              <a:t>‹#›</a:t>
            </a:fld>
            <a:endParaRPr lang="zh-CN" altLang="en-US"/>
          </a:p>
        </p:txBody>
      </p:sp>
    </p:spTree>
    <p:extLst>
      <p:ext uri="{BB962C8B-B14F-4D97-AF65-F5344CB8AC3E}">
        <p14:creationId xmlns:p14="http://schemas.microsoft.com/office/powerpoint/2010/main" val="3241279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561D2FF-A4C9-4919-9ABB-C7213DE1F88C}" type="slidenum">
              <a:rPr lang="zh-CN" altLang="en-US" smtClean="0"/>
              <a:t>3</a:t>
            </a:fld>
            <a:endParaRPr lang="zh-CN" altLang="en-US"/>
          </a:p>
        </p:txBody>
      </p:sp>
    </p:spTree>
    <p:extLst>
      <p:ext uri="{BB962C8B-B14F-4D97-AF65-F5344CB8AC3E}">
        <p14:creationId xmlns:p14="http://schemas.microsoft.com/office/powerpoint/2010/main" val="2720919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662919" y="2878080"/>
            <a:ext cx="4866157" cy="550920"/>
          </a:xfrm>
          <a:prstGeom prst="rect">
            <a:avLst/>
          </a:prstGeom>
          <a:noFill/>
        </p:spPr>
        <p:txBody>
          <a:bodyPr wrap="square" lIns="36576" tIns="36576" rIns="36576" bIns="36576" anchor="t">
            <a:spAutoFit/>
          </a:bodyPr>
          <a:lstStyle/>
          <a:p>
            <a:pPr algn="l">
              <a:spcAft>
                <a:spcPts val="0"/>
              </a:spcAft>
            </a:pPr>
            <a:r>
              <a:rPr sz="3100" b="1">
                <a:solidFill>
                  <a:srgbClr val="000000"/>
                </a:solidFill>
                <a:latin typeface="Microsoft YaHei"/>
              </a:rPr>
              <a:t>四篇生成模型论文阅读汇报</a:t>
            </a:r>
          </a:p>
        </p:txBody>
      </p:sp>
      <p:sp>
        <p:nvSpPr>
          <p:cNvPr id="4" name="TextBox 3"/>
          <p:cNvSpPr txBox="1"/>
          <p:nvPr/>
        </p:nvSpPr>
        <p:spPr>
          <a:xfrm>
            <a:off x="4284714" y="3757540"/>
            <a:ext cx="3622569" cy="347472"/>
          </a:xfrm>
          <a:prstGeom prst="rect">
            <a:avLst/>
          </a:prstGeom>
          <a:noFill/>
        </p:spPr>
        <p:txBody>
          <a:bodyPr wrap="square" lIns="36576" tIns="36576" rIns="36576" bIns="36576" anchor="t">
            <a:spAutoFit/>
          </a:bodyPr>
          <a:lstStyle/>
          <a:p>
            <a:pPr algn="l">
              <a:spcAft>
                <a:spcPts val="0"/>
              </a:spcAft>
            </a:pPr>
            <a:r>
              <a:rPr sz="1800" b="0">
                <a:solidFill>
                  <a:srgbClr val="000000"/>
                </a:solidFill>
                <a:latin typeface="Microsoft YaHei"/>
              </a:rPr>
              <a:t>从扩散、分数、流匹配到漂移模型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66928" y="566928"/>
            <a:ext cx="10972800" cy="458587"/>
          </a:xfrm>
          <a:prstGeom prst="rect">
            <a:avLst/>
          </a:prstGeom>
          <a:noFill/>
        </p:spPr>
        <p:txBody>
          <a:bodyPr wrap="square" lIns="36576" tIns="36576" rIns="36576" bIns="36576" anchor="t">
            <a:spAutoFit/>
          </a:bodyPr>
          <a:lstStyle/>
          <a:p>
            <a:pPr algn="l">
              <a:spcAft>
                <a:spcPts val="0"/>
              </a:spcAft>
            </a:pPr>
            <a:r>
              <a:rPr sz="2500" b="1">
                <a:solidFill>
                  <a:srgbClr val="000000"/>
                </a:solidFill>
                <a:latin typeface="Microsoft YaHei"/>
              </a:rPr>
              <a:t>主线</a:t>
            </a:r>
          </a:p>
        </p:txBody>
      </p:sp>
      <p:sp>
        <p:nvSpPr>
          <p:cNvPr id="4" name="TextBox 3"/>
          <p:cNvSpPr txBox="1"/>
          <p:nvPr/>
        </p:nvSpPr>
        <p:spPr>
          <a:xfrm>
            <a:off x="566928" y="1179576"/>
            <a:ext cx="10881360" cy="256032"/>
          </a:xfrm>
          <a:prstGeom prst="rect">
            <a:avLst/>
          </a:prstGeom>
          <a:noFill/>
        </p:spPr>
        <p:txBody>
          <a:bodyPr wrap="square" lIns="36576" tIns="36576" rIns="36576" bIns="36576" anchor="t">
            <a:spAutoFit/>
          </a:bodyPr>
          <a:lstStyle/>
          <a:p>
            <a:pPr algn="l">
              <a:spcAft>
                <a:spcPts val="0"/>
              </a:spcAft>
            </a:pPr>
            <a:r>
              <a:rPr sz="1200" b="0">
                <a:solidFill>
                  <a:srgbClr val="000000"/>
                </a:solidFill>
                <a:latin typeface="Microsoft YaHei"/>
              </a:rPr>
              <a:t>四篇论文都在解决同一个问题：如何把简单先验分布变成真实数据分布？</a:t>
            </a:r>
          </a:p>
        </p:txBody>
      </p:sp>
      <p:sp>
        <p:nvSpPr>
          <p:cNvPr id="6" name="TextBox 5"/>
          <p:cNvSpPr txBox="1"/>
          <p:nvPr/>
        </p:nvSpPr>
        <p:spPr>
          <a:xfrm>
            <a:off x="822960" y="2377440"/>
            <a:ext cx="384048" cy="292608"/>
          </a:xfrm>
          <a:prstGeom prst="rect">
            <a:avLst/>
          </a:prstGeom>
          <a:noFill/>
        </p:spPr>
        <p:txBody>
          <a:bodyPr wrap="square" lIns="36576" tIns="36576" rIns="36576" bIns="36576" anchor="t">
            <a:spAutoFit/>
          </a:bodyPr>
          <a:lstStyle/>
          <a:p>
            <a:pPr algn="ctr">
              <a:spcAft>
                <a:spcPts val="0"/>
              </a:spcAft>
            </a:pPr>
            <a:r>
              <a:rPr sz="1600" b="1">
                <a:solidFill>
                  <a:srgbClr val="000000"/>
                </a:solidFill>
                <a:latin typeface="Microsoft YaHei"/>
              </a:rPr>
              <a:t>1</a:t>
            </a:r>
          </a:p>
        </p:txBody>
      </p:sp>
      <p:sp>
        <p:nvSpPr>
          <p:cNvPr id="7" name="TextBox 6"/>
          <p:cNvSpPr txBox="1"/>
          <p:nvPr/>
        </p:nvSpPr>
        <p:spPr>
          <a:xfrm>
            <a:off x="1335024" y="2377440"/>
            <a:ext cx="2331720" cy="292608"/>
          </a:xfrm>
          <a:prstGeom prst="rect">
            <a:avLst/>
          </a:prstGeom>
          <a:noFill/>
        </p:spPr>
        <p:txBody>
          <a:bodyPr wrap="square" lIns="36576" tIns="36576" rIns="36576" bIns="36576" anchor="t">
            <a:spAutoFit/>
          </a:bodyPr>
          <a:lstStyle/>
          <a:p>
            <a:pPr algn="l">
              <a:spcAft>
                <a:spcPts val="0"/>
              </a:spcAft>
            </a:pPr>
            <a:r>
              <a:rPr sz="1600" b="1">
                <a:solidFill>
                  <a:srgbClr val="000000"/>
                </a:solidFill>
                <a:latin typeface="Microsoft YaHei"/>
              </a:rPr>
              <a:t>DDPM</a:t>
            </a:r>
          </a:p>
        </p:txBody>
      </p:sp>
      <p:sp>
        <p:nvSpPr>
          <p:cNvPr id="8" name="TextBox 7"/>
          <p:cNvSpPr txBox="1"/>
          <p:nvPr/>
        </p:nvSpPr>
        <p:spPr>
          <a:xfrm>
            <a:off x="3785615" y="2377440"/>
            <a:ext cx="7269480" cy="292608"/>
          </a:xfrm>
          <a:prstGeom prst="rect">
            <a:avLst/>
          </a:prstGeom>
          <a:noFill/>
        </p:spPr>
        <p:txBody>
          <a:bodyPr wrap="square" lIns="36576" tIns="36576" rIns="36576" bIns="36576" anchor="t">
            <a:spAutoFit/>
          </a:bodyPr>
          <a:lstStyle/>
          <a:p>
            <a:pPr algn="l">
              <a:spcAft>
                <a:spcPts val="0"/>
              </a:spcAft>
            </a:pPr>
            <a:r>
              <a:rPr sz="1400" b="0">
                <a:solidFill>
                  <a:srgbClr val="000000"/>
                </a:solidFill>
                <a:latin typeface="Microsoft YaHei"/>
              </a:rPr>
              <a:t>把过程离散成很多个小步骤：先加噪，再逐步去噪。</a:t>
            </a:r>
          </a:p>
        </p:txBody>
      </p:sp>
      <p:sp>
        <p:nvSpPr>
          <p:cNvPr id="10" name="TextBox 9"/>
          <p:cNvSpPr txBox="1"/>
          <p:nvPr/>
        </p:nvSpPr>
        <p:spPr>
          <a:xfrm>
            <a:off x="822960" y="3145536"/>
            <a:ext cx="384048" cy="292608"/>
          </a:xfrm>
          <a:prstGeom prst="rect">
            <a:avLst/>
          </a:prstGeom>
          <a:noFill/>
        </p:spPr>
        <p:txBody>
          <a:bodyPr wrap="square" lIns="36576" tIns="36576" rIns="36576" bIns="36576" anchor="t">
            <a:spAutoFit/>
          </a:bodyPr>
          <a:lstStyle/>
          <a:p>
            <a:pPr algn="ctr">
              <a:spcAft>
                <a:spcPts val="0"/>
              </a:spcAft>
            </a:pPr>
            <a:r>
              <a:rPr sz="1600" b="1">
                <a:solidFill>
                  <a:srgbClr val="000000"/>
                </a:solidFill>
                <a:latin typeface="Microsoft YaHei"/>
              </a:rPr>
              <a:t>2</a:t>
            </a:r>
          </a:p>
        </p:txBody>
      </p:sp>
      <p:sp>
        <p:nvSpPr>
          <p:cNvPr id="11" name="TextBox 10"/>
          <p:cNvSpPr txBox="1"/>
          <p:nvPr/>
        </p:nvSpPr>
        <p:spPr>
          <a:xfrm>
            <a:off x="1335024" y="3145536"/>
            <a:ext cx="2331720" cy="292608"/>
          </a:xfrm>
          <a:prstGeom prst="rect">
            <a:avLst/>
          </a:prstGeom>
          <a:noFill/>
        </p:spPr>
        <p:txBody>
          <a:bodyPr wrap="square" lIns="36576" tIns="36576" rIns="36576" bIns="36576" anchor="t">
            <a:spAutoFit/>
          </a:bodyPr>
          <a:lstStyle/>
          <a:p>
            <a:pPr algn="l">
              <a:spcAft>
                <a:spcPts val="0"/>
              </a:spcAft>
            </a:pPr>
            <a:r>
              <a:rPr sz="1600" b="1">
                <a:solidFill>
                  <a:srgbClr val="000000"/>
                </a:solidFill>
                <a:latin typeface="Microsoft YaHei"/>
              </a:rPr>
              <a:t>Score-SDE</a:t>
            </a:r>
          </a:p>
        </p:txBody>
      </p:sp>
      <p:sp>
        <p:nvSpPr>
          <p:cNvPr id="12" name="TextBox 11"/>
          <p:cNvSpPr txBox="1"/>
          <p:nvPr/>
        </p:nvSpPr>
        <p:spPr>
          <a:xfrm>
            <a:off x="3785615" y="3145536"/>
            <a:ext cx="7269480" cy="292608"/>
          </a:xfrm>
          <a:prstGeom prst="rect">
            <a:avLst/>
          </a:prstGeom>
          <a:noFill/>
        </p:spPr>
        <p:txBody>
          <a:bodyPr wrap="square" lIns="36576" tIns="36576" rIns="36576" bIns="36576" anchor="t">
            <a:spAutoFit/>
          </a:bodyPr>
          <a:lstStyle/>
          <a:p>
            <a:pPr algn="l">
              <a:spcAft>
                <a:spcPts val="0"/>
              </a:spcAft>
            </a:pPr>
            <a:r>
              <a:rPr sz="1400" b="0">
                <a:solidFill>
                  <a:srgbClr val="000000"/>
                </a:solidFill>
                <a:latin typeface="Microsoft YaHei"/>
              </a:rPr>
              <a:t>把离散步骤提升为连续时间，用分数描述每个时刻的移动方向。</a:t>
            </a:r>
          </a:p>
        </p:txBody>
      </p:sp>
      <p:sp>
        <p:nvSpPr>
          <p:cNvPr id="14" name="TextBox 13"/>
          <p:cNvSpPr txBox="1"/>
          <p:nvPr/>
        </p:nvSpPr>
        <p:spPr>
          <a:xfrm>
            <a:off x="822960" y="3913632"/>
            <a:ext cx="384048" cy="292608"/>
          </a:xfrm>
          <a:prstGeom prst="rect">
            <a:avLst/>
          </a:prstGeom>
          <a:noFill/>
        </p:spPr>
        <p:txBody>
          <a:bodyPr wrap="square" lIns="36576" tIns="36576" rIns="36576" bIns="36576" anchor="t">
            <a:spAutoFit/>
          </a:bodyPr>
          <a:lstStyle/>
          <a:p>
            <a:pPr algn="ctr">
              <a:spcAft>
                <a:spcPts val="0"/>
              </a:spcAft>
            </a:pPr>
            <a:r>
              <a:rPr sz="1600" b="1">
                <a:solidFill>
                  <a:srgbClr val="000000"/>
                </a:solidFill>
                <a:latin typeface="Microsoft YaHei"/>
              </a:rPr>
              <a:t>3</a:t>
            </a:r>
          </a:p>
        </p:txBody>
      </p:sp>
      <p:sp>
        <p:nvSpPr>
          <p:cNvPr id="15" name="TextBox 14"/>
          <p:cNvSpPr txBox="1"/>
          <p:nvPr/>
        </p:nvSpPr>
        <p:spPr>
          <a:xfrm>
            <a:off x="1335024" y="3913632"/>
            <a:ext cx="2331720" cy="292608"/>
          </a:xfrm>
          <a:prstGeom prst="rect">
            <a:avLst/>
          </a:prstGeom>
          <a:noFill/>
        </p:spPr>
        <p:txBody>
          <a:bodyPr wrap="square" lIns="36576" tIns="36576" rIns="36576" bIns="36576" anchor="t">
            <a:spAutoFit/>
          </a:bodyPr>
          <a:lstStyle/>
          <a:p>
            <a:pPr algn="l">
              <a:spcAft>
                <a:spcPts val="0"/>
              </a:spcAft>
            </a:pPr>
            <a:r>
              <a:rPr sz="1600" b="1">
                <a:solidFill>
                  <a:srgbClr val="000000"/>
                </a:solidFill>
                <a:latin typeface="Microsoft YaHei"/>
              </a:rPr>
              <a:t>Flow Matching</a:t>
            </a:r>
          </a:p>
        </p:txBody>
      </p:sp>
      <p:sp>
        <p:nvSpPr>
          <p:cNvPr id="16" name="TextBox 15"/>
          <p:cNvSpPr txBox="1"/>
          <p:nvPr/>
        </p:nvSpPr>
        <p:spPr>
          <a:xfrm>
            <a:off x="3785615" y="3913632"/>
            <a:ext cx="7269480" cy="292608"/>
          </a:xfrm>
          <a:prstGeom prst="rect">
            <a:avLst/>
          </a:prstGeom>
          <a:noFill/>
        </p:spPr>
        <p:txBody>
          <a:bodyPr wrap="square" lIns="36576" tIns="36576" rIns="36576" bIns="36576" anchor="t">
            <a:spAutoFit/>
          </a:bodyPr>
          <a:lstStyle/>
          <a:p>
            <a:pPr algn="l">
              <a:spcAft>
                <a:spcPts val="0"/>
              </a:spcAft>
            </a:pPr>
            <a:r>
              <a:rPr sz="1400" b="0">
                <a:solidFill>
                  <a:srgbClr val="000000"/>
                </a:solidFill>
                <a:latin typeface="Microsoft YaHei"/>
              </a:rPr>
              <a:t>预先设计从噪声到数据的路径，直接学习沿路径的速度。</a:t>
            </a:r>
          </a:p>
        </p:txBody>
      </p:sp>
      <p:sp>
        <p:nvSpPr>
          <p:cNvPr id="18" name="TextBox 17"/>
          <p:cNvSpPr txBox="1"/>
          <p:nvPr/>
        </p:nvSpPr>
        <p:spPr>
          <a:xfrm>
            <a:off x="822960" y="4681728"/>
            <a:ext cx="384048" cy="292608"/>
          </a:xfrm>
          <a:prstGeom prst="rect">
            <a:avLst/>
          </a:prstGeom>
          <a:noFill/>
        </p:spPr>
        <p:txBody>
          <a:bodyPr wrap="square" lIns="36576" tIns="36576" rIns="36576" bIns="36576" anchor="t">
            <a:spAutoFit/>
          </a:bodyPr>
          <a:lstStyle/>
          <a:p>
            <a:pPr algn="ctr">
              <a:spcAft>
                <a:spcPts val="0"/>
              </a:spcAft>
            </a:pPr>
            <a:r>
              <a:rPr sz="1600" b="1">
                <a:solidFill>
                  <a:srgbClr val="000000"/>
                </a:solidFill>
                <a:latin typeface="Microsoft YaHei"/>
              </a:rPr>
              <a:t>4</a:t>
            </a:r>
          </a:p>
        </p:txBody>
      </p:sp>
      <p:sp>
        <p:nvSpPr>
          <p:cNvPr id="19" name="TextBox 18"/>
          <p:cNvSpPr txBox="1"/>
          <p:nvPr/>
        </p:nvSpPr>
        <p:spPr>
          <a:xfrm>
            <a:off x="1335024" y="4681728"/>
            <a:ext cx="2331720" cy="292608"/>
          </a:xfrm>
          <a:prstGeom prst="rect">
            <a:avLst/>
          </a:prstGeom>
          <a:noFill/>
        </p:spPr>
        <p:txBody>
          <a:bodyPr wrap="square" lIns="36576" tIns="36576" rIns="36576" bIns="36576" anchor="t">
            <a:spAutoFit/>
          </a:bodyPr>
          <a:lstStyle/>
          <a:p>
            <a:pPr algn="l">
              <a:spcAft>
                <a:spcPts val="0"/>
              </a:spcAft>
            </a:pPr>
            <a:r>
              <a:rPr sz="1600" b="1">
                <a:solidFill>
                  <a:srgbClr val="000000"/>
                </a:solidFill>
                <a:latin typeface="Microsoft YaHei"/>
              </a:rPr>
              <a:t>Drifting Models</a:t>
            </a:r>
          </a:p>
        </p:txBody>
      </p:sp>
      <p:sp>
        <p:nvSpPr>
          <p:cNvPr id="20" name="TextBox 19"/>
          <p:cNvSpPr txBox="1"/>
          <p:nvPr/>
        </p:nvSpPr>
        <p:spPr>
          <a:xfrm>
            <a:off x="3785615" y="4681728"/>
            <a:ext cx="7269480" cy="292608"/>
          </a:xfrm>
          <a:prstGeom prst="rect">
            <a:avLst/>
          </a:prstGeom>
          <a:noFill/>
        </p:spPr>
        <p:txBody>
          <a:bodyPr wrap="square" lIns="36576" tIns="36576" rIns="36576" bIns="36576" anchor="t">
            <a:spAutoFit/>
          </a:bodyPr>
          <a:lstStyle/>
          <a:p>
            <a:pPr algn="l">
              <a:spcAft>
                <a:spcPts val="0"/>
              </a:spcAft>
            </a:pPr>
            <a:r>
              <a:rPr sz="1400" b="0">
                <a:solidFill>
                  <a:srgbClr val="000000"/>
                </a:solidFill>
                <a:latin typeface="Microsoft YaHei"/>
              </a:rPr>
              <a:t>把生成时的迭代搬到训练过程，推理时只保留一次前向。</a:t>
            </a:r>
          </a:p>
        </p:txBody>
      </p:sp>
      <p:sp>
        <p:nvSpPr>
          <p:cNvPr id="26" name="TextBox 25"/>
          <p:cNvSpPr txBox="1"/>
          <p:nvPr/>
        </p:nvSpPr>
        <p:spPr>
          <a:xfrm>
            <a:off x="10972800" y="6473952"/>
            <a:ext cx="594360" cy="164592"/>
          </a:xfrm>
          <a:prstGeom prst="rect">
            <a:avLst/>
          </a:prstGeom>
          <a:noFill/>
        </p:spPr>
        <p:txBody>
          <a:bodyPr wrap="square" lIns="36576" tIns="36576" rIns="36576" bIns="36576" anchor="t">
            <a:spAutoFit/>
          </a:bodyPr>
          <a:lstStyle/>
          <a:p>
            <a:pPr algn="r">
              <a:spcAft>
                <a:spcPts val="0"/>
              </a:spcAft>
            </a:pPr>
            <a:r>
              <a:rPr sz="800" b="0">
                <a:solidFill>
                  <a:srgbClr val="000000"/>
                </a:solidFill>
                <a:latin typeface="Microsoft YaHei"/>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66928" y="566928"/>
            <a:ext cx="10972800" cy="420624"/>
          </a:xfrm>
          <a:prstGeom prst="rect">
            <a:avLst/>
          </a:prstGeom>
          <a:noFill/>
        </p:spPr>
        <p:txBody>
          <a:bodyPr wrap="square" lIns="36576" tIns="36576" rIns="36576" bIns="36576" anchor="t">
            <a:spAutoFit/>
          </a:bodyPr>
          <a:lstStyle/>
          <a:p>
            <a:pPr algn="l">
              <a:spcAft>
                <a:spcPts val="0"/>
              </a:spcAft>
            </a:pPr>
            <a:r>
              <a:rPr sz="2500" b="1">
                <a:solidFill>
                  <a:srgbClr val="000000"/>
                </a:solidFill>
                <a:latin typeface="Microsoft YaHei"/>
              </a:rPr>
              <a:t>DDPM：把生成拆成很多个小去噪步骤</a:t>
            </a:r>
          </a:p>
        </p:txBody>
      </p:sp>
      <p:sp>
        <p:nvSpPr>
          <p:cNvPr id="34" name="TextBox 33"/>
          <p:cNvSpPr txBox="1"/>
          <p:nvPr/>
        </p:nvSpPr>
        <p:spPr>
          <a:xfrm>
            <a:off x="10972800" y="6473952"/>
            <a:ext cx="594360" cy="164592"/>
          </a:xfrm>
          <a:prstGeom prst="rect">
            <a:avLst/>
          </a:prstGeom>
          <a:noFill/>
        </p:spPr>
        <p:txBody>
          <a:bodyPr wrap="square" lIns="36576" tIns="36576" rIns="36576" bIns="36576" anchor="t">
            <a:spAutoFit/>
          </a:bodyPr>
          <a:lstStyle/>
          <a:p>
            <a:pPr algn="r">
              <a:spcAft>
                <a:spcPts val="0"/>
              </a:spcAft>
            </a:pPr>
            <a:r>
              <a:rPr sz="800" b="0">
                <a:solidFill>
                  <a:srgbClr val="000000"/>
                </a:solidFill>
                <a:latin typeface="Microsoft YaHei"/>
              </a:rPr>
              <a:t>03</a:t>
            </a:r>
          </a:p>
        </p:txBody>
      </p:sp>
      <p:sp>
        <p:nvSpPr>
          <p:cNvPr id="35" name="ddpm_problem_title"/>
          <p:cNvSpPr txBox="1"/>
          <p:nvPr/>
        </p:nvSpPr>
        <p:spPr>
          <a:xfrm>
            <a:off x="841248" y="1847088"/>
            <a:ext cx="3063240" cy="369332"/>
          </a:xfrm>
          <a:prstGeom prst="rect">
            <a:avLst/>
          </a:prstGeom>
          <a:noFill/>
          <a:ln>
            <a:noFill/>
          </a:ln>
        </p:spPr>
        <p:txBody>
          <a:bodyPr wrap="square">
            <a:spAutoFit/>
          </a:bodyPr>
          <a:lstStyle/>
          <a:p>
            <a:pPr marL="0" indent="0">
              <a:buNone/>
            </a:pPr>
            <a:r>
              <a:rPr b="1">
                <a:solidFill>
                  <a:srgbClr val="000000"/>
                </a:solidFill>
                <a:latin typeface="Microsoft YaHei"/>
              </a:rPr>
              <a:t>要解决的问题</a:t>
            </a:r>
          </a:p>
        </p:txBody>
      </p:sp>
      <p:sp>
        <p:nvSpPr>
          <p:cNvPr id="36" name="ddpm_problem_body"/>
          <p:cNvSpPr txBox="1"/>
          <p:nvPr/>
        </p:nvSpPr>
        <p:spPr>
          <a:xfrm>
            <a:off x="841248" y="2221992"/>
            <a:ext cx="3063240" cy="830997"/>
          </a:xfrm>
          <a:prstGeom prst="rect">
            <a:avLst/>
          </a:prstGeom>
          <a:noFill/>
          <a:ln>
            <a:noFill/>
          </a:ln>
        </p:spPr>
        <p:txBody>
          <a:bodyPr wrap="square">
            <a:spAutoFit/>
          </a:bodyPr>
          <a:lstStyle/>
          <a:p>
            <a:pPr marL="0" indent="0">
              <a:buNone/>
            </a:pPr>
            <a:r>
              <a:rPr sz="1600">
                <a:solidFill>
                  <a:srgbClr val="000000"/>
                </a:solidFill>
                <a:latin typeface="Microsoft YaHei"/>
              </a:rPr>
              <a:t>直接从噪声生成图像很难。DDPM 把它拆成很多次局部去噪，每一步只处理一个小变化。</a:t>
            </a:r>
          </a:p>
        </p:txBody>
      </p:sp>
      <p:sp>
        <p:nvSpPr>
          <p:cNvPr id="37" name="ddpm_train_title"/>
          <p:cNvSpPr txBox="1"/>
          <p:nvPr/>
        </p:nvSpPr>
        <p:spPr>
          <a:xfrm>
            <a:off x="841248" y="3803904"/>
            <a:ext cx="3063240" cy="369332"/>
          </a:xfrm>
          <a:prstGeom prst="rect">
            <a:avLst/>
          </a:prstGeom>
          <a:noFill/>
          <a:ln>
            <a:noFill/>
          </a:ln>
        </p:spPr>
        <p:txBody>
          <a:bodyPr wrap="square">
            <a:spAutoFit/>
          </a:bodyPr>
          <a:lstStyle/>
          <a:p>
            <a:pPr marL="0" indent="0">
              <a:buNone/>
            </a:pPr>
            <a:r>
              <a:rPr b="1">
                <a:solidFill>
                  <a:srgbClr val="000000"/>
                </a:solidFill>
                <a:latin typeface="Microsoft YaHei"/>
              </a:rPr>
              <a:t>训练方式</a:t>
            </a:r>
          </a:p>
        </p:txBody>
      </p:sp>
      <p:sp>
        <p:nvSpPr>
          <p:cNvPr id="38" name="ddpm_train_body"/>
          <p:cNvSpPr txBox="1"/>
          <p:nvPr/>
        </p:nvSpPr>
        <p:spPr>
          <a:xfrm>
            <a:off x="841247" y="4178808"/>
            <a:ext cx="3267114" cy="1077218"/>
          </a:xfrm>
          <a:prstGeom prst="rect">
            <a:avLst/>
          </a:prstGeom>
          <a:noFill/>
          <a:ln>
            <a:noFill/>
          </a:ln>
        </p:spPr>
        <p:txBody>
          <a:bodyPr wrap="square">
            <a:spAutoFit/>
          </a:bodyPr>
          <a:lstStyle/>
          <a:p>
            <a:pPr marL="0" indent="0">
              <a:buNone/>
            </a:pPr>
            <a:r>
              <a:rPr sz="1600">
                <a:solidFill>
                  <a:srgbClr val="000000"/>
                </a:solidFill>
                <a:latin typeface="Microsoft YaHei"/>
              </a:rPr>
              <a:t>前向加噪过程固定，不需要学习。训练时随机挑一个噪声程度，让网络判断当前样本里加入了什么噪声。</a:t>
            </a:r>
          </a:p>
        </p:txBody>
      </p:sp>
      <p:sp>
        <p:nvSpPr>
          <p:cNvPr id="39" name="ddpm_flow_title"/>
          <p:cNvSpPr txBox="1"/>
          <p:nvPr/>
        </p:nvSpPr>
        <p:spPr>
          <a:xfrm>
            <a:off x="4498848" y="1847088"/>
            <a:ext cx="6537960" cy="369332"/>
          </a:xfrm>
          <a:prstGeom prst="rect">
            <a:avLst/>
          </a:prstGeom>
          <a:noFill/>
          <a:ln>
            <a:noFill/>
          </a:ln>
        </p:spPr>
        <p:txBody>
          <a:bodyPr wrap="square">
            <a:spAutoFit/>
          </a:bodyPr>
          <a:lstStyle/>
          <a:p>
            <a:pPr marL="0" indent="0">
              <a:buNone/>
            </a:pPr>
            <a:r>
              <a:rPr b="1">
                <a:solidFill>
                  <a:srgbClr val="000000"/>
                </a:solidFill>
                <a:latin typeface="Microsoft YaHei"/>
              </a:rPr>
              <a:t>生成过程</a:t>
            </a:r>
          </a:p>
        </p:txBody>
      </p:sp>
      <p:sp>
        <p:nvSpPr>
          <p:cNvPr id="40" name="ddpm_flow"/>
          <p:cNvSpPr txBox="1"/>
          <p:nvPr/>
        </p:nvSpPr>
        <p:spPr>
          <a:xfrm>
            <a:off x="4567428" y="2452824"/>
            <a:ext cx="6851904" cy="338554"/>
          </a:xfrm>
          <a:prstGeom prst="rect">
            <a:avLst/>
          </a:prstGeom>
          <a:noFill/>
          <a:ln>
            <a:noFill/>
          </a:ln>
        </p:spPr>
        <p:txBody>
          <a:bodyPr wrap="square">
            <a:spAutoFit/>
          </a:bodyPr>
          <a:lstStyle/>
          <a:p>
            <a:pPr marL="0" indent="0">
              <a:buNone/>
            </a:pPr>
            <a:r>
              <a:rPr sz="1600" b="1">
                <a:solidFill>
                  <a:srgbClr val="000000"/>
                </a:solidFill>
                <a:latin typeface="Microsoft YaHei"/>
              </a:rPr>
              <a:t>真实数据  →  固定加噪  →  网络学习反向去噪  →  逐步生成图像</a:t>
            </a:r>
          </a:p>
        </p:txBody>
      </p:sp>
      <p:sp>
        <p:nvSpPr>
          <p:cNvPr id="42" name="ddpm_takeaway_title"/>
          <p:cNvSpPr txBox="1"/>
          <p:nvPr/>
        </p:nvSpPr>
        <p:spPr>
          <a:xfrm>
            <a:off x="4724400" y="3803904"/>
            <a:ext cx="6537960" cy="369332"/>
          </a:xfrm>
          <a:prstGeom prst="rect">
            <a:avLst/>
          </a:prstGeom>
          <a:noFill/>
          <a:ln>
            <a:noFill/>
          </a:ln>
        </p:spPr>
        <p:txBody>
          <a:bodyPr wrap="square">
            <a:spAutoFit/>
          </a:bodyPr>
          <a:lstStyle/>
          <a:p>
            <a:pPr marL="0" indent="0">
              <a:buNone/>
            </a:pPr>
            <a:r>
              <a:rPr b="1">
                <a:solidFill>
                  <a:srgbClr val="000000"/>
                </a:solidFill>
                <a:latin typeface="Microsoft YaHei"/>
              </a:rPr>
              <a:t>关键</a:t>
            </a:r>
          </a:p>
        </p:txBody>
      </p:sp>
      <p:sp>
        <p:nvSpPr>
          <p:cNvPr id="43" name="ddpm_takeaways"/>
          <p:cNvSpPr txBox="1"/>
          <p:nvPr/>
        </p:nvSpPr>
        <p:spPr>
          <a:xfrm>
            <a:off x="4480560" y="4256650"/>
            <a:ext cx="6492240" cy="1077218"/>
          </a:xfrm>
          <a:prstGeom prst="rect">
            <a:avLst/>
          </a:prstGeom>
          <a:noFill/>
          <a:ln>
            <a:noFill/>
          </a:ln>
        </p:spPr>
        <p:txBody>
          <a:bodyPr wrap="square">
            <a:spAutoFit/>
          </a:bodyPr>
          <a:lstStyle/>
          <a:p>
            <a:pPr marL="182880"/>
            <a:r>
              <a:rPr lang="zh-CN" altLang="en-US" sz="1600">
                <a:latin typeface="微软雅黑" panose="020B0503020204020204" pitchFamily="34" charset="-122"/>
                <a:ea typeface="微软雅黑" panose="020B0503020204020204" pitchFamily="34" charset="-122"/>
              </a:rPr>
              <a:t>它先把真实图像逐步加噪到接近纯噪声，再训练网络反向预测每一步噪声并逐步去噪生成图像；特点是训练稳定、机制清楚，是后续扩散模型最重要的工程基线，但推理通常需要很多步</a:t>
            </a:r>
            <a:endParaRPr lang="zh-CN" altLang="en-US" sz="1600">
              <a:solidFill>
                <a:srgbClr val="000000"/>
              </a:solidFill>
              <a:latin typeface="微软雅黑" panose="020B0503020204020204" pitchFamily="34" charset="-122"/>
              <a:ea typeface="微软雅黑" panose="020B0503020204020204" pitchFamily="34" charset="-122"/>
            </a:endParaRPr>
          </a:p>
          <a:p>
            <a:pPr marL="182880" algn="l"/>
            <a:endParaRPr sz="1600">
              <a:solidFill>
                <a:srgbClr val="000000"/>
              </a:solidFill>
              <a:latin typeface="Microsoft YaHe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66928" y="566928"/>
            <a:ext cx="10972800" cy="420624"/>
          </a:xfrm>
          <a:prstGeom prst="rect">
            <a:avLst/>
          </a:prstGeom>
          <a:noFill/>
        </p:spPr>
        <p:txBody>
          <a:bodyPr wrap="square" lIns="36576" tIns="36576" rIns="36576" bIns="36576" anchor="t">
            <a:spAutoFit/>
          </a:bodyPr>
          <a:lstStyle/>
          <a:p>
            <a:pPr algn="l">
              <a:spcAft>
                <a:spcPts val="0"/>
              </a:spcAft>
            </a:pPr>
            <a:r>
              <a:rPr sz="2500" b="1">
                <a:solidFill>
                  <a:srgbClr val="000000"/>
                </a:solidFill>
                <a:latin typeface="Microsoft YaHei"/>
              </a:rPr>
              <a:t>Score-SDE：把扩散提升到连续时间</a:t>
            </a:r>
          </a:p>
        </p:txBody>
      </p:sp>
      <p:sp>
        <p:nvSpPr>
          <p:cNvPr id="30" name="TextBox 29"/>
          <p:cNvSpPr txBox="1"/>
          <p:nvPr/>
        </p:nvSpPr>
        <p:spPr>
          <a:xfrm>
            <a:off x="10972800" y="6473952"/>
            <a:ext cx="594360" cy="164592"/>
          </a:xfrm>
          <a:prstGeom prst="rect">
            <a:avLst/>
          </a:prstGeom>
          <a:noFill/>
        </p:spPr>
        <p:txBody>
          <a:bodyPr wrap="square" lIns="36576" tIns="36576" rIns="36576" bIns="36576" anchor="t">
            <a:spAutoFit/>
          </a:bodyPr>
          <a:lstStyle/>
          <a:p>
            <a:pPr algn="r">
              <a:spcAft>
                <a:spcPts val="0"/>
              </a:spcAft>
            </a:pPr>
            <a:r>
              <a:rPr sz="800" b="0">
                <a:solidFill>
                  <a:srgbClr val="000000"/>
                </a:solidFill>
                <a:latin typeface="Microsoft YaHei"/>
              </a:rPr>
              <a:t>04</a:t>
            </a:r>
          </a:p>
        </p:txBody>
      </p:sp>
      <p:sp>
        <p:nvSpPr>
          <p:cNvPr id="31" name="sde_continuous_title"/>
          <p:cNvSpPr txBox="1"/>
          <p:nvPr/>
        </p:nvSpPr>
        <p:spPr>
          <a:xfrm>
            <a:off x="841248" y="1847088"/>
            <a:ext cx="3063240" cy="369332"/>
          </a:xfrm>
          <a:prstGeom prst="rect">
            <a:avLst/>
          </a:prstGeom>
          <a:noFill/>
          <a:ln>
            <a:noFill/>
          </a:ln>
        </p:spPr>
        <p:txBody>
          <a:bodyPr wrap="square">
            <a:spAutoFit/>
          </a:bodyPr>
          <a:lstStyle/>
          <a:p>
            <a:pPr marL="0" indent="0">
              <a:buNone/>
            </a:pPr>
            <a:r>
              <a:rPr b="1">
                <a:solidFill>
                  <a:srgbClr val="000000"/>
                </a:solidFill>
                <a:latin typeface="Microsoft YaHei"/>
              </a:rPr>
              <a:t>为什么要连续化</a:t>
            </a:r>
          </a:p>
        </p:txBody>
      </p:sp>
      <p:sp>
        <p:nvSpPr>
          <p:cNvPr id="32" name="sde_continuous_body"/>
          <p:cNvSpPr txBox="1"/>
          <p:nvPr/>
        </p:nvSpPr>
        <p:spPr>
          <a:xfrm>
            <a:off x="841248" y="2221992"/>
            <a:ext cx="3063240" cy="1077218"/>
          </a:xfrm>
          <a:prstGeom prst="rect">
            <a:avLst/>
          </a:prstGeom>
          <a:noFill/>
          <a:ln>
            <a:noFill/>
          </a:ln>
        </p:spPr>
        <p:txBody>
          <a:bodyPr wrap="square">
            <a:spAutoFit/>
          </a:bodyPr>
          <a:lstStyle/>
          <a:p>
            <a:pPr marL="0" indent="0">
              <a:buNone/>
            </a:pPr>
            <a:r>
              <a:rPr sz="1600">
                <a:solidFill>
                  <a:srgbClr val="000000"/>
                </a:solidFill>
                <a:latin typeface="Microsoft YaHei"/>
              </a:rPr>
              <a:t>DDPM 的时间步是离散的，采样方式也被写死。连续时间允许同一个模型搭配不同的数值求解器。</a:t>
            </a:r>
          </a:p>
        </p:txBody>
      </p:sp>
      <p:sp>
        <p:nvSpPr>
          <p:cNvPr id="33" name="sde_learn_title"/>
          <p:cNvSpPr txBox="1"/>
          <p:nvPr/>
        </p:nvSpPr>
        <p:spPr>
          <a:xfrm>
            <a:off x="841248" y="3803904"/>
            <a:ext cx="3063240" cy="369332"/>
          </a:xfrm>
          <a:prstGeom prst="rect">
            <a:avLst/>
          </a:prstGeom>
          <a:noFill/>
          <a:ln>
            <a:noFill/>
          </a:ln>
        </p:spPr>
        <p:txBody>
          <a:bodyPr wrap="square">
            <a:spAutoFit/>
          </a:bodyPr>
          <a:lstStyle/>
          <a:p>
            <a:pPr marL="0" indent="0">
              <a:buNone/>
            </a:pPr>
            <a:r>
              <a:rPr b="1">
                <a:solidFill>
                  <a:srgbClr val="000000"/>
                </a:solidFill>
                <a:latin typeface="Microsoft YaHei"/>
              </a:rPr>
              <a:t>网络学什么</a:t>
            </a:r>
          </a:p>
        </p:txBody>
      </p:sp>
      <p:sp>
        <p:nvSpPr>
          <p:cNvPr id="34" name="sde_learn_body"/>
          <p:cNvSpPr txBox="1"/>
          <p:nvPr/>
        </p:nvSpPr>
        <p:spPr>
          <a:xfrm>
            <a:off x="841248" y="4178808"/>
            <a:ext cx="3063240" cy="830997"/>
          </a:xfrm>
          <a:prstGeom prst="rect">
            <a:avLst/>
          </a:prstGeom>
          <a:noFill/>
          <a:ln>
            <a:noFill/>
          </a:ln>
        </p:spPr>
        <p:txBody>
          <a:bodyPr wrap="square">
            <a:spAutoFit/>
          </a:bodyPr>
          <a:lstStyle/>
          <a:p>
            <a:pPr marL="0" indent="0">
              <a:buNone/>
            </a:pPr>
            <a:r>
              <a:rPr sz="1600">
                <a:solidFill>
                  <a:srgbClr val="000000"/>
                </a:solidFill>
                <a:latin typeface="Microsoft YaHei"/>
              </a:rPr>
              <a:t>网络学习每个噪声时刻的分数。直观上，它告诉样本应该往数据密度更高的方向移动。</a:t>
            </a:r>
          </a:p>
        </p:txBody>
      </p:sp>
      <p:sp>
        <p:nvSpPr>
          <p:cNvPr id="35" name="sde_framework_title"/>
          <p:cNvSpPr txBox="1"/>
          <p:nvPr/>
        </p:nvSpPr>
        <p:spPr>
          <a:xfrm>
            <a:off x="4498848" y="1847088"/>
            <a:ext cx="6537960" cy="369332"/>
          </a:xfrm>
          <a:prstGeom prst="rect">
            <a:avLst/>
          </a:prstGeom>
          <a:noFill/>
          <a:ln>
            <a:noFill/>
          </a:ln>
        </p:spPr>
        <p:txBody>
          <a:bodyPr wrap="square">
            <a:spAutoFit/>
          </a:bodyPr>
          <a:lstStyle/>
          <a:p>
            <a:pPr marL="0" indent="0">
              <a:buNone/>
            </a:pPr>
            <a:r>
              <a:rPr b="1">
                <a:solidFill>
                  <a:srgbClr val="000000"/>
                </a:solidFill>
                <a:latin typeface="Microsoft YaHei"/>
              </a:rPr>
              <a:t>统一框架</a:t>
            </a:r>
          </a:p>
        </p:txBody>
      </p:sp>
      <p:sp>
        <p:nvSpPr>
          <p:cNvPr id="36" name="sde_framework"/>
          <p:cNvSpPr txBox="1"/>
          <p:nvPr/>
        </p:nvSpPr>
        <p:spPr>
          <a:xfrm>
            <a:off x="4498848" y="2358926"/>
            <a:ext cx="6675120" cy="338554"/>
          </a:xfrm>
          <a:prstGeom prst="rect">
            <a:avLst/>
          </a:prstGeom>
          <a:noFill/>
          <a:ln>
            <a:noFill/>
          </a:ln>
        </p:spPr>
        <p:txBody>
          <a:bodyPr wrap="square">
            <a:spAutoFit/>
          </a:bodyPr>
          <a:lstStyle/>
          <a:p>
            <a:pPr marL="0" indent="0">
              <a:buNone/>
            </a:pPr>
            <a:r>
              <a:rPr sz="1600" b="1">
                <a:solidFill>
                  <a:srgbClr val="000000"/>
                </a:solidFill>
                <a:latin typeface="Microsoft YaHei"/>
              </a:rPr>
              <a:t>连续加噪  →  分数网络  →  反向随机采样或确定性采样</a:t>
            </a:r>
          </a:p>
        </p:txBody>
      </p:sp>
      <p:sp>
        <p:nvSpPr>
          <p:cNvPr id="38" name="sde_takeaway_title"/>
          <p:cNvSpPr txBox="1"/>
          <p:nvPr/>
        </p:nvSpPr>
        <p:spPr>
          <a:xfrm>
            <a:off x="4567428" y="3752159"/>
            <a:ext cx="6537960" cy="369332"/>
          </a:xfrm>
          <a:prstGeom prst="rect">
            <a:avLst/>
          </a:prstGeom>
          <a:noFill/>
          <a:ln>
            <a:noFill/>
          </a:ln>
        </p:spPr>
        <p:txBody>
          <a:bodyPr wrap="square">
            <a:spAutoFit/>
          </a:bodyPr>
          <a:lstStyle/>
          <a:p>
            <a:pPr marL="0" indent="0">
              <a:buNone/>
            </a:pPr>
            <a:r>
              <a:rPr b="1">
                <a:solidFill>
                  <a:srgbClr val="000000"/>
                </a:solidFill>
                <a:latin typeface="Microsoft YaHei"/>
              </a:rPr>
              <a:t>关键</a:t>
            </a:r>
          </a:p>
        </p:txBody>
      </p:sp>
      <p:sp>
        <p:nvSpPr>
          <p:cNvPr id="39" name="sde_takeaways"/>
          <p:cNvSpPr txBox="1"/>
          <p:nvPr/>
        </p:nvSpPr>
        <p:spPr>
          <a:xfrm>
            <a:off x="4363620" y="4176747"/>
            <a:ext cx="6492240" cy="1077218"/>
          </a:xfrm>
          <a:prstGeom prst="rect">
            <a:avLst/>
          </a:prstGeom>
          <a:noFill/>
          <a:ln>
            <a:noFill/>
          </a:ln>
        </p:spPr>
        <p:txBody>
          <a:bodyPr wrap="square">
            <a:spAutoFit/>
          </a:bodyPr>
          <a:lstStyle/>
          <a:p>
            <a:pPr marL="182880" algn="l"/>
            <a:r>
              <a:rPr lang="zh-CN" altLang="en-US" sz="1600">
                <a:latin typeface="微软雅黑" panose="020B0503020204020204" pitchFamily="34" charset="-122"/>
                <a:ea typeface="微软雅黑" panose="020B0503020204020204" pitchFamily="34" charset="-122"/>
              </a:rPr>
              <a:t>它把 </a:t>
            </a:r>
            <a:r>
              <a:rPr lang="en-US" altLang="zh-CN" sz="1600">
                <a:latin typeface="微软雅黑" panose="020B0503020204020204" pitchFamily="34" charset="-122"/>
                <a:ea typeface="微软雅黑" panose="020B0503020204020204" pitchFamily="34" charset="-122"/>
              </a:rPr>
              <a:t>DDPM </a:t>
            </a:r>
            <a:r>
              <a:rPr lang="zh-CN" altLang="en-US" sz="1600">
                <a:latin typeface="微软雅黑" panose="020B0503020204020204" pitchFamily="34" charset="-122"/>
                <a:ea typeface="微软雅黑" panose="020B0503020204020204" pitchFamily="34" charset="-122"/>
              </a:rPr>
              <a:t>的离散加噪过程推广为连续时间过程，网络学习不同噪声水平下样本应移动的方向；特点是统一了扩散与分数模型，并可根据质量、速度或似然计算需求选择不同采样器，也方便加入条件约束处理修复、补全等任务。</a:t>
            </a:r>
            <a:endParaRPr lang="en-US" sz="160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66928" y="566928"/>
            <a:ext cx="10972800" cy="420624"/>
          </a:xfrm>
          <a:prstGeom prst="rect">
            <a:avLst/>
          </a:prstGeom>
          <a:noFill/>
        </p:spPr>
        <p:txBody>
          <a:bodyPr wrap="square" lIns="36576" tIns="36576" rIns="36576" bIns="36576" anchor="t">
            <a:spAutoFit/>
          </a:bodyPr>
          <a:lstStyle/>
          <a:p>
            <a:pPr algn="l">
              <a:spcAft>
                <a:spcPts val="0"/>
              </a:spcAft>
            </a:pPr>
            <a:r>
              <a:rPr sz="2500" b="1">
                <a:solidFill>
                  <a:srgbClr val="000000"/>
                </a:solidFill>
                <a:latin typeface="Microsoft YaHei"/>
              </a:rPr>
              <a:t>Flow Matching：直接学习从噪声到数据的速度</a:t>
            </a:r>
          </a:p>
        </p:txBody>
      </p:sp>
      <p:sp>
        <p:nvSpPr>
          <p:cNvPr id="27" name="TextBox 26"/>
          <p:cNvSpPr txBox="1"/>
          <p:nvPr/>
        </p:nvSpPr>
        <p:spPr>
          <a:xfrm>
            <a:off x="10972800" y="6473952"/>
            <a:ext cx="594360" cy="164592"/>
          </a:xfrm>
          <a:prstGeom prst="rect">
            <a:avLst/>
          </a:prstGeom>
          <a:noFill/>
        </p:spPr>
        <p:txBody>
          <a:bodyPr wrap="square" lIns="36576" tIns="36576" rIns="36576" bIns="36576" anchor="t">
            <a:spAutoFit/>
          </a:bodyPr>
          <a:lstStyle/>
          <a:p>
            <a:pPr algn="r">
              <a:spcAft>
                <a:spcPts val="0"/>
              </a:spcAft>
            </a:pPr>
            <a:r>
              <a:rPr sz="800" b="0">
                <a:solidFill>
                  <a:srgbClr val="000000"/>
                </a:solidFill>
                <a:latin typeface="Microsoft YaHei"/>
              </a:rPr>
              <a:t>05</a:t>
            </a:r>
          </a:p>
        </p:txBody>
      </p:sp>
      <p:sp>
        <p:nvSpPr>
          <p:cNvPr id="28" name="fm_core_title"/>
          <p:cNvSpPr txBox="1"/>
          <p:nvPr/>
        </p:nvSpPr>
        <p:spPr>
          <a:xfrm>
            <a:off x="841248" y="1847088"/>
            <a:ext cx="3063240" cy="369332"/>
          </a:xfrm>
          <a:prstGeom prst="rect">
            <a:avLst/>
          </a:prstGeom>
          <a:noFill/>
          <a:ln>
            <a:noFill/>
          </a:ln>
        </p:spPr>
        <p:txBody>
          <a:bodyPr wrap="square">
            <a:spAutoFit/>
          </a:bodyPr>
          <a:lstStyle/>
          <a:p>
            <a:pPr marL="0" indent="0">
              <a:buNone/>
            </a:pPr>
            <a:r>
              <a:rPr b="1">
                <a:solidFill>
                  <a:srgbClr val="000000"/>
                </a:solidFill>
                <a:latin typeface="Microsoft YaHei"/>
              </a:rPr>
              <a:t>核心改变</a:t>
            </a:r>
          </a:p>
        </p:txBody>
      </p:sp>
      <p:sp>
        <p:nvSpPr>
          <p:cNvPr id="29" name="fm_core_body"/>
          <p:cNvSpPr txBox="1"/>
          <p:nvPr/>
        </p:nvSpPr>
        <p:spPr>
          <a:xfrm>
            <a:off x="841248" y="2221992"/>
            <a:ext cx="3063240" cy="830997"/>
          </a:xfrm>
          <a:prstGeom prst="rect">
            <a:avLst/>
          </a:prstGeom>
          <a:noFill/>
          <a:ln>
            <a:noFill/>
          </a:ln>
        </p:spPr>
        <p:txBody>
          <a:bodyPr wrap="square">
            <a:spAutoFit/>
          </a:bodyPr>
          <a:lstStyle/>
          <a:p>
            <a:pPr marL="0" indent="0">
              <a:buNone/>
            </a:pPr>
            <a:r>
              <a:rPr sz="1600">
                <a:solidFill>
                  <a:srgbClr val="000000"/>
                </a:solidFill>
                <a:latin typeface="Microsoft YaHei"/>
              </a:rPr>
              <a:t>先规定一条从先验到数据的概率路径，再让网络学习每个位置、每个时刻应该朝哪里走。</a:t>
            </a:r>
          </a:p>
        </p:txBody>
      </p:sp>
      <p:sp>
        <p:nvSpPr>
          <p:cNvPr id="30" name="fm_train_title"/>
          <p:cNvSpPr txBox="1"/>
          <p:nvPr/>
        </p:nvSpPr>
        <p:spPr>
          <a:xfrm>
            <a:off x="841248" y="3803904"/>
            <a:ext cx="3063240" cy="369332"/>
          </a:xfrm>
          <a:prstGeom prst="rect">
            <a:avLst/>
          </a:prstGeom>
          <a:noFill/>
          <a:ln>
            <a:noFill/>
          </a:ln>
        </p:spPr>
        <p:txBody>
          <a:bodyPr wrap="square">
            <a:spAutoFit/>
          </a:bodyPr>
          <a:lstStyle/>
          <a:p>
            <a:pPr marL="0" indent="0">
              <a:buNone/>
            </a:pPr>
            <a:r>
              <a:rPr b="1">
                <a:solidFill>
                  <a:srgbClr val="000000"/>
                </a:solidFill>
                <a:latin typeface="Microsoft YaHei"/>
              </a:rPr>
              <a:t>训练为什么可行</a:t>
            </a:r>
          </a:p>
        </p:txBody>
      </p:sp>
      <p:sp>
        <p:nvSpPr>
          <p:cNvPr id="31" name="fm_train_body"/>
          <p:cNvSpPr txBox="1"/>
          <p:nvPr/>
        </p:nvSpPr>
        <p:spPr>
          <a:xfrm>
            <a:off x="841247" y="4178808"/>
            <a:ext cx="3286431" cy="830997"/>
          </a:xfrm>
          <a:prstGeom prst="rect">
            <a:avLst/>
          </a:prstGeom>
          <a:noFill/>
          <a:ln>
            <a:noFill/>
          </a:ln>
        </p:spPr>
        <p:txBody>
          <a:bodyPr wrap="square">
            <a:spAutoFit/>
          </a:bodyPr>
          <a:lstStyle/>
          <a:p>
            <a:pPr marL="0" indent="0">
              <a:buNone/>
            </a:pPr>
            <a:r>
              <a:rPr sz="1600">
                <a:solidFill>
                  <a:srgbClr val="000000"/>
                </a:solidFill>
                <a:latin typeface="Microsoft YaHei"/>
              </a:rPr>
              <a:t>条件流匹配逐样本构造目标，训练时直接回归已知的局部速度，不需要先算出难处理的边际路径。</a:t>
            </a:r>
          </a:p>
        </p:txBody>
      </p:sp>
      <p:sp>
        <p:nvSpPr>
          <p:cNvPr id="32" name="fm_table_title"/>
          <p:cNvSpPr txBox="1"/>
          <p:nvPr/>
        </p:nvSpPr>
        <p:spPr>
          <a:xfrm>
            <a:off x="4498848" y="1813861"/>
            <a:ext cx="6537960" cy="369332"/>
          </a:xfrm>
          <a:prstGeom prst="rect">
            <a:avLst/>
          </a:prstGeom>
          <a:noFill/>
          <a:ln>
            <a:noFill/>
          </a:ln>
        </p:spPr>
        <p:txBody>
          <a:bodyPr wrap="square">
            <a:spAutoFit/>
          </a:bodyPr>
          <a:lstStyle/>
          <a:p>
            <a:pPr marL="0" indent="0">
              <a:buNone/>
            </a:pPr>
            <a:r>
              <a:rPr b="1">
                <a:solidFill>
                  <a:srgbClr val="000000"/>
                </a:solidFill>
                <a:latin typeface="Microsoft YaHei"/>
              </a:rPr>
              <a:t>路径设计的直观差异</a:t>
            </a:r>
          </a:p>
        </p:txBody>
      </p:sp>
      <p:graphicFrame>
        <p:nvGraphicFramePr>
          <p:cNvPr id="33" name="fm_path_table"/>
          <p:cNvGraphicFramePr>
            <a:graphicFrameLocks noGrp="1"/>
          </p:cNvGraphicFramePr>
          <p:nvPr>
            <p:extLst>
              <p:ext uri="{D42A27DB-BD31-4B8C-83A1-F6EECF244321}">
                <p14:modId xmlns:p14="http://schemas.microsoft.com/office/powerpoint/2010/main" val="1450907914"/>
              </p:ext>
            </p:extLst>
          </p:nvPr>
        </p:nvGraphicFramePr>
        <p:xfrm>
          <a:off x="4595440" y="2203704"/>
          <a:ext cx="6583680" cy="1600200"/>
        </p:xfrm>
        <a:graphic>
          <a:graphicData uri="http://schemas.openxmlformats.org/drawingml/2006/table">
            <a:tbl>
              <a:tblPr>
                <a:tableStyleId>{5940675A-B579-460E-94D1-54222C63F5DA}</a:tableStyleId>
              </a:tblPr>
              <a:tblGrid>
                <a:gridCol w="96012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533400">
                <a:tc>
                  <a:txBody>
                    <a:bodyPr/>
                    <a:lstStyle/>
                    <a:p>
                      <a:pPr marL="0" indent="0" algn="ctr">
                        <a:buNone/>
                      </a:pPr>
                      <a:r>
                        <a:rPr sz="1200" b="1"/>
                        <a:t>比较</a:t>
                      </a:r>
                    </a:p>
                  </a:txBody>
                  <a:tcPr anchor="ctr"/>
                </a:tc>
                <a:tc>
                  <a:txBody>
                    <a:bodyPr/>
                    <a:lstStyle/>
                    <a:p>
                      <a:pPr marL="0" indent="0" algn="ctr">
                        <a:buNone/>
                      </a:pPr>
                      <a:r>
                        <a:rPr sz="1200" b="1">
                          <a:solidFill>
                            <a:srgbClr val="000000"/>
                          </a:solidFill>
                        </a:rPr>
                        <a:t>普通扩散路径</a:t>
                      </a:r>
                    </a:p>
                  </a:txBody>
                  <a:tcPr anchor="ctr"/>
                </a:tc>
                <a:tc>
                  <a:txBody>
                    <a:bodyPr/>
                    <a:lstStyle/>
                    <a:p>
                      <a:pPr marL="0" indent="0" algn="ctr">
                        <a:buNone/>
                      </a:pPr>
                      <a:r>
                        <a:rPr sz="1200" b="1">
                          <a:solidFill>
                            <a:srgbClr val="000000"/>
                          </a:solidFill>
                        </a:rPr>
                        <a:t>OT 路径</a:t>
                      </a:r>
                    </a:p>
                  </a:txBody>
                  <a:tcPr anchor="ctr"/>
                </a:tc>
                <a:extLst>
                  <a:ext uri="{0D108BD9-81ED-4DB2-BD59-A6C34878D82A}">
                    <a16:rowId xmlns:a16="http://schemas.microsoft.com/office/drawing/2014/main" val="10000"/>
                  </a:ext>
                </a:extLst>
              </a:tr>
              <a:tr h="533400">
                <a:tc>
                  <a:txBody>
                    <a:bodyPr/>
                    <a:lstStyle/>
                    <a:p>
                      <a:pPr algn="ctr"/>
                      <a:r>
                        <a:rPr sz="1200">
                          <a:solidFill>
                            <a:srgbClr val="000000"/>
                          </a:solidFill>
                        </a:rPr>
                        <a:t>轨迹</a:t>
                      </a:r>
                    </a:p>
                  </a:txBody>
                  <a:tcPr anchor="ctr"/>
                </a:tc>
                <a:tc>
                  <a:txBody>
                    <a:bodyPr/>
                    <a:lstStyle/>
                    <a:p>
                      <a:pPr algn="ctr"/>
                      <a:r>
                        <a:rPr sz="1200">
                          <a:solidFill>
                            <a:srgbClr val="000000"/>
                          </a:solidFill>
                        </a:rPr>
                        <a:t>容易弯曲、可能回退</a:t>
                      </a:r>
                    </a:p>
                  </a:txBody>
                  <a:tcPr anchor="ctr"/>
                </a:tc>
                <a:tc>
                  <a:txBody>
                    <a:bodyPr/>
                    <a:lstStyle/>
                    <a:p>
                      <a:pPr algn="ctr"/>
                      <a:r>
                        <a:rPr sz="1200">
                          <a:solidFill>
                            <a:srgbClr val="000000"/>
                          </a:solidFill>
                        </a:rPr>
                        <a:t>更直，方向更稳定</a:t>
                      </a:r>
                    </a:p>
                  </a:txBody>
                  <a:tcPr anchor="ctr"/>
                </a:tc>
                <a:extLst>
                  <a:ext uri="{0D108BD9-81ED-4DB2-BD59-A6C34878D82A}">
                    <a16:rowId xmlns:a16="http://schemas.microsoft.com/office/drawing/2014/main" val="10001"/>
                  </a:ext>
                </a:extLst>
              </a:tr>
              <a:tr h="533400">
                <a:tc>
                  <a:txBody>
                    <a:bodyPr/>
                    <a:lstStyle/>
                    <a:p>
                      <a:pPr algn="ctr"/>
                      <a:r>
                        <a:rPr sz="1200">
                          <a:solidFill>
                            <a:srgbClr val="000000"/>
                          </a:solidFill>
                        </a:rPr>
                        <a:t>影响</a:t>
                      </a:r>
                    </a:p>
                  </a:txBody>
                  <a:tcPr anchor="ctr"/>
                </a:tc>
                <a:tc>
                  <a:txBody>
                    <a:bodyPr/>
                    <a:lstStyle/>
                    <a:p>
                      <a:pPr algn="ctr"/>
                      <a:r>
                        <a:rPr sz="1200">
                          <a:solidFill>
                            <a:srgbClr val="000000"/>
                          </a:solidFill>
                        </a:rPr>
                        <a:t>拟合和采样较慢</a:t>
                      </a:r>
                    </a:p>
                  </a:txBody>
                  <a:tcPr anchor="ctr"/>
                </a:tc>
                <a:tc>
                  <a:txBody>
                    <a:bodyPr/>
                    <a:lstStyle/>
                    <a:p>
                      <a:pPr algn="ctr"/>
                      <a:r>
                        <a:rPr sz="1200">
                          <a:solidFill>
                            <a:srgbClr val="000000"/>
                          </a:solidFill>
                        </a:rPr>
                        <a:t>更容易拟合，采样步数更少</a:t>
                      </a:r>
                    </a:p>
                  </a:txBody>
                  <a:tcPr anchor="ctr"/>
                </a:tc>
                <a:extLst>
                  <a:ext uri="{0D108BD9-81ED-4DB2-BD59-A6C34878D82A}">
                    <a16:rowId xmlns:a16="http://schemas.microsoft.com/office/drawing/2014/main" val="10002"/>
                  </a:ext>
                </a:extLst>
              </a:tr>
            </a:tbl>
          </a:graphicData>
        </a:graphic>
      </p:graphicFrame>
      <p:sp>
        <p:nvSpPr>
          <p:cNvPr id="34" name="fm_takeaway_title"/>
          <p:cNvSpPr txBox="1"/>
          <p:nvPr/>
        </p:nvSpPr>
        <p:spPr>
          <a:xfrm>
            <a:off x="4498848" y="4224528"/>
            <a:ext cx="6537960" cy="369332"/>
          </a:xfrm>
          <a:prstGeom prst="rect">
            <a:avLst/>
          </a:prstGeom>
          <a:noFill/>
          <a:ln>
            <a:noFill/>
          </a:ln>
        </p:spPr>
        <p:txBody>
          <a:bodyPr wrap="square">
            <a:spAutoFit/>
          </a:bodyPr>
          <a:lstStyle/>
          <a:p>
            <a:pPr marL="0" indent="0">
              <a:buNone/>
            </a:pPr>
            <a:r>
              <a:rPr b="1">
                <a:solidFill>
                  <a:srgbClr val="000000"/>
                </a:solidFill>
                <a:latin typeface="Microsoft YaHei"/>
              </a:rPr>
              <a:t>关键</a:t>
            </a:r>
          </a:p>
        </p:txBody>
      </p:sp>
      <p:sp>
        <p:nvSpPr>
          <p:cNvPr id="4" name="文本框 3">
            <a:extLst>
              <a:ext uri="{FF2B5EF4-FFF2-40B4-BE49-F238E27FC236}">
                <a16:creationId xmlns:a16="http://schemas.microsoft.com/office/drawing/2014/main" id="{630C2D58-C0B1-EFD2-EA1D-82A98229F438}"/>
              </a:ext>
            </a:extLst>
          </p:cNvPr>
          <p:cNvSpPr txBox="1"/>
          <p:nvPr/>
        </p:nvSpPr>
        <p:spPr>
          <a:xfrm>
            <a:off x="4498848" y="4655861"/>
            <a:ext cx="6094926" cy="830997"/>
          </a:xfrm>
          <a:prstGeom prst="rect">
            <a:avLst/>
          </a:prstGeom>
          <a:noFill/>
        </p:spPr>
        <p:txBody>
          <a:bodyPr wrap="square">
            <a:spAutoFit/>
          </a:bodyPr>
          <a:lstStyle/>
          <a:p>
            <a:r>
              <a:rPr lang="zh-CN" altLang="en-US" sz="1600">
                <a:latin typeface="微软雅黑" panose="020B0503020204020204" pitchFamily="34" charset="-122"/>
                <a:ea typeface="微软雅黑" panose="020B0503020204020204" pitchFamily="34" charset="-122"/>
              </a:rPr>
              <a:t>它不再间接预测分数，而是先指定从噪声到数据的概率路径，再直接回归路径上的速度场；特点是路径可以主动设计，例如使用更直的 </a:t>
            </a:r>
            <a:r>
              <a:rPr lang="en-US" altLang="zh-CN" sz="1600">
                <a:latin typeface="微软雅黑" panose="020B0503020204020204" pitchFamily="34" charset="-122"/>
                <a:ea typeface="微软雅黑" panose="020B0503020204020204" pitchFamily="34" charset="-122"/>
              </a:rPr>
              <a:t>OT </a:t>
            </a:r>
            <a:r>
              <a:rPr lang="zh-CN" altLang="en-US" sz="1600">
                <a:latin typeface="微软雅黑" panose="020B0503020204020204" pitchFamily="34" charset="-122"/>
                <a:ea typeface="微软雅黑" panose="020B0503020204020204" pitchFamily="34" charset="-122"/>
              </a:rPr>
              <a:t>路径降低拟合难度，从而以更少的采样步数完成高质量生成。</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66928" y="566928"/>
            <a:ext cx="10972800" cy="420624"/>
          </a:xfrm>
          <a:prstGeom prst="rect">
            <a:avLst/>
          </a:prstGeom>
          <a:noFill/>
        </p:spPr>
        <p:txBody>
          <a:bodyPr wrap="square" lIns="36576" tIns="36576" rIns="36576" bIns="36576" anchor="t">
            <a:spAutoFit/>
          </a:bodyPr>
          <a:lstStyle/>
          <a:p>
            <a:pPr algn="l">
              <a:spcAft>
                <a:spcPts val="0"/>
              </a:spcAft>
            </a:pPr>
            <a:r>
              <a:rPr sz="2500" b="1">
                <a:solidFill>
                  <a:srgbClr val="000000"/>
                </a:solidFill>
                <a:latin typeface="Microsoft YaHei"/>
              </a:rPr>
              <a:t>Drifting Models：把推理迭代搬到训练时</a:t>
            </a:r>
          </a:p>
        </p:txBody>
      </p:sp>
      <p:sp>
        <p:nvSpPr>
          <p:cNvPr id="30" name="TextBox 29"/>
          <p:cNvSpPr txBox="1"/>
          <p:nvPr/>
        </p:nvSpPr>
        <p:spPr>
          <a:xfrm>
            <a:off x="10972800" y="6473952"/>
            <a:ext cx="594360" cy="164592"/>
          </a:xfrm>
          <a:prstGeom prst="rect">
            <a:avLst/>
          </a:prstGeom>
          <a:noFill/>
        </p:spPr>
        <p:txBody>
          <a:bodyPr wrap="square" lIns="36576" tIns="36576" rIns="36576" bIns="36576" anchor="t">
            <a:spAutoFit/>
          </a:bodyPr>
          <a:lstStyle/>
          <a:p>
            <a:pPr algn="r">
              <a:spcAft>
                <a:spcPts val="0"/>
              </a:spcAft>
            </a:pPr>
            <a:r>
              <a:rPr sz="800" b="0">
                <a:solidFill>
                  <a:srgbClr val="000000"/>
                </a:solidFill>
                <a:latin typeface="Microsoft YaHei"/>
              </a:rPr>
              <a:t>06</a:t>
            </a:r>
          </a:p>
        </p:txBody>
      </p:sp>
      <p:sp>
        <p:nvSpPr>
          <p:cNvPr id="31" name="drift_core_title"/>
          <p:cNvSpPr txBox="1"/>
          <p:nvPr/>
        </p:nvSpPr>
        <p:spPr>
          <a:xfrm>
            <a:off x="841248" y="1847088"/>
            <a:ext cx="3063240" cy="369332"/>
          </a:xfrm>
          <a:prstGeom prst="rect">
            <a:avLst/>
          </a:prstGeom>
          <a:noFill/>
          <a:ln>
            <a:noFill/>
          </a:ln>
        </p:spPr>
        <p:txBody>
          <a:bodyPr wrap="square">
            <a:spAutoFit/>
          </a:bodyPr>
          <a:lstStyle/>
          <a:p>
            <a:pPr marL="0" indent="0">
              <a:buNone/>
            </a:pPr>
            <a:r>
              <a:rPr b="1">
                <a:solidFill>
                  <a:srgbClr val="000000"/>
                </a:solidFill>
                <a:latin typeface="Microsoft YaHei"/>
              </a:rPr>
              <a:t>核心转向</a:t>
            </a:r>
          </a:p>
        </p:txBody>
      </p:sp>
      <p:sp>
        <p:nvSpPr>
          <p:cNvPr id="32" name="drift_core_body"/>
          <p:cNvSpPr txBox="1"/>
          <p:nvPr/>
        </p:nvSpPr>
        <p:spPr>
          <a:xfrm>
            <a:off x="744655" y="2331720"/>
            <a:ext cx="3292871" cy="830997"/>
          </a:xfrm>
          <a:prstGeom prst="rect">
            <a:avLst/>
          </a:prstGeom>
          <a:noFill/>
          <a:ln>
            <a:noFill/>
          </a:ln>
        </p:spPr>
        <p:txBody>
          <a:bodyPr wrap="square">
            <a:spAutoFit/>
          </a:bodyPr>
          <a:lstStyle/>
          <a:p>
            <a:pPr marL="0" indent="0">
              <a:buNone/>
            </a:pPr>
            <a:r>
              <a:rPr sz="1600">
                <a:solidFill>
                  <a:srgbClr val="000000"/>
                </a:solidFill>
                <a:latin typeface="Microsoft YaHei"/>
              </a:rPr>
              <a:t>前三篇在推理时反复更新样本。漂移模型在训练时更新网络参数，让生成分布逐渐靠近数据分布。</a:t>
            </a:r>
          </a:p>
        </p:txBody>
      </p:sp>
      <p:sp>
        <p:nvSpPr>
          <p:cNvPr id="33" name="drift_stop_title"/>
          <p:cNvSpPr txBox="1"/>
          <p:nvPr/>
        </p:nvSpPr>
        <p:spPr>
          <a:xfrm>
            <a:off x="841248" y="3803904"/>
            <a:ext cx="3063240" cy="369332"/>
          </a:xfrm>
          <a:prstGeom prst="rect">
            <a:avLst/>
          </a:prstGeom>
          <a:noFill/>
          <a:ln>
            <a:noFill/>
          </a:ln>
        </p:spPr>
        <p:txBody>
          <a:bodyPr wrap="square">
            <a:spAutoFit/>
          </a:bodyPr>
          <a:lstStyle/>
          <a:p>
            <a:pPr marL="0" indent="0">
              <a:buNone/>
            </a:pPr>
            <a:r>
              <a:rPr b="1">
                <a:solidFill>
                  <a:srgbClr val="000000"/>
                </a:solidFill>
                <a:latin typeface="Microsoft YaHei"/>
              </a:rPr>
              <a:t>什么时候停止</a:t>
            </a:r>
          </a:p>
        </p:txBody>
      </p:sp>
      <p:sp>
        <p:nvSpPr>
          <p:cNvPr id="34" name="drift_stop_body"/>
          <p:cNvSpPr txBox="1"/>
          <p:nvPr/>
        </p:nvSpPr>
        <p:spPr>
          <a:xfrm>
            <a:off x="841248" y="4178808"/>
            <a:ext cx="3063240" cy="830997"/>
          </a:xfrm>
          <a:prstGeom prst="rect">
            <a:avLst/>
          </a:prstGeom>
          <a:noFill/>
          <a:ln>
            <a:noFill/>
          </a:ln>
        </p:spPr>
        <p:txBody>
          <a:bodyPr wrap="square">
            <a:spAutoFit/>
          </a:bodyPr>
          <a:lstStyle/>
          <a:p>
            <a:pPr marL="0" indent="0">
              <a:buNone/>
            </a:pPr>
            <a:r>
              <a:rPr sz="1600">
                <a:solidFill>
                  <a:srgbClr val="000000"/>
                </a:solidFill>
                <a:latin typeface="Microsoft YaHei"/>
              </a:rPr>
              <a:t>数据样本产生吸引，生成样本产生排斥。两种分布匹配后，漂移场抵消，训练达到平衡。</a:t>
            </a:r>
          </a:p>
        </p:txBody>
      </p:sp>
      <p:sp>
        <p:nvSpPr>
          <p:cNvPr id="35" name="drift_flow_title"/>
          <p:cNvSpPr txBox="1"/>
          <p:nvPr/>
        </p:nvSpPr>
        <p:spPr>
          <a:xfrm>
            <a:off x="4498848" y="1847088"/>
            <a:ext cx="6537960" cy="369332"/>
          </a:xfrm>
          <a:prstGeom prst="rect">
            <a:avLst/>
          </a:prstGeom>
          <a:noFill/>
          <a:ln>
            <a:noFill/>
          </a:ln>
        </p:spPr>
        <p:txBody>
          <a:bodyPr wrap="square">
            <a:spAutoFit/>
          </a:bodyPr>
          <a:lstStyle/>
          <a:p>
            <a:pPr marL="0" indent="0">
              <a:buNone/>
            </a:pPr>
            <a:r>
              <a:rPr b="1">
                <a:solidFill>
                  <a:srgbClr val="000000"/>
                </a:solidFill>
                <a:latin typeface="Microsoft YaHei"/>
              </a:rPr>
              <a:t>训练和推理的区别</a:t>
            </a:r>
          </a:p>
        </p:txBody>
      </p:sp>
      <p:sp>
        <p:nvSpPr>
          <p:cNvPr id="36" name="drift_train_flow"/>
          <p:cNvSpPr txBox="1"/>
          <p:nvPr/>
        </p:nvSpPr>
        <p:spPr>
          <a:xfrm>
            <a:off x="4498848" y="2331720"/>
            <a:ext cx="7068312" cy="338554"/>
          </a:xfrm>
          <a:prstGeom prst="rect">
            <a:avLst/>
          </a:prstGeom>
          <a:noFill/>
          <a:ln>
            <a:noFill/>
          </a:ln>
        </p:spPr>
        <p:txBody>
          <a:bodyPr wrap="square">
            <a:spAutoFit/>
          </a:bodyPr>
          <a:lstStyle/>
          <a:p>
            <a:pPr marL="0" indent="0">
              <a:buNone/>
            </a:pPr>
            <a:r>
              <a:rPr sz="1600" b="1">
                <a:solidFill>
                  <a:srgbClr val="000000"/>
                </a:solidFill>
                <a:latin typeface="Microsoft YaHei"/>
              </a:rPr>
              <a:t>训练：先验样本  →  参数更新  →  生成分布持续漂移  →  与数据分布匹配</a:t>
            </a:r>
          </a:p>
        </p:txBody>
      </p:sp>
      <p:sp>
        <p:nvSpPr>
          <p:cNvPr id="37" name="drift_infer_flow"/>
          <p:cNvSpPr txBox="1"/>
          <p:nvPr/>
        </p:nvSpPr>
        <p:spPr>
          <a:xfrm>
            <a:off x="4498848" y="2907792"/>
            <a:ext cx="6583680" cy="338554"/>
          </a:xfrm>
          <a:prstGeom prst="rect">
            <a:avLst/>
          </a:prstGeom>
          <a:noFill/>
          <a:ln>
            <a:noFill/>
          </a:ln>
        </p:spPr>
        <p:txBody>
          <a:bodyPr wrap="square">
            <a:spAutoFit/>
          </a:bodyPr>
          <a:lstStyle/>
          <a:p>
            <a:pPr marL="0" indent="0">
              <a:buNone/>
            </a:pPr>
            <a:r>
              <a:rPr sz="1600" b="1">
                <a:solidFill>
                  <a:srgbClr val="000000"/>
                </a:solidFill>
                <a:latin typeface="Microsoft YaHei"/>
              </a:rPr>
              <a:t>推理：先验样本  →  一次前向  →  生成图像</a:t>
            </a:r>
          </a:p>
        </p:txBody>
      </p:sp>
      <p:sp>
        <p:nvSpPr>
          <p:cNvPr id="39" name="drift_takeaway_title"/>
          <p:cNvSpPr txBox="1"/>
          <p:nvPr/>
        </p:nvSpPr>
        <p:spPr>
          <a:xfrm>
            <a:off x="4732020" y="3803904"/>
            <a:ext cx="644910" cy="369332"/>
          </a:xfrm>
          <a:prstGeom prst="rect">
            <a:avLst/>
          </a:prstGeom>
          <a:noFill/>
          <a:ln>
            <a:noFill/>
          </a:ln>
        </p:spPr>
        <p:txBody>
          <a:bodyPr wrap="square">
            <a:spAutoFit/>
          </a:bodyPr>
          <a:lstStyle/>
          <a:p>
            <a:pPr marL="0" indent="0">
              <a:buNone/>
            </a:pPr>
            <a:r>
              <a:rPr b="1">
                <a:solidFill>
                  <a:srgbClr val="000000"/>
                </a:solidFill>
                <a:latin typeface="Microsoft YaHei"/>
              </a:rPr>
              <a:t>关键</a:t>
            </a:r>
          </a:p>
        </p:txBody>
      </p:sp>
      <p:sp>
        <p:nvSpPr>
          <p:cNvPr id="40" name="drift_takeaways"/>
          <p:cNvSpPr txBox="1"/>
          <p:nvPr/>
        </p:nvSpPr>
        <p:spPr>
          <a:xfrm>
            <a:off x="4498848" y="4224528"/>
            <a:ext cx="6492240" cy="1077218"/>
          </a:xfrm>
          <a:prstGeom prst="rect">
            <a:avLst/>
          </a:prstGeom>
          <a:noFill/>
          <a:ln>
            <a:noFill/>
          </a:ln>
        </p:spPr>
        <p:txBody>
          <a:bodyPr wrap="square">
            <a:spAutoFit/>
          </a:bodyPr>
          <a:lstStyle/>
          <a:p>
            <a:pPr marL="182880"/>
            <a:r>
              <a:rPr lang="zh-CN" altLang="en-US" sz="1600">
                <a:latin typeface="微软雅黑" panose="020B0503020204020204" pitchFamily="34" charset="-122"/>
                <a:ea typeface="微软雅黑" panose="020B0503020204020204" pitchFamily="34" charset="-122"/>
              </a:rPr>
              <a:t>它把传统生成模型在推理阶段进行的多步分布演化提前到训练阶段完成，利用真实样本的吸引和生成样本的排斥推动分布达到平衡；特点是训练完成后可一次前向生成，适合对实时性和推理成本要求很高的场景。</a:t>
            </a:r>
            <a:endParaRPr sz="160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66928" y="566928"/>
            <a:ext cx="10972800" cy="458587"/>
          </a:xfrm>
          <a:prstGeom prst="rect">
            <a:avLst/>
          </a:prstGeom>
          <a:noFill/>
        </p:spPr>
        <p:txBody>
          <a:bodyPr wrap="square" lIns="36576" tIns="36576" rIns="36576" bIns="36576" anchor="t">
            <a:spAutoFit/>
          </a:bodyPr>
          <a:lstStyle/>
          <a:p>
            <a:pPr algn="l">
              <a:spcAft>
                <a:spcPts val="0"/>
              </a:spcAft>
            </a:pPr>
            <a:r>
              <a:rPr sz="2500" b="1">
                <a:solidFill>
                  <a:srgbClr val="000000"/>
                </a:solidFill>
                <a:latin typeface="Microsoft YaHei"/>
              </a:rPr>
              <a:t>四个模型的差异</a:t>
            </a:r>
          </a:p>
        </p:txBody>
      </p:sp>
      <p:sp>
        <p:nvSpPr>
          <p:cNvPr id="70" name="TextBox 69"/>
          <p:cNvSpPr txBox="1"/>
          <p:nvPr/>
        </p:nvSpPr>
        <p:spPr>
          <a:xfrm>
            <a:off x="10972800" y="6473952"/>
            <a:ext cx="594360" cy="164592"/>
          </a:xfrm>
          <a:prstGeom prst="rect">
            <a:avLst/>
          </a:prstGeom>
          <a:noFill/>
        </p:spPr>
        <p:txBody>
          <a:bodyPr wrap="square" lIns="36576" tIns="36576" rIns="36576" bIns="36576" anchor="t">
            <a:spAutoFit/>
          </a:bodyPr>
          <a:lstStyle/>
          <a:p>
            <a:pPr algn="r">
              <a:spcAft>
                <a:spcPts val="0"/>
              </a:spcAft>
            </a:pPr>
            <a:r>
              <a:rPr sz="800" b="0">
                <a:solidFill>
                  <a:srgbClr val="000000"/>
                </a:solidFill>
                <a:latin typeface="Microsoft YaHei"/>
              </a:rPr>
              <a:t>07</a:t>
            </a:r>
          </a:p>
        </p:txBody>
      </p:sp>
      <p:graphicFrame>
        <p:nvGraphicFramePr>
          <p:cNvPr id="71" name="model_comparison"/>
          <p:cNvGraphicFramePr>
            <a:graphicFrameLocks noGrp="1"/>
          </p:cNvGraphicFramePr>
          <p:nvPr>
            <p:extLst>
              <p:ext uri="{D42A27DB-BD31-4B8C-83A1-F6EECF244321}">
                <p14:modId xmlns:p14="http://schemas.microsoft.com/office/powerpoint/2010/main" val="2622005674"/>
              </p:ext>
            </p:extLst>
          </p:nvPr>
        </p:nvGraphicFramePr>
        <p:xfrm>
          <a:off x="710184" y="1737360"/>
          <a:ext cx="10771631" cy="3383280"/>
        </p:xfrm>
        <a:graphic>
          <a:graphicData uri="http://schemas.openxmlformats.org/drawingml/2006/table">
            <a:tbl>
              <a:tblPr>
                <a:tableStyleId>{5940675A-B579-460E-94D1-54222C63F5DA}</a:tableStyleId>
              </a:tblPr>
              <a:tblGrid>
                <a:gridCol w="128016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993392">
                  <a:extLst>
                    <a:ext uri="{9D8B030D-6E8A-4147-A177-3AD203B41FA5}">
                      <a16:colId xmlns:a16="http://schemas.microsoft.com/office/drawing/2014/main" val="20005"/>
                    </a:ext>
                  </a:extLst>
                </a:gridCol>
              </a:tblGrid>
              <a:tr h="676656">
                <a:tc>
                  <a:txBody>
                    <a:bodyPr/>
                    <a:lstStyle/>
                    <a:p>
                      <a:pPr marL="0" indent="0" algn="ctr">
                        <a:buNone/>
                      </a:pPr>
                      <a:r>
                        <a:rPr sz="1200" b="1">
                          <a:solidFill>
                            <a:srgbClr val="000000"/>
                          </a:solidFill>
                        </a:rPr>
                        <a:t>模型</a:t>
                      </a:r>
                    </a:p>
                  </a:txBody>
                  <a:tcPr anchor="ctr"/>
                </a:tc>
                <a:tc>
                  <a:txBody>
                    <a:bodyPr/>
                    <a:lstStyle/>
                    <a:p>
                      <a:pPr marL="0" indent="0" algn="ctr">
                        <a:buNone/>
                      </a:pPr>
                      <a:r>
                        <a:rPr sz="1200" b="1">
                          <a:solidFill>
                            <a:srgbClr val="000000"/>
                          </a:solidFill>
                        </a:rPr>
                        <a:t>路径表示</a:t>
                      </a:r>
                    </a:p>
                  </a:txBody>
                  <a:tcPr anchor="ctr"/>
                </a:tc>
                <a:tc>
                  <a:txBody>
                    <a:bodyPr/>
                    <a:lstStyle/>
                    <a:p>
                      <a:pPr marL="0" indent="0" algn="ctr">
                        <a:buNone/>
                      </a:pPr>
                      <a:r>
                        <a:rPr sz="1200" b="1">
                          <a:solidFill>
                            <a:srgbClr val="000000"/>
                          </a:solidFill>
                        </a:rPr>
                        <a:t>网络学习对象</a:t>
                      </a:r>
                    </a:p>
                  </a:txBody>
                  <a:tcPr anchor="ctr"/>
                </a:tc>
                <a:tc>
                  <a:txBody>
                    <a:bodyPr/>
                    <a:lstStyle/>
                    <a:p>
                      <a:pPr marL="0" indent="0" algn="ctr">
                        <a:buNone/>
                      </a:pPr>
                      <a:r>
                        <a:rPr sz="1200" b="1">
                          <a:solidFill>
                            <a:srgbClr val="000000"/>
                          </a:solidFill>
                        </a:rPr>
                        <a:t>推理方式</a:t>
                      </a:r>
                    </a:p>
                  </a:txBody>
                  <a:tcPr anchor="ctr"/>
                </a:tc>
                <a:tc>
                  <a:txBody>
                    <a:bodyPr/>
                    <a:lstStyle/>
                    <a:p>
                      <a:pPr marL="0" indent="0" algn="ctr">
                        <a:buNone/>
                      </a:pPr>
                      <a:r>
                        <a:rPr sz="1200" b="1">
                          <a:solidFill>
                            <a:srgbClr val="000000"/>
                          </a:solidFill>
                        </a:rPr>
                        <a:t>主要优势</a:t>
                      </a:r>
                    </a:p>
                  </a:txBody>
                  <a:tcPr anchor="ctr"/>
                </a:tc>
                <a:tc>
                  <a:txBody>
                    <a:bodyPr/>
                    <a:lstStyle/>
                    <a:p>
                      <a:pPr marL="0" indent="0" algn="ctr">
                        <a:buNone/>
                      </a:pPr>
                      <a:r>
                        <a:rPr sz="1200" b="1">
                          <a:solidFill>
                            <a:srgbClr val="000000"/>
                          </a:solidFill>
                        </a:rPr>
                        <a:t>主要代价</a:t>
                      </a:r>
                    </a:p>
                  </a:txBody>
                  <a:tcPr anchor="ctr"/>
                </a:tc>
                <a:extLst>
                  <a:ext uri="{0D108BD9-81ED-4DB2-BD59-A6C34878D82A}">
                    <a16:rowId xmlns:a16="http://schemas.microsoft.com/office/drawing/2014/main" val="10000"/>
                  </a:ext>
                </a:extLst>
              </a:tr>
              <a:tr h="676656">
                <a:tc>
                  <a:txBody>
                    <a:bodyPr/>
                    <a:lstStyle/>
                    <a:p>
                      <a:pPr algn="ctr"/>
                      <a:r>
                        <a:rPr sz="1200">
                          <a:solidFill>
                            <a:srgbClr val="000000"/>
                          </a:solidFill>
                        </a:rPr>
                        <a:t>DDPM</a:t>
                      </a:r>
                    </a:p>
                  </a:txBody>
                  <a:tcPr anchor="ctr"/>
                </a:tc>
                <a:tc>
                  <a:txBody>
                    <a:bodyPr/>
                    <a:lstStyle/>
                    <a:p>
                      <a:pPr algn="ctr"/>
                      <a:r>
                        <a:rPr sz="1200">
                          <a:solidFill>
                            <a:srgbClr val="000000"/>
                          </a:solidFill>
                        </a:rPr>
                        <a:t>离散扩散链</a:t>
                      </a:r>
                    </a:p>
                  </a:txBody>
                  <a:tcPr anchor="ctr"/>
                </a:tc>
                <a:tc>
                  <a:txBody>
                    <a:bodyPr/>
                    <a:lstStyle/>
                    <a:p>
                      <a:pPr algn="ctr"/>
                      <a:r>
                        <a:rPr sz="1200">
                          <a:solidFill>
                            <a:srgbClr val="000000"/>
                          </a:solidFill>
                        </a:rPr>
                        <a:t>噪声</a:t>
                      </a:r>
                    </a:p>
                  </a:txBody>
                  <a:tcPr anchor="ctr"/>
                </a:tc>
                <a:tc>
                  <a:txBody>
                    <a:bodyPr/>
                    <a:lstStyle/>
                    <a:p>
                      <a:pPr algn="ctr"/>
                      <a:r>
                        <a:rPr sz="1200">
                          <a:solidFill>
                            <a:srgbClr val="000000"/>
                          </a:solidFill>
                        </a:rPr>
                        <a:t>多步去噪</a:t>
                      </a:r>
                    </a:p>
                  </a:txBody>
                  <a:tcPr anchor="ctr"/>
                </a:tc>
                <a:tc>
                  <a:txBody>
                    <a:bodyPr/>
                    <a:lstStyle/>
                    <a:p>
                      <a:pPr algn="ctr"/>
                      <a:r>
                        <a:rPr sz="1200">
                          <a:solidFill>
                            <a:srgbClr val="000000"/>
                          </a:solidFill>
                        </a:rPr>
                        <a:t>稳定、清晰</a:t>
                      </a:r>
                    </a:p>
                  </a:txBody>
                  <a:tcPr anchor="ctr"/>
                </a:tc>
                <a:tc>
                  <a:txBody>
                    <a:bodyPr/>
                    <a:lstStyle/>
                    <a:p>
                      <a:pPr algn="ctr"/>
                      <a:r>
                        <a:rPr sz="1200">
                          <a:solidFill>
                            <a:srgbClr val="000000"/>
                          </a:solidFill>
                        </a:rPr>
                        <a:t>采样慢</a:t>
                      </a:r>
                    </a:p>
                  </a:txBody>
                  <a:tcPr anchor="ctr"/>
                </a:tc>
                <a:extLst>
                  <a:ext uri="{0D108BD9-81ED-4DB2-BD59-A6C34878D82A}">
                    <a16:rowId xmlns:a16="http://schemas.microsoft.com/office/drawing/2014/main" val="10001"/>
                  </a:ext>
                </a:extLst>
              </a:tr>
              <a:tr h="676656">
                <a:tc>
                  <a:txBody>
                    <a:bodyPr/>
                    <a:lstStyle/>
                    <a:p>
                      <a:pPr algn="ctr"/>
                      <a:r>
                        <a:rPr sz="1200">
                          <a:solidFill>
                            <a:srgbClr val="000000"/>
                          </a:solidFill>
                        </a:rPr>
                        <a:t>Score-SDE</a:t>
                      </a:r>
                    </a:p>
                  </a:txBody>
                  <a:tcPr anchor="ctr"/>
                </a:tc>
                <a:tc>
                  <a:txBody>
                    <a:bodyPr/>
                    <a:lstStyle/>
                    <a:p>
                      <a:pPr algn="ctr"/>
                      <a:r>
                        <a:rPr sz="1200">
                          <a:solidFill>
                            <a:srgbClr val="000000"/>
                          </a:solidFill>
                        </a:rPr>
                        <a:t>连续 SDE</a:t>
                      </a:r>
                    </a:p>
                  </a:txBody>
                  <a:tcPr anchor="ctr"/>
                </a:tc>
                <a:tc>
                  <a:txBody>
                    <a:bodyPr/>
                    <a:lstStyle/>
                    <a:p>
                      <a:pPr algn="ctr"/>
                      <a:r>
                        <a:rPr sz="1200">
                          <a:solidFill>
                            <a:srgbClr val="000000"/>
                          </a:solidFill>
                        </a:rPr>
                        <a:t>分数</a:t>
                      </a:r>
                    </a:p>
                  </a:txBody>
                  <a:tcPr anchor="ctr"/>
                </a:tc>
                <a:tc>
                  <a:txBody>
                    <a:bodyPr/>
                    <a:lstStyle/>
                    <a:p>
                      <a:pPr algn="ctr"/>
                      <a:r>
                        <a:rPr sz="1200">
                          <a:solidFill>
                            <a:srgbClr val="000000"/>
                          </a:solidFill>
                        </a:rPr>
                        <a:t>随机或确定性采样</a:t>
                      </a:r>
                    </a:p>
                  </a:txBody>
                  <a:tcPr anchor="ctr"/>
                </a:tc>
                <a:tc>
                  <a:txBody>
                    <a:bodyPr/>
                    <a:lstStyle/>
                    <a:p>
                      <a:pPr algn="ctr"/>
                      <a:r>
                        <a:rPr sz="1200">
                          <a:solidFill>
                            <a:srgbClr val="000000"/>
                          </a:solidFill>
                        </a:rPr>
                        <a:t>条件控制强</a:t>
                      </a:r>
                    </a:p>
                  </a:txBody>
                  <a:tcPr anchor="ctr"/>
                </a:tc>
                <a:tc>
                  <a:txBody>
                    <a:bodyPr/>
                    <a:lstStyle/>
                    <a:p>
                      <a:pPr algn="ctr"/>
                      <a:r>
                        <a:rPr sz="1200">
                          <a:solidFill>
                            <a:srgbClr val="000000"/>
                          </a:solidFill>
                        </a:rPr>
                        <a:t>求解复杂</a:t>
                      </a:r>
                    </a:p>
                  </a:txBody>
                  <a:tcPr anchor="ctr"/>
                </a:tc>
                <a:extLst>
                  <a:ext uri="{0D108BD9-81ED-4DB2-BD59-A6C34878D82A}">
                    <a16:rowId xmlns:a16="http://schemas.microsoft.com/office/drawing/2014/main" val="10002"/>
                  </a:ext>
                </a:extLst>
              </a:tr>
              <a:tr h="676656">
                <a:tc>
                  <a:txBody>
                    <a:bodyPr/>
                    <a:lstStyle/>
                    <a:p>
                      <a:pPr algn="ctr"/>
                      <a:r>
                        <a:rPr sz="1200">
                          <a:solidFill>
                            <a:srgbClr val="000000"/>
                          </a:solidFill>
                        </a:rPr>
                        <a:t>Flow Matching</a:t>
                      </a:r>
                    </a:p>
                  </a:txBody>
                  <a:tcPr anchor="ctr"/>
                </a:tc>
                <a:tc>
                  <a:txBody>
                    <a:bodyPr/>
                    <a:lstStyle/>
                    <a:p>
                      <a:pPr algn="ctr"/>
                      <a:r>
                        <a:rPr sz="1200">
                          <a:solidFill>
                            <a:srgbClr val="000000"/>
                          </a:solidFill>
                        </a:rPr>
                        <a:t>概率路径</a:t>
                      </a:r>
                    </a:p>
                  </a:txBody>
                  <a:tcPr anchor="ctr"/>
                </a:tc>
                <a:tc>
                  <a:txBody>
                    <a:bodyPr/>
                    <a:lstStyle/>
                    <a:p>
                      <a:pPr algn="ctr"/>
                      <a:r>
                        <a:rPr sz="1200">
                          <a:solidFill>
                            <a:srgbClr val="000000"/>
                          </a:solidFill>
                        </a:rPr>
                        <a:t>速度</a:t>
                      </a:r>
                    </a:p>
                  </a:txBody>
                  <a:tcPr anchor="ctr"/>
                </a:tc>
                <a:tc>
                  <a:txBody>
                    <a:bodyPr/>
                    <a:lstStyle/>
                    <a:p>
                      <a:pPr algn="ctr"/>
                      <a:r>
                        <a:rPr sz="1200">
                          <a:solidFill>
                            <a:srgbClr val="000000"/>
                          </a:solidFill>
                        </a:rPr>
                        <a:t>ODE 少步</a:t>
                      </a:r>
                    </a:p>
                  </a:txBody>
                  <a:tcPr anchor="ctr"/>
                </a:tc>
                <a:tc>
                  <a:txBody>
                    <a:bodyPr/>
                    <a:lstStyle/>
                    <a:p>
                      <a:pPr algn="ctr"/>
                      <a:r>
                        <a:rPr sz="1200">
                          <a:solidFill>
                            <a:srgbClr val="000000"/>
                          </a:solidFill>
                        </a:rPr>
                        <a:t>路径可设计</a:t>
                      </a:r>
                    </a:p>
                  </a:txBody>
                  <a:tcPr anchor="ctr"/>
                </a:tc>
                <a:tc>
                  <a:txBody>
                    <a:bodyPr/>
                    <a:lstStyle/>
                    <a:p>
                      <a:pPr algn="ctr"/>
                      <a:r>
                        <a:rPr sz="1200">
                          <a:solidFill>
                            <a:srgbClr val="000000"/>
                          </a:solidFill>
                        </a:rPr>
                        <a:t>依赖路径</a:t>
                      </a:r>
                    </a:p>
                  </a:txBody>
                  <a:tcPr anchor="ctr"/>
                </a:tc>
                <a:extLst>
                  <a:ext uri="{0D108BD9-81ED-4DB2-BD59-A6C34878D82A}">
                    <a16:rowId xmlns:a16="http://schemas.microsoft.com/office/drawing/2014/main" val="10003"/>
                  </a:ext>
                </a:extLst>
              </a:tr>
              <a:tr h="676656">
                <a:tc>
                  <a:txBody>
                    <a:bodyPr/>
                    <a:lstStyle/>
                    <a:p>
                      <a:pPr algn="ctr"/>
                      <a:r>
                        <a:rPr sz="1200">
                          <a:solidFill>
                            <a:srgbClr val="000000"/>
                          </a:solidFill>
                        </a:rPr>
                        <a:t>Drifting</a:t>
                      </a:r>
                    </a:p>
                  </a:txBody>
                  <a:tcPr anchor="ctr"/>
                </a:tc>
                <a:tc>
                  <a:txBody>
                    <a:bodyPr/>
                    <a:lstStyle/>
                    <a:p>
                      <a:pPr algn="ctr"/>
                      <a:r>
                        <a:rPr sz="1200">
                          <a:solidFill>
                            <a:srgbClr val="000000"/>
                          </a:solidFill>
                        </a:rPr>
                        <a:t>训练时演化</a:t>
                      </a:r>
                    </a:p>
                  </a:txBody>
                  <a:tcPr anchor="ctr"/>
                </a:tc>
                <a:tc>
                  <a:txBody>
                    <a:bodyPr/>
                    <a:lstStyle/>
                    <a:p>
                      <a:pPr algn="ctr"/>
                      <a:r>
                        <a:rPr sz="1200">
                          <a:solidFill>
                            <a:srgbClr val="000000"/>
                          </a:solidFill>
                        </a:rPr>
                        <a:t>漂移方向</a:t>
                      </a:r>
                    </a:p>
                  </a:txBody>
                  <a:tcPr anchor="ctr"/>
                </a:tc>
                <a:tc>
                  <a:txBody>
                    <a:bodyPr/>
                    <a:lstStyle/>
                    <a:p>
                      <a:pPr algn="ctr"/>
                      <a:r>
                        <a:rPr sz="1200">
                          <a:solidFill>
                            <a:srgbClr val="000000"/>
                          </a:solidFill>
                        </a:rPr>
                        <a:t>一次前向</a:t>
                      </a:r>
                    </a:p>
                  </a:txBody>
                  <a:tcPr anchor="ctr"/>
                </a:tc>
                <a:tc>
                  <a:txBody>
                    <a:bodyPr/>
                    <a:lstStyle/>
                    <a:p>
                      <a:pPr algn="ctr"/>
                      <a:r>
                        <a:rPr sz="1200">
                          <a:solidFill>
                            <a:srgbClr val="000000"/>
                          </a:solidFill>
                        </a:rPr>
                        <a:t>推理最快</a:t>
                      </a:r>
                    </a:p>
                  </a:txBody>
                  <a:tcPr anchor="ctr"/>
                </a:tc>
                <a:tc>
                  <a:txBody>
                    <a:bodyPr/>
                    <a:lstStyle/>
                    <a:p>
                      <a:pPr algn="ctr"/>
                      <a:r>
                        <a:rPr sz="1200">
                          <a:solidFill>
                            <a:srgbClr val="000000"/>
                          </a:solidFill>
                        </a:rPr>
                        <a:t>训练和估计难</a:t>
                      </a:r>
                    </a:p>
                  </a:txBody>
                  <a:tcPr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66928" y="566928"/>
            <a:ext cx="10972800" cy="458587"/>
          </a:xfrm>
          <a:prstGeom prst="rect">
            <a:avLst/>
          </a:prstGeom>
          <a:noFill/>
        </p:spPr>
        <p:txBody>
          <a:bodyPr wrap="square" lIns="36576" tIns="36576" rIns="36576" bIns="36576" anchor="t">
            <a:spAutoFit/>
          </a:bodyPr>
          <a:lstStyle/>
          <a:p>
            <a:pPr algn="l">
              <a:spcAft>
                <a:spcPts val="0"/>
              </a:spcAft>
            </a:pPr>
            <a:r>
              <a:rPr sz="2500" b="1">
                <a:solidFill>
                  <a:srgbClr val="000000"/>
                </a:solidFill>
                <a:latin typeface="Microsoft YaHei"/>
              </a:rPr>
              <a:t>对多任务成像的启示</a:t>
            </a:r>
          </a:p>
        </p:txBody>
      </p:sp>
      <p:sp>
        <p:nvSpPr>
          <p:cNvPr id="50" name="TextBox 49"/>
          <p:cNvSpPr txBox="1"/>
          <p:nvPr/>
        </p:nvSpPr>
        <p:spPr>
          <a:xfrm>
            <a:off x="10972800" y="6473952"/>
            <a:ext cx="594360" cy="164592"/>
          </a:xfrm>
          <a:prstGeom prst="rect">
            <a:avLst/>
          </a:prstGeom>
          <a:noFill/>
        </p:spPr>
        <p:txBody>
          <a:bodyPr wrap="square" lIns="36576" tIns="36576" rIns="36576" bIns="36576" anchor="t">
            <a:spAutoFit/>
          </a:bodyPr>
          <a:lstStyle/>
          <a:p>
            <a:pPr algn="r">
              <a:spcAft>
                <a:spcPts val="0"/>
              </a:spcAft>
            </a:pPr>
            <a:r>
              <a:rPr sz="800" b="0">
                <a:solidFill>
                  <a:srgbClr val="000000"/>
                </a:solidFill>
                <a:latin typeface="Microsoft YaHei"/>
              </a:rPr>
              <a:t>08</a:t>
            </a:r>
          </a:p>
        </p:txBody>
      </p:sp>
      <p:graphicFrame>
        <p:nvGraphicFramePr>
          <p:cNvPr id="51" name="imaging_selection"/>
          <p:cNvGraphicFramePr>
            <a:graphicFrameLocks noGrp="1"/>
          </p:cNvGraphicFramePr>
          <p:nvPr>
            <p:extLst>
              <p:ext uri="{D42A27DB-BD31-4B8C-83A1-F6EECF244321}">
                <p14:modId xmlns:p14="http://schemas.microsoft.com/office/powerpoint/2010/main" val="4243995416"/>
              </p:ext>
            </p:extLst>
          </p:nvPr>
        </p:nvGraphicFramePr>
        <p:xfrm>
          <a:off x="786384" y="1783080"/>
          <a:ext cx="10533888" cy="3291840"/>
        </p:xfrm>
        <a:graphic>
          <a:graphicData uri="http://schemas.openxmlformats.org/drawingml/2006/table">
            <a:tbl>
              <a:tblPr>
                <a:tableStyleId>{5940675A-B579-460E-94D1-54222C63F5DA}</a:tableStyleId>
              </a:tblPr>
              <a:tblGrid>
                <a:gridCol w="20574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447288">
                  <a:extLst>
                    <a:ext uri="{9D8B030D-6E8A-4147-A177-3AD203B41FA5}">
                      <a16:colId xmlns:a16="http://schemas.microsoft.com/office/drawing/2014/main" val="20003"/>
                    </a:ext>
                  </a:extLst>
                </a:gridCol>
              </a:tblGrid>
              <a:tr h="658368">
                <a:tc>
                  <a:txBody>
                    <a:bodyPr/>
                    <a:lstStyle/>
                    <a:p>
                      <a:pPr marL="0" indent="0" algn="ctr">
                        <a:buNone/>
                      </a:pPr>
                      <a:r>
                        <a:rPr sz="1200" b="1">
                          <a:solidFill>
                            <a:srgbClr val="000000"/>
                          </a:solidFill>
                        </a:rPr>
                        <a:t>成像需求</a:t>
                      </a:r>
                    </a:p>
                  </a:txBody>
                  <a:tcPr anchor="ctr"/>
                </a:tc>
                <a:tc>
                  <a:txBody>
                    <a:bodyPr/>
                    <a:lstStyle/>
                    <a:p>
                      <a:pPr marL="0" indent="0" algn="ctr">
                        <a:buNone/>
                      </a:pPr>
                      <a:r>
                        <a:rPr sz="1200" b="1">
                          <a:solidFill>
                            <a:srgbClr val="000000"/>
                          </a:solidFill>
                        </a:rPr>
                        <a:t>优先考虑</a:t>
                      </a:r>
                    </a:p>
                  </a:txBody>
                  <a:tcPr anchor="ctr"/>
                </a:tc>
                <a:tc>
                  <a:txBody>
                    <a:bodyPr/>
                    <a:lstStyle/>
                    <a:p>
                      <a:pPr marL="0" indent="0" algn="ctr">
                        <a:buNone/>
                      </a:pPr>
                      <a:r>
                        <a:rPr sz="1200" b="1">
                          <a:solidFill>
                            <a:srgbClr val="000000"/>
                          </a:solidFill>
                        </a:rPr>
                        <a:t>原因</a:t>
                      </a:r>
                    </a:p>
                  </a:txBody>
                  <a:tcPr anchor="ctr"/>
                </a:tc>
                <a:tc>
                  <a:txBody>
                    <a:bodyPr/>
                    <a:lstStyle/>
                    <a:p>
                      <a:pPr marL="0" indent="0" algn="ctr">
                        <a:buNone/>
                      </a:pPr>
                      <a:r>
                        <a:rPr sz="1200" b="1">
                          <a:solidFill>
                            <a:srgbClr val="000000"/>
                          </a:solidFill>
                        </a:rPr>
                        <a:t>建议用法</a:t>
                      </a:r>
                    </a:p>
                  </a:txBody>
                  <a:tcPr anchor="ctr"/>
                </a:tc>
                <a:extLst>
                  <a:ext uri="{0D108BD9-81ED-4DB2-BD59-A6C34878D82A}">
                    <a16:rowId xmlns:a16="http://schemas.microsoft.com/office/drawing/2014/main" val="10000"/>
                  </a:ext>
                </a:extLst>
              </a:tr>
              <a:tr h="658368">
                <a:tc>
                  <a:txBody>
                    <a:bodyPr/>
                    <a:lstStyle/>
                    <a:p>
                      <a:pPr algn="ctr"/>
                      <a:r>
                        <a:rPr sz="1200">
                          <a:solidFill>
                            <a:srgbClr val="000000"/>
                          </a:solidFill>
                        </a:rPr>
                        <a:t>多种逆问题 / 条件切换</a:t>
                      </a:r>
                    </a:p>
                  </a:txBody>
                  <a:tcPr anchor="ctr"/>
                </a:tc>
                <a:tc>
                  <a:txBody>
                    <a:bodyPr/>
                    <a:lstStyle/>
                    <a:p>
                      <a:pPr algn="ctr"/>
                      <a:r>
                        <a:rPr sz="1200">
                          <a:solidFill>
                            <a:srgbClr val="000000"/>
                          </a:solidFill>
                        </a:rPr>
                        <a:t>Score-SDE</a:t>
                      </a:r>
                    </a:p>
                  </a:txBody>
                  <a:tcPr anchor="ctr"/>
                </a:tc>
                <a:tc>
                  <a:txBody>
                    <a:bodyPr/>
                    <a:lstStyle/>
                    <a:p>
                      <a:pPr algn="ctr"/>
                      <a:r>
                        <a:rPr sz="1200">
                          <a:solidFill>
                            <a:srgbClr val="000000"/>
                          </a:solidFill>
                        </a:rPr>
                        <a:t>条件分数机制成熟</a:t>
                      </a:r>
                    </a:p>
                  </a:txBody>
                  <a:tcPr anchor="ctr"/>
                </a:tc>
                <a:tc>
                  <a:txBody>
                    <a:bodyPr/>
                    <a:lstStyle/>
                    <a:p>
                      <a:pPr algn="ctr"/>
                      <a:r>
                        <a:rPr sz="1200">
                          <a:solidFill>
                            <a:srgbClr val="000000"/>
                          </a:solidFill>
                        </a:rPr>
                        <a:t>先做统一条件基线</a:t>
                      </a:r>
                    </a:p>
                  </a:txBody>
                  <a:tcPr anchor="ctr"/>
                </a:tc>
                <a:extLst>
                  <a:ext uri="{0D108BD9-81ED-4DB2-BD59-A6C34878D82A}">
                    <a16:rowId xmlns:a16="http://schemas.microsoft.com/office/drawing/2014/main" val="10001"/>
                  </a:ext>
                </a:extLst>
              </a:tr>
              <a:tr h="658368">
                <a:tc>
                  <a:txBody>
                    <a:bodyPr/>
                    <a:lstStyle/>
                    <a:p>
                      <a:pPr algn="ctr"/>
                      <a:r>
                        <a:rPr sz="1200">
                          <a:solidFill>
                            <a:srgbClr val="000000"/>
                          </a:solidFill>
                        </a:rPr>
                        <a:t>希望少步采样</a:t>
                      </a:r>
                    </a:p>
                  </a:txBody>
                  <a:tcPr anchor="ctr"/>
                </a:tc>
                <a:tc>
                  <a:txBody>
                    <a:bodyPr/>
                    <a:lstStyle/>
                    <a:p>
                      <a:pPr algn="ctr"/>
                      <a:r>
                        <a:rPr sz="1200">
                          <a:solidFill>
                            <a:srgbClr val="000000"/>
                          </a:solidFill>
                        </a:rPr>
                        <a:t>Flow Matching</a:t>
                      </a:r>
                    </a:p>
                  </a:txBody>
                  <a:tcPr anchor="ctr"/>
                </a:tc>
                <a:tc>
                  <a:txBody>
                    <a:bodyPr/>
                    <a:lstStyle/>
                    <a:p>
                      <a:pPr algn="ctr"/>
                      <a:r>
                        <a:rPr sz="1200">
                          <a:solidFill>
                            <a:srgbClr val="000000"/>
                          </a:solidFill>
                        </a:rPr>
                        <a:t>路径可设计，速度直接回归</a:t>
                      </a:r>
                    </a:p>
                  </a:txBody>
                  <a:tcPr anchor="ctr"/>
                </a:tc>
                <a:tc>
                  <a:txBody>
                    <a:bodyPr/>
                    <a:lstStyle/>
                    <a:p>
                      <a:pPr algn="ctr"/>
                      <a:r>
                        <a:rPr sz="1200">
                          <a:solidFill>
                            <a:srgbClr val="000000"/>
                          </a:solidFill>
                        </a:rPr>
                        <a:t>把 OT 路径作为加速方向</a:t>
                      </a:r>
                    </a:p>
                  </a:txBody>
                  <a:tcPr anchor="ctr"/>
                </a:tc>
                <a:extLst>
                  <a:ext uri="{0D108BD9-81ED-4DB2-BD59-A6C34878D82A}">
                    <a16:rowId xmlns:a16="http://schemas.microsoft.com/office/drawing/2014/main" val="10002"/>
                  </a:ext>
                </a:extLst>
              </a:tr>
              <a:tr h="658368">
                <a:tc>
                  <a:txBody>
                    <a:bodyPr/>
                    <a:lstStyle/>
                    <a:p>
                      <a:pPr algn="ctr"/>
                      <a:r>
                        <a:rPr sz="1200">
                          <a:solidFill>
                            <a:srgbClr val="000000"/>
                          </a:solidFill>
                        </a:rPr>
                        <a:t>实时或资源受限</a:t>
                      </a:r>
                    </a:p>
                  </a:txBody>
                  <a:tcPr anchor="ctr"/>
                </a:tc>
                <a:tc>
                  <a:txBody>
                    <a:bodyPr/>
                    <a:lstStyle/>
                    <a:p>
                      <a:pPr algn="ctr"/>
                      <a:r>
                        <a:rPr sz="1200">
                          <a:solidFill>
                            <a:srgbClr val="000000"/>
                          </a:solidFill>
                        </a:rPr>
                        <a:t>Drifting</a:t>
                      </a:r>
                    </a:p>
                  </a:txBody>
                  <a:tcPr anchor="ctr"/>
                </a:tc>
                <a:tc>
                  <a:txBody>
                    <a:bodyPr/>
                    <a:lstStyle/>
                    <a:p>
                      <a:pPr algn="ctr"/>
                      <a:r>
                        <a:rPr sz="1200">
                          <a:solidFill>
                            <a:srgbClr val="000000"/>
                          </a:solidFill>
                        </a:rPr>
                        <a:t>一次前向，推理成本最低</a:t>
                      </a:r>
                    </a:p>
                  </a:txBody>
                  <a:tcPr anchor="ctr"/>
                </a:tc>
                <a:tc>
                  <a:txBody>
                    <a:bodyPr/>
                    <a:lstStyle/>
                    <a:p>
                      <a:pPr algn="ctr"/>
                      <a:r>
                        <a:rPr sz="1200">
                          <a:solidFill>
                            <a:srgbClr val="000000"/>
                          </a:solidFill>
                        </a:rPr>
                        <a:t>重点验证单步质量和稳定性</a:t>
                      </a:r>
                    </a:p>
                  </a:txBody>
                  <a:tcPr anchor="ctr"/>
                </a:tc>
                <a:extLst>
                  <a:ext uri="{0D108BD9-81ED-4DB2-BD59-A6C34878D82A}">
                    <a16:rowId xmlns:a16="http://schemas.microsoft.com/office/drawing/2014/main" val="10003"/>
                  </a:ext>
                </a:extLst>
              </a:tr>
              <a:tr h="658368">
                <a:tc>
                  <a:txBody>
                    <a:bodyPr/>
                    <a:lstStyle/>
                    <a:p>
                      <a:pPr algn="ctr"/>
                      <a:r>
                        <a:rPr sz="1200">
                          <a:solidFill>
                            <a:srgbClr val="000000"/>
                          </a:solidFill>
                        </a:rPr>
                        <a:t>复现和对比基线</a:t>
                      </a:r>
                    </a:p>
                  </a:txBody>
                  <a:tcPr anchor="ctr"/>
                </a:tc>
                <a:tc>
                  <a:txBody>
                    <a:bodyPr/>
                    <a:lstStyle/>
                    <a:p>
                      <a:pPr algn="ctr"/>
                      <a:r>
                        <a:rPr sz="1200">
                          <a:solidFill>
                            <a:srgbClr val="000000"/>
                          </a:solidFill>
                        </a:rPr>
                        <a:t>DDPM</a:t>
                      </a:r>
                    </a:p>
                  </a:txBody>
                  <a:tcPr anchor="ctr"/>
                </a:tc>
                <a:tc>
                  <a:txBody>
                    <a:bodyPr/>
                    <a:lstStyle/>
                    <a:p>
                      <a:pPr algn="ctr"/>
                      <a:r>
                        <a:rPr sz="1200">
                          <a:solidFill>
                            <a:srgbClr val="000000"/>
                          </a:solidFill>
                        </a:rPr>
                        <a:t>实现清楚，变量最少</a:t>
                      </a:r>
                    </a:p>
                  </a:txBody>
                  <a:tcPr anchor="ctr"/>
                </a:tc>
                <a:tc>
                  <a:txBody>
                    <a:bodyPr/>
                    <a:lstStyle/>
                    <a:p>
                      <a:pPr algn="ctr"/>
                      <a:r>
                        <a:rPr sz="1200">
                          <a:solidFill>
                            <a:srgbClr val="000000"/>
                          </a:solidFill>
                        </a:rPr>
                        <a:t>先建立可控基线</a:t>
                      </a:r>
                    </a:p>
                  </a:txBody>
                  <a:tcPr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mmary_title"/>
          <p:cNvSpPr txBox="1"/>
          <p:nvPr/>
        </p:nvSpPr>
        <p:spPr>
          <a:xfrm>
            <a:off x="565898" y="574161"/>
            <a:ext cx="10972800" cy="477054"/>
          </a:xfrm>
          <a:prstGeom prst="rect">
            <a:avLst/>
          </a:prstGeom>
          <a:noFill/>
          <a:ln>
            <a:noFill/>
          </a:ln>
        </p:spPr>
        <p:txBody>
          <a:bodyPr wrap="square">
            <a:spAutoFit/>
          </a:bodyPr>
          <a:lstStyle/>
          <a:p>
            <a:pPr marL="0" indent="0">
              <a:buNone/>
            </a:pPr>
            <a:r>
              <a:rPr sz="2500" b="1">
                <a:solidFill>
                  <a:srgbClr val="000000"/>
                </a:solidFill>
                <a:latin typeface="Microsoft YaHei"/>
              </a:rPr>
              <a:t>总结</a:t>
            </a:r>
          </a:p>
        </p:txBody>
      </p:sp>
      <p:sp>
        <p:nvSpPr>
          <p:cNvPr id="6" name="summary_one_number"/>
          <p:cNvSpPr txBox="1"/>
          <p:nvPr/>
        </p:nvSpPr>
        <p:spPr>
          <a:xfrm>
            <a:off x="822960" y="1975104"/>
            <a:ext cx="420624" cy="292608"/>
          </a:xfrm>
          <a:prstGeom prst="rect">
            <a:avLst/>
          </a:prstGeom>
          <a:noFill/>
          <a:ln>
            <a:noFill/>
          </a:ln>
        </p:spPr>
        <p:txBody>
          <a:bodyPr wrap="square">
            <a:spAutoFit/>
          </a:bodyPr>
          <a:lstStyle/>
          <a:p>
            <a:pPr marL="0" indent="0">
              <a:buNone/>
            </a:pPr>
            <a:r>
              <a:rPr sz="1700" b="1">
                <a:solidFill>
                  <a:srgbClr val="000000"/>
                </a:solidFill>
                <a:latin typeface="Microsoft YaHei"/>
              </a:rPr>
              <a:t>1</a:t>
            </a:r>
          </a:p>
        </p:txBody>
      </p:sp>
      <p:sp>
        <p:nvSpPr>
          <p:cNvPr id="7" name="summary_one"/>
          <p:cNvSpPr txBox="1"/>
          <p:nvPr/>
        </p:nvSpPr>
        <p:spPr>
          <a:xfrm>
            <a:off x="1389888" y="1947672"/>
            <a:ext cx="9738360" cy="384048"/>
          </a:xfrm>
          <a:prstGeom prst="rect">
            <a:avLst/>
          </a:prstGeom>
          <a:noFill/>
          <a:ln>
            <a:noFill/>
          </a:ln>
        </p:spPr>
        <p:txBody>
          <a:bodyPr wrap="square">
            <a:spAutoFit/>
          </a:bodyPr>
          <a:lstStyle/>
          <a:p>
            <a:pPr marL="0" indent="0">
              <a:buNone/>
            </a:pPr>
            <a:r>
              <a:rPr sz="1600">
                <a:solidFill>
                  <a:srgbClr val="000000"/>
                </a:solidFill>
                <a:latin typeface="Microsoft YaHei"/>
              </a:rPr>
              <a:t>DDPM 与 Score-SDE 说明：生成可以从逐步去噪走向连续、可控的分布演化。</a:t>
            </a:r>
          </a:p>
        </p:txBody>
      </p:sp>
      <p:sp>
        <p:nvSpPr>
          <p:cNvPr id="9" name="summary_two_number"/>
          <p:cNvSpPr txBox="1"/>
          <p:nvPr/>
        </p:nvSpPr>
        <p:spPr>
          <a:xfrm>
            <a:off x="822960" y="2971800"/>
            <a:ext cx="420624" cy="292608"/>
          </a:xfrm>
          <a:prstGeom prst="rect">
            <a:avLst/>
          </a:prstGeom>
          <a:noFill/>
          <a:ln>
            <a:noFill/>
          </a:ln>
        </p:spPr>
        <p:txBody>
          <a:bodyPr wrap="square">
            <a:spAutoFit/>
          </a:bodyPr>
          <a:lstStyle/>
          <a:p>
            <a:pPr marL="0" indent="0">
              <a:buNone/>
            </a:pPr>
            <a:r>
              <a:rPr sz="1700" b="1">
                <a:solidFill>
                  <a:srgbClr val="000000"/>
                </a:solidFill>
                <a:latin typeface="Microsoft YaHei"/>
              </a:rPr>
              <a:t>2</a:t>
            </a:r>
          </a:p>
        </p:txBody>
      </p:sp>
      <p:sp>
        <p:nvSpPr>
          <p:cNvPr id="10" name="summary_two"/>
          <p:cNvSpPr txBox="1"/>
          <p:nvPr/>
        </p:nvSpPr>
        <p:spPr>
          <a:xfrm>
            <a:off x="1389888" y="2944368"/>
            <a:ext cx="9738360" cy="384048"/>
          </a:xfrm>
          <a:prstGeom prst="rect">
            <a:avLst/>
          </a:prstGeom>
          <a:noFill/>
          <a:ln>
            <a:noFill/>
          </a:ln>
        </p:spPr>
        <p:txBody>
          <a:bodyPr wrap="square">
            <a:spAutoFit/>
          </a:bodyPr>
          <a:lstStyle/>
          <a:p>
            <a:pPr marL="0" indent="0">
              <a:buNone/>
            </a:pPr>
            <a:r>
              <a:rPr sz="1600">
                <a:solidFill>
                  <a:srgbClr val="000000"/>
                </a:solidFill>
                <a:latin typeface="Microsoft YaHei"/>
              </a:rPr>
              <a:t>Flow Matching 说明：更好的路径设计能降低学习和采样的复杂度。</a:t>
            </a:r>
          </a:p>
        </p:txBody>
      </p:sp>
      <p:sp>
        <p:nvSpPr>
          <p:cNvPr id="12" name="summary_three_number"/>
          <p:cNvSpPr txBox="1"/>
          <p:nvPr/>
        </p:nvSpPr>
        <p:spPr>
          <a:xfrm>
            <a:off x="822960" y="3968496"/>
            <a:ext cx="420624" cy="292608"/>
          </a:xfrm>
          <a:prstGeom prst="rect">
            <a:avLst/>
          </a:prstGeom>
          <a:noFill/>
          <a:ln>
            <a:noFill/>
          </a:ln>
        </p:spPr>
        <p:txBody>
          <a:bodyPr wrap="square">
            <a:spAutoFit/>
          </a:bodyPr>
          <a:lstStyle/>
          <a:p>
            <a:pPr marL="0" indent="0">
              <a:buNone/>
            </a:pPr>
            <a:r>
              <a:rPr sz="1700" b="1">
                <a:solidFill>
                  <a:srgbClr val="000000"/>
                </a:solidFill>
                <a:latin typeface="Microsoft YaHei"/>
              </a:rPr>
              <a:t>3</a:t>
            </a:r>
          </a:p>
        </p:txBody>
      </p:sp>
      <p:sp>
        <p:nvSpPr>
          <p:cNvPr id="13" name="summary_three"/>
          <p:cNvSpPr txBox="1"/>
          <p:nvPr/>
        </p:nvSpPr>
        <p:spPr>
          <a:xfrm>
            <a:off x="1389888" y="3941063"/>
            <a:ext cx="9738360" cy="384048"/>
          </a:xfrm>
          <a:prstGeom prst="rect">
            <a:avLst/>
          </a:prstGeom>
          <a:noFill/>
          <a:ln>
            <a:noFill/>
          </a:ln>
        </p:spPr>
        <p:txBody>
          <a:bodyPr wrap="square">
            <a:spAutoFit/>
          </a:bodyPr>
          <a:lstStyle/>
          <a:p>
            <a:pPr marL="0" indent="0">
              <a:buNone/>
            </a:pPr>
            <a:r>
              <a:rPr sz="1600">
                <a:solidFill>
                  <a:srgbClr val="000000"/>
                </a:solidFill>
                <a:latin typeface="Microsoft YaHei"/>
              </a:rPr>
              <a:t>Drifting 说明：极致推理效率可以通过把分布演化提前到训练阶段来实现。</a:t>
            </a:r>
          </a:p>
        </p:txBody>
      </p:sp>
      <p:sp>
        <p:nvSpPr>
          <p:cNvPr id="15" name="summary_final"/>
          <p:cNvSpPr txBox="1"/>
          <p:nvPr/>
        </p:nvSpPr>
        <p:spPr>
          <a:xfrm>
            <a:off x="822960" y="5148072"/>
            <a:ext cx="10332720" cy="329184"/>
          </a:xfrm>
          <a:prstGeom prst="rect">
            <a:avLst/>
          </a:prstGeom>
          <a:noFill/>
          <a:ln>
            <a:noFill/>
          </a:ln>
        </p:spPr>
        <p:txBody>
          <a:bodyPr wrap="square">
            <a:spAutoFit/>
          </a:bodyPr>
          <a:lstStyle/>
          <a:p>
            <a:pPr marL="0" indent="0">
              <a:buNone/>
            </a:pPr>
            <a:r>
              <a:rPr sz="1600" b="1">
                <a:solidFill>
                  <a:srgbClr val="000000"/>
                </a:solidFill>
                <a:latin typeface="Microsoft YaHei"/>
              </a:rPr>
              <a:t>对多任务成像：先确定条件控制、质量和时延的优先级，再选择对应的生成路径。</a:t>
            </a:r>
          </a:p>
        </p:txBody>
      </p:sp>
      <p:sp>
        <p:nvSpPr>
          <p:cNvPr id="18" name="summary_footer_page"/>
          <p:cNvSpPr txBox="1"/>
          <p:nvPr/>
        </p:nvSpPr>
        <p:spPr>
          <a:xfrm>
            <a:off x="10972800" y="6473952"/>
            <a:ext cx="594360" cy="164592"/>
          </a:xfrm>
          <a:prstGeom prst="rect">
            <a:avLst/>
          </a:prstGeom>
          <a:noFill/>
          <a:ln>
            <a:noFill/>
          </a:ln>
        </p:spPr>
        <p:txBody>
          <a:bodyPr wrap="square">
            <a:spAutoFit/>
          </a:bodyPr>
          <a:lstStyle/>
          <a:p>
            <a:pPr marL="0" indent="0" algn="r">
              <a:buNone/>
            </a:pPr>
            <a:r>
              <a:rPr sz="800">
                <a:solidFill>
                  <a:srgbClr val="000000"/>
                </a:solidFill>
                <a:latin typeface="Microsoft YaHei"/>
              </a:rP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507</Words>
  <Application>Microsoft Office PowerPoint</Application>
  <PresentationFormat>宽屏</PresentationFormat>
  <Paragraphs>130</Paragraphs>
  <Slides>9</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9</vt:i4>
      </vt:variant>
    </vt:vector>
  </HeadingPairs>
  <TitlesOfParts>
    <vt:vector size="15" baseType="lpstr">
      <vt:lpstr>等线</vt:lpstr>
      <vt:lpstr>Microsoft YaHei</vt:lpstr>
      <vt:lpstr>Microsoft YaHei</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 sheen</cp:lastModifiedBy>
  <cp:revision>4</cp:revision>
  <dcterms:created xsi:type="dcterms:W3CDTF">2013-01-27T09:14:16Z</dcterms:created>
  <dcterms:modified xsi:type="dcterms:W3CDTF">2026-08-06T06:31:22Z</dcterms:modified>
  <cp:category/>
</cp:coreProperties>
</file>