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AC962-0662-4BF2-B8DF-311F23FF1042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1D2FF-A4C9-4919-9ABB-C7213DE1F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7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1D2FF-A4C9-4919-9ABB-C7213DE1F8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919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62921" y="2217581"/>
            <a:ext cx="4866157" cy="550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Microsoft YaHei"/>
              </a:rPr>
              <a:t>四篇生成模型论文阅读汇报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4714" y="3255264"/>
            <a:ext cx="362256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从扩散、分数、流匹配到漂移模型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四篇论文都在解决同一个问题：如何把简单先验分布变成真实数据分布？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901952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DDPM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5615" y="1901952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把过程离散成很多个小步骤：先加噪，再逐步去噪。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670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Score-SDE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670048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把离散步骤提升为连续时间，用分数描述每个时刻的移动方向。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38144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43814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Flow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438144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预先设计从噪声到数据的路径，直接学习沿路径的速度。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206240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Drifting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4206240"/>
            <a:ext cx="7269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icrosoft YaHei"/>
              </a:rPr>
              <a:t>把生成时的迭代搬到训练过程，推理时只保留一次前向。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62932"/>
            <a:ext cx="10241280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路径如何表示、网络学什么、迭代放在哪里。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DDPM：把生成拆成很多个小去噪步骤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03</a:t>
            </a:r>
          </a:p>
        </p:txBody>
      </p:sp>
      <p:sp>
        <p:nvSpPr>
          <p:cNvPr id="35" name="ddpm_problem_title"/>
          <p:cNvSpPr txBox="1"/>
          <p:nvPr/>
        </p:nvSpPr>
        <p:spPr>
          <a:xfrm>
            <a:off x="841248" y="184708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要解决的问题</a:t>
            </a:r>
          </a:p>
        </p:txBody>
      </p:sp>
      <p:sp>
        <p:nvSpPr>
          <p:cNvPr id="36" name="ddpm_problem_body"/>
          <p:cNvSpPr txBox="1"/>
          <p:nvPr/>
        </p:nvSpPr>
        <p:spPr>
          <a:xfrm>
            <a:off x="841248" y="2221992"/>
            <a:ext cx="3063240" cy="11338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直接从噪声生成图像很难。DDPM 把它拆成很多次局部去噪，每一步只处理一个小变化。</a:t>
            </a:r>
          </a:p>
        </p:txBody>
      </p:sp>
      <p:sp>
        <p:nvSpPr>
          <p:cNvPr id="37" name="ddpm_train_title"/>
          <p:cNvSpPr txBox="1"/>
          <p:nvPr/>
        </p:nvSpPr>
        <p:spPr>
          <a:xfrm>
            <a:off x="841248" y="3803904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训练方式</a:t>
            </a:r>
          </a:p>
        </p:txBody>
      </p:sp>
      <p:sp>
        <p:nvSpPr>
          <p:cNvPr id="38" name="ddpm_train_body"/>
          <p:cNvSpPr txBox="1"/>
          <p:nvPr/>
        </p:nvSpPr>
        <p:spPr>
          <a:xfrm>
            <a:off x="841248" y="4178808"/>
            <a:ext cx="3063240" cy="12252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前向加噪过程固定，不需要学习。训练时随机挑一个噪声程度，让网络判断当前样本里加入了什么噪声。</a:t>
            </a:r>
          </a:p>
        </p:txBody>
      </p:sp>
      <p:sp>
        <p:nvSpPr>
          <p:cNvPr id="39" name="ddpm_flow_title"/>
          <p:cNvSpPr txBox="1"/>
          <p:nvPr/>
        </p:nvSpPr>
        <p:spPr>
          <a:xfrm>
            <a:off x="4498848" y="1847088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生成过程</a:t>
            </a:r>
          </a:p>
        </p:txBody>
      </p:sp>
      <p:sp>
        <p:nvSpPr>
          <p:cNvPr id="40" name="ddpm_flow"/>
          <p:cNvSpPr txBox="1"/>
          <p:nvPr/>
        </p:nvSpPr>
        <p:spPr>
          <a:xfrm>
            <a:off x="4498848" y="2340864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真实数据  →  固定加噪  →  网络学习反向去噪  →  逐步生成图像</a:t>
            </a:r>
          </a:p>
        </p:txBody>
      </p:sp>
      <p:cxnSp>
        <p:nvCxnSpPr>
          <p:cNvPr id="41" name="ddpm_flow_rule"/>
          <p:cNvCxnSpPr/>
          <p:nvPr/>
        </p:nvCxnSpPr>
        <p:spPr>
          <a:xfrm>
            <a:off x="4498848" y="2926080"/>
            <a:ext cx="66111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dpm_takeaway_title"/>
          <p:cNvSpPr txBox="1"/>
          <p:nvPr/>
        </p:nvSpPr>
        <p:spPr>
          <a:xfrm>
            <a:off x="4498848" y="3291840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43" name="ddpm_takeaways"/>
          <p:cNvSpPr txBox="1"/>
          <p:nvPr/>
        </p:nvSpPr>
        <p:spPr>
          <a:xfrm>
            <a:off x="4498848" y="3694176"/>
            <a:ext cx="6492240" cy="1508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网络预测噪声，而不是直接预测原图；这种参数化更稳定。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反向方差固定更容易训练，简化目标更关注样本质量。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代价是采样必须走完整条反向链，速度较慢。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03 / 论文二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Score-SDE：把扩散提升到连续时间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04</a:t>
            </a:r>
          </a:p>
        </p:txBody>
      </p:sp>
      <p:sp>
        <p:nvSpPr>
          <p:cNvPr id="31" name="sde_continuous_title"/>
          <p:cNvSpPr txBox="1"/>
          <p:nvPr/>
        </p:nvSpPr>
        <p:spPr>
          <a:xfrm>
            <a:off x="841248" y="184708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为什么要连续化</a:t>
            </a:r>
          </a:p>
        </p:txBody>
      </p:sp>
      <p:sp>
        <p:nvSpPr>
          <p:cNvPr id="32" name="sde_continuous_body"/>
          <p:cNvSpPr txBox="1"/>
          <p:nvPr/>
        </p:nvSpPr>
        <p:spPr>
          <a:xfrm>
            <a:off x="841248" y="2221992"/>
            <a:ext cx="3063240" cy="11338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DDPM 的时间步是离散的，采样方式也被写死。连续时间允许同一个模型搭配不同的数值求解器。</a:t>
            </a:r>
          </a:p>
        </p:txBody>
      </p:sp>
      <p:sp>
        <p:nvSpPr>
          <p:cNvPr id="33" name="sde_learn_title"/>
          <p:cNvSpPr txBox="1"/>
          <p:nvPr/>
        </p:nvSpPr>
        <p:spPr>
          <a:xfrm>
            <a:off x="841248" y="3803904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网络学什么</a:t>
            </a:r>
          </a:p>
        </p:txBody>
      </p:sp>
      <p:sp>
        <p:nvSpPr>
          <p:cNvPr id="34" name="sde_learn_body"/>
          <p:cNvSpPr txBox="1"/>
          <p:nvPr/>
        </p:nvSpPr>
        <p:spPr>
          <a:xfrm>
            <a:off x="841248" y="4178808"/>
            <a:ext cx="3063240" cy="12252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网络学习每个噪声时刻的分数。直观上，它告诉样本应该往数据密度更高的方向移动。</a:t>
            </a:r>
          </a:p>
        </p:txBody>
      </p:sp>
      <p:sp>
        <p:nvSpPr>
          <p:cNvPr id="35" name="sde_framework_title"/>
          <p:cNvSpPr txBox="1"/>
          <p:nvPr/>
        </p:nvSpPr>
        <p:spPr>
          <a:xfrm>
            <a:off x="4498848" y="1847088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统一框架</a:t>
            </a:r>
          </a:p>
        </p:txBody>
      </p:sp>
      <p:sp>
        <p:nvSpPr>
          <p:cNvPr id="36" name="sde_framework"/>
          <p:cNvSpPr txBox="1"/>
          <p:nvPr/>
        </p:nvSpPr>
        <p:spPr>
          <a:xfrm>
            <a:off x="4498848" y="2340864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连续加噪  →  分数网络  →  反向随机采样或确定性采样</a:t>
            </a:r>
          </a:p>
        </p:txBody>
      </p:sp>
      <p:cxnSp>
        <p:nvCxnSpPr>
          <p:cNvPr id="37" name="sde_framework_rule"/>
          <p:cNvCxnSpPr/>
          <p:nvPr/>
        </p:nvCxnSpPr>
        <p:spPr>
          <a:xfrm>
            <a:off x="4498848" y="2926080"/>
            <a:ext cx="66111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de_takeaway_title"/>
          <p:cNvSpPr txBox="1"/>
          <p:nvPr/>
        </p:nvSpPr>
        <p:spPr>
          <a:xfrm>
            <a:off x="4498848" y="3291840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39" name="sde_takeaways"/>
          <p:cNvSpPr txBox="1"/>
          <p:nvPr/>
        </p:nvSpPr>
        <p:spPr>
          <a:xfrm>
            <a:off x="4498848" y="3694176"/>
            <a:ext cx="6492240" cy="1508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DDPM 可以看作连续框架中的一种离散实现。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不同采样器可在同一分数模型上取舍质量、速度和似然计算。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条件分数可直接接入修复、补全、着色等成像任务。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Flow Matching：直接学习从噪声到数据的速度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05</a:t>
            </a:r>
          </a:p>
        </p:txBody>
      </p:sp>
      <p:sp>
        <p:nvSpPr>
          <p:cNvPr id="28" name="fm_core_title"/>
          <p:cNvSpPr txBox="1"/>
          <p:nvPr/>
        </p:nvSpPr>
        <p:spPr>
          <a:xfrm>
            <a:off x="841248" y="184708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核心改变</a:t>
            </a:r>
          </a:p>
        </p:txBody>
      </p:sp>
      <p:sp>
        <p:nvSpPr>
          <p:cNvPr id="29" name="fm_core_body"/>
          <p:cNvSpPr txBox="1"/>
          <p:nvPr/>
        </p:nvSpPr>
        <p:spPr>
          <a:xfrm>
            <a:off x="841248" y="2221992"/>
            <a:ext cx="3063240" cy="11338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先规定一条从先验到数据的概率路径，再让网络学习每个位置、每个时刻应该朝哪里走。</a:t>
            </a:r>
          </a:p>
        </p:txBody>
      </p:sp>
      <p:sp>
        <p:nvSpPr>
          <p:cNvPr id="30" name="fm_train_title"/>
          <p:cNvSpPr txBox="1"/>
          <p:nvPr/>
        </p:nvSpPr>
        <p:spPr>
          <a:xfrm>
            <a:off x="841248" y="3803904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训练为什么可行</a:t>
            </a:r>
          </a:p>
        </p:txBody>
      </p:sp>
      <p:sp>
        <p:nvSpPr>
          <p:cNvPr id="31" name="fm_train_body"/>
          <p:cNvSpPr txBox="1"/>
          <p:nvPr/>
        </p:nvSpPr>
        <p:spPr>
          <a:xfrm>
            <a:off x="841248" y="4178808"/>
            <a:ext cx="3063240" cy="12252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条件流匹配逐样本构造目标，训练时直接回归已知的局部速度，不需要先算出难处理的边际路径。</a:t>
            </a:r>
          </a:p>
        </p:txBody>
      </p:sp>
      <p:sp>
        <p:nvSpPr>
          <p:cNvPr id="32" name="fm_table_title"/>
          <p:cNvSpPr txBox="1"/>
          <p:nvPr/>
        </p:nvSpPr>
        <p:spPr>
          <a:xfrm>
            <a:off x="4498848" y="1847088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路径设计的直观差异</a:t>
            </a:r>
          </a:p>
        </p:txBody>
      </p:sp>
      <p:graphicFrame>
        <p:nvGraphicFramePr>
          <p:cNvPr id="33" name="fm_path_table"/>
          <p:cNvGraphicFramePr>
            <a:graphicFrameLocks noGrp="1"/>
          </p:cNvGraphicFramePr>
          <p:nvPr/>
        </p:nvGraphicFramePr>
        <p:xfrm>
          <a:off x="4498848" y="2267712"/>
          <a:ext cx="658368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2788920"/>
                <a:gridCol w="2834640"/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/>
                        <a:t>比较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普通扩散路径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OT 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轨迹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容易弯曲、可能回退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更直，方向更稳定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影响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拟合和采样较慢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更容易拟合，采样步数更少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fm_takeaway_title"/>
          <p:cNvSpPr txBox="1"/>
          <p:nvPr/>
        </p:nvSpPr>
        <p:spPr>
          <a:xfrm>
            <a:off x="4498848" y="4224528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35" name="fm_takeaways"/>
          <p:cNvSpPr txBox="1"/>
          <p:nvPr/>
        </p:nvSpPr>
        <p:spPr>
          <a:xfrm>
            <a:off x="4498848" y="4599432"/>
            <a:ext cx="6492240" cy="11155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网络输出的是速度方向，采样时只需解常微分方程。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OT 路径降低了向量场的拟合难度，因此能用更少步骤完成采样。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优势来自路径和训练目标的设计，不只是换一个采样器。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Drifting Models：把推理迭代搬到训练时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06</a:t>
            </a:r>
          </a:p>
        </p:txBody>
      </p:sp>
      <p:sp>
        <p:nvSpPr>
          <p:cNvPr id="31" name="drift_core_title"/>
          <p:cNvSpPr txBox="1"/>
          <p:nvPr/>
        </p:nvSpPr>
        <p:spPr>
          <a:xfrm>
            <a:off x="841248" y="184708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核心转向</a:t>
            </a:r>
          </a:p>
        </p:txBody>
      </p:sp>
      <p:sp>
        <p:nvSpPr>
          <p:cNvPr id="32" name="drift_core_body"/>
          <p:cNvSpPr txBox="1"/>
          <p:nvPr/>
        </p:nvSpPr>
        <p:spPr>
          <a:xfrm>
            <a:off x="841248" y="2221992"/>
            <a:ext cx="3063240" cy="11338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前三篇在推理时反复更新样本。漂移模型在训练时更新网络参数，让生成分布逐渐靠近数据分布。</a:t>
            </a:r>
          </a:p>
        </p:txBody>
      </p:sp>
      <p:sp>
        <p:nvSpPr>
          <p:cNvPr id="33" name="drift_stop_title"/>
          <p:cNvSpPr txBox="1"/>
          <p:nvPr/>
        </p:nvSpPr>
        <p:spPr>
          <a:xfrm>
            <a:off x="841248" y="3803904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什么时候停止</a:t>
            </a:r>
          </a:p>
        </p:txBody>
      </p:sp>
      <p:sp>
        <p:nvSpPr>
          <p:cNvPr id="34" name="drift_stop_body"/>
          <p:cNvSpPr txBox="1"/>
          <p:nvPr/>
        </p:nvSpPr>
        <p:spPr>
          <a:xfrm>
            <a:off x="841248" y="4178808"/>
            <a:ext cx="3063240" cy="12252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>
                <a:solidFill>
                  <a:srgbClr val="000000"/>
                </a:solidFill>
                <a:latin typeface="Microsoft YaHei"/>
              </a:rPr>
              <a:t>数据样本产生吸引，生成样本产生排斥。两种分布匹配后，漂移场抵消，训练达到平衡。</a:t>
            </a:r>
          </a:p>
        </p:txBody>
      </p:sp>
      <p:sp>
        <p:nvSpPr>
          <p:cNvPr id="35" name="drift_flow_title"/>
          <p:cNvSpPr txBox="1"/>
          <p:nvPr/>
        </p:nvSpPr>
        <p:spPr>
          <a:xfrm>
            <a:off x="4498848" y="1847088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训练和推理的区别</a:t>
            </a:r>
          </a:p>
        </p:txBody>
      </p:sp>
      <p:sp>
        <p:nvSpPr>
          <p:cNvPr id="36" name="drift_train_flow"/>
          <p:cNvSpPr txBox="1"/>
          <p:nvPr/>
        </p:nvSpPr>
        <p:spPr>
          <a:xfrm>
            <a:off x="4498848" y="2331720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训练：先验样本  →  参数更新  →  生成分布持续漂移  →  与数据分布匹配</a:t>
            </a:r>
          </a:p>
        </p:txBody>
      </p:sp>
      <p:sp>
        <p:nvSpPr>
          <p:cNvPr id="37" name="drift_infer_flow"/>
          <p:cNvSpPr txBox="1"/>
          <p:nvPr/>
        </p:nvSpPr>
        <p:spPr>
          <a:xfrm>
            <a:off x="4498848" y="2907792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推理：先验样本  →  一次前向  →  生成图像</a:t>
            </a:r>
          </a:p>
        </p:txBody>
      </p:sp>
      <p:cxnSp>
        <p:nvCxnSpPr>
          <p:cNvPr id="38" name="drift_flow_rule"/>
          <p:cNvCxnSpPr/>
          <p:nvPr/>
        </p:nvCxnSpPr>
        <p:spPr>
          <a:xfrm>
            <a:off x="4498848" y="3493008"/>
            <a:ext cx="66111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rift_takeaway_title"/>
          <p:cNvSpPr txBox="1"/>
          <p:nvPr/>
        </p:nvSpPr>
        <p:spPr>
          <a:xfrm>
            <a:off x="4498848" y="3840480"/>
            <a:ext cx="65379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我读懂的关键</a:t>
            </a:r>
          </a:p>
        </p:txBody>
      </p:sp>
      <p:sp>
        <p:nvSpPr>
          <p:cNvPr id="40" name="drift_takeaways"/>
          <p:cNvSpPr txBox="1"/>
          <p:nvPr/>
        </p:nvSpPr>
        <p:spPr>
          <a:xfrm>
            <a:off x="4498848" y="4224528"/>
            <a:ext cx="649224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反对称漂移是平衡条件的关键；破坏它，分布匹配就失效。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冻结漂移后的目标，才能形成稳定的自监督训练。</a:t>
            </a:r>
          </a:p>
          <a:p>
            <a:pPr marL="365760" indent="-182880" algn="l">
              <a:buChar char="•"/>
            </a:pPr>
            <a:r>
              <a:rPr sz="1400">
                <a:solidFill>
                  <a:srgbClr val="000000"/>
                </a:solidFill>
                <a:latin typeface="Microsoft YaHei"/>
              </a:rPr>
              <a:t>特征空间漂移和训练时条件引导，是高维图像质量的工程重点。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四个模型的差异，集中在“迭代放在哪里”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同一条主线下，四篇论文分别优化了表达方式、训练方式和推理成本。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07</a:t>
            </a:r>
          </a:p>
        </p:txBody>
      </p:sp>
      <p:graphicFrame>
        <p:nvGraphicFramePr>
          <p:cNvPr id="71" name="model_comparison"/>
          <p:cNvGraphicFramePr>
            <a:graphicFrameLocks noGrp="1"/>
          </p:cNvGraphicFramePr>
          <p:nvPr/>
        </p:nvGraphicFramePr>
        <p:xfrm>
          <a:off x="658368" y="1856231"/>
          <a:ext cx="10771631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874519"/>
                <a:gridCol w="2011680"/>
                <a:gridCol w="1965960"/>
                <a:gridCol w="1645920"/>
                <a:gridCol w="1993392"/>
              </a:tblGrid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路径表示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网络学习对象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推理方式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主要优势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主要代价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DDPM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离散扩散链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噪声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多步去噪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稳定、清晰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采样慢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Score-SDE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连续 SDE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分数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随机或确定性采样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条件控制强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求解复杂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Flow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概率路径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ODE 少步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路径可设计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依赖路径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Drifting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训练时演化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漂移方向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一次前向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推理最快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训练和估计难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comparison_summary"/>
          <p:cNvSpPr txBox="1"/>
          <p:nvPr/>
        </p:nvSpPr>
        <p:spPr>
          <a:xfrm>
            <a:off x="804672" y="5513832"/>
            <a:ext cx="104698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0000"/>
                </a:solidFill>
                <a:latin typeface="Microsoft YaHei"/>
              </a:rPr>
              <a:t>演进关系：离散去噪  →  连续分数  →  直接速度回归  →  训练时分布演化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对多任务成像的启示：先看控制需求，再选生成模型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icrosoft YaHei"/>
              </a:rPr>
              <a:t>四种模型不是简单替代关系，而是对应不同的质量、条件控制和推理预算。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000000"/>
                </a:solidFill>
                <a:latin typeface="Microsoft YaHei"/>
              </a:rPr>
              <a:t>08</a:t>
            </a:r>
          </a:p>
        </p:txBody>
      </p:sp>
      <p:graphicFrame>
        <p:nvGraphicFramePr>
          <p:cNvPr id="51" name="imaging_selection"/>
          <p:cNvGraphicFramePr>
            <a:graphicFrameLocks noGrp="1"/>
          </p:cNvGraphicFramePr>
          <p:nvPr/>
        </p:nvGraphicFramePr>
        <p:xfrm>
          <a:off x="576072" y="1874519"/>
          <a:ext cx="1067104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2286000"/>
                <a:gridCol w="2743200"/>
                <a:gridCol w="3447288"/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成像需求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优先考虑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b="1" sz="1200">
                          <a:solidFill>
                            <a:srgbClr val="000000"/>
                          </a:solidFill>
                        </a:rPr>
                        <a:t>建议用法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多种逆问题 / 条件切换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Score-SDE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条件分数机制成熟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先做统一条件基线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希望少步采样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Flow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路径可设计，速度直接回归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把 OT 路径作为加速方向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实时或资源受限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Drifting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一次前向，推理成本最低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重点验证单步质量和稳定性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复现和对比基线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DDPM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实现清楚，变量最少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先建立可控基线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selection_summary"/>
          <p:cNvSpPr txBox="1"/>
          <p:nvPr/>
        </p:nvSpPr>
        <p:spPr>
          <a:xfrm>
            <a:off x="859536" y="5468112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0000"/>
                </a:solidFill>
                <a:latin typeface="Microsoft YaHei"/>
              </a:rPr>
              <a:t>建议路线：DDPM 建基线，Score-SDE 做条件控制，Flow Matching 做少步加速，Drifting 做单步探索。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mmary_section"/>
          <p:cNvSpPr txBox="1"/>
          <p:nvPr/>
        </p:nvSpPr>
        <p:spPr>
          <a:xfrm>
            <a:off x="585216" y="27432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00" b="1">
                <a:solidFill>
                  <a:srgbClr val="000000"/>
                </a:solidFill>
                <a:latin typeface="Microsoft YaHei"/>
              </a:rPr>
              <a:t>09 / 总结</a:t>
            </a:r>
          </a:p>
        </p:txBody>
      </p:sp>
      <p:sp>
        <p:nvSpPr>
          <p:cNvPr id="3" name="summary_title"/>
          <p:cNvSpPr txBox="1"/>
          <p:nvPr/>
        </p:nvSpPr>
        <p:spPr>
          <a:xfrm>
            <a:off x="566928" y="566928"/>
            <a:ext cx="1097280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2500" b="1">
                <a:solidFill>
                  <a:srgbClr val="000000"/>
                </a:solidFill>
                <a:latin typeface="Microsoft YaHei"/>
              </a:rPr>
              <a:t>总结：四种模型都在学习如何推动分布</a:t>
            </a:r>
          </a:p>
        </p:txBody>
      </p:sp>
      <p:sp>
        <p:nvSpPr>
          <p:cNvPr id="4" name="summary_subtitle"/>
          <p:cNvSpPr txBox="1"/>
          <p:nvPr/>
        </p:nvSpPr>
        <p:spPr>
          <a:xfrm>
            <a:off x="585216" y="105156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>
                <a:solidFill>
                  <a:srgbClr val="000000"/>
                </a:solidFill>
                <a:latin typeface="Microsoft YaHei"/>
              </a:rPr>
              <a:t>差异在于路径如何定义、网络学什么局部信息，以及迭代发生在训练还是推理阶段。</a:t>
            </a:r>
          </a:p>
        </p:txBody>
      </p:sp>
      <p:cxnSp>
        <p:nvCxnSpPr>
          <p:cNvPr id="5" name="summary_header_rule"/>
          <p:cNvCxnSpPr/>
          <p:nvPr/>
        </p:nvCxnSpPr>
        <p:spPr>
          <a:xfrm>
            <a:off x="566928" y="1481328"/>
            <a:ext cx="11064240" cy="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mmary_one_number"/>
          <p:cNvSpPr txBox="1"/>
          <p:nvPr/>
        </p:nvSpPr>
        <p:spPr>
          <a:xfrm>
            <a:off x="822960" y="1975104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7" name="summary_one"/>
          <p:cNvSpPr txBox="1"/>
          <p:nvPr/>
        </p:nvSpPr>
        <p:spPr>
          <a:xfrm>
            <a:off x="1389888" y="1947672"/>
            <a:ext cx="97383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>
                <a:solidFill>
                  <a:srgbClr val="000000"/>
                </a:solidFill>
                <a:latin typeface="Microsoft YaHei"/>
              </a:rPr>
              <a:t>DDPM 与 Score-SDE 说明：生成可以从逐步去噪走向连续、可控的分布演化。</a:t>
            </a:r>
          </a:p>
        </p:txBody>
      </p:sp>
      <p:cxnSp>
        <p:nvCxnSpPr>
          <p:cNvPr id="8" name="summary_rule_one"/>
          <p:cNvCxnSpPr/>
          <p:nvPr/>
        </p:nvCxnSpPr>
        <p:spPr>
          <a:xfrm>
            <a:off x="822960" y="2606040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mmary_two_number"/>
          <p:cNvSpPr txBox="1"/>
          <p:nvPr/>
        </p:nvSpPr>
        <p:spPr>
          <a:xfrm>
            <a:off x="822960" y="2971800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0" name="summary_two"/>
          <p:cNvSpPr txBox="1"/>
          <p:nvPr/>
        </p:nvSpPr>
        <p:spPr>
          <a:xfrm>
            <a:off x="1389888" y="2944368"/>
            <a:ext cx="97383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>
                <a:solidFill>
                  <a:srgbClr val="000000"/>
                </a:solidFill>
                <a:latin typeface="Microsoft YaHei"/>
              </a:rPr>
              <a:t>Flow Matching 说明：更好的路径设计能降低学习和采样的复杂度。</a:t>
            </a:r>
          </a:p>
        </p:txBody>
      </p:sp>
      <p:cxnSp>
        <p:nvCxnSpPr>
          <p:cNvPr id="11" name="summary_rule_two"/>
          <p:cNvCxnSpPr/>
          <p:nvPr/>
        </p:nvCxnSpPr>
        <p:spPr>
          <a:xfrm>
            <a:off x="822960" y="3602736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ummary_three_number"/>
          <p:cNvSpPr txBox="1"/>
          <p:nvPr/>
        </p:nvSpPr>
        <p:spPr>
          <a:xfrm>
            <a:off x="822960" y="3968496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3" name="summary_three"/>
          <p:cNvSpPr txBox="1"/>
          <p:nvPr/>
        </p:nvSpPr>
        <p:spPr>
          <a:xfrm>
            <a:off x="1389888" y="3941063"/>
            <a:ext cx="973836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>
                <a:solidFill>
                  <a:srgbClr val="000000"/>
                </a:solidFill>
                <a:latin typeface="Microsoft YaHei"/>
              </a:rPr>
              <a:t>Drifting 说明：极致推理效率可以通过把分布演化提前到训练阶段来实现。</a:t>
            </a:r>
          </a:p>
        </p:txBody>
      </p:sp>
      <p:cxnSp>
        <p:nvCxnSpPr>
          <p:cNvPr id="14" name="summary_rule_three"/>
          <p:cNvCxnSpPr/>
          <p:nvPr/>
        </p:nvCxnSpPr>
        <p:spPr>
          <a:xfrm>
            <a:off x="822960" y="4599432"/>
            <a:ext cx="1024128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mmary_final"/>
          <p:cNvSpPr txBox="1"/>
          <p:nvPr/>
        </p:nvSpPr>
        <p:spPr>
          <a:xfrm>
            <a:off x="822960" y="5148072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对多任务成像：先确定条件控制、质量和时延的优先级，再选择对应的生成路径。</a:t>
            </a:r>
          </a:p>
        </p:txBody>
      </p:sp>
      <p:cxnSp>
        <p:nvCxnSpPr>
          <p:cNvPr id="16" name="summary_footer_rule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ummary_footer_source"/>
          <p:cNvSpPr txBox="1"/>
          <p:nvPr/>
        </p:nvSpPr>
        <p:spPr>
          <a:xfrm>
            <a:off x="585216" y="6473952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800">
                <a:solidFill>
                  <a:srgbClr val="000000"/>
                </a:solidFill>
                <a:latin typeface="Microsoft YaHei"/>
              </a:rPr>
              <a:t>四篇生成模型论文阅读笔记</a:t>
            </a:r>
          </a:p>
        </p:txBody>
      </p:sp>
      <p:sp>
        <p:nvSpPr>
          <p:cNvPr id="18" name="summary_footer_page"/>
          <p:cNvSpPr txBox="1"/>
          <p:nvPr/>
        </p:nvSpPr>
        <p:spPr>
          <a:xfrm>
            <a:off x="10972800" y="647395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sz="800">
                <a:solidFill>
                  <a:srgbClr val="00000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392</Words>
  <Application>Microsoft Office PowerPoint</Application>
  <PresentationFormat>宽屏</PresentationFormat>
  <Paragraphs>153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 sheen</cp:lastModifiedBy>
  <cp:revision>2</cp:revision>
  <dcterms:created xsi:type="dcterms:W3CDTF">2013-01-27T09:14:16Z</dcterms:created>
  <dcterms:modified xsi:type="dcterms:W3CDTF">2026-08-06T03:10:29Z</dcterms:modified>
  <cp:category/>
</cp:coreProperties>
</file>